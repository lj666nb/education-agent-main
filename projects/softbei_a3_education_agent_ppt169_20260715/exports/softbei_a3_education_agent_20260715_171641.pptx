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我们的项目不是一个单点问答工具，而是一套面向持续学习服务的多智能体系统。它把学习者画像、资源生成、学习路径与效果评价放进同一个可追踪闭环，让每次学习都能影响下一次个性化。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核心判断是：系统价值不在于“会聊天”，而在于多个智能体围绕同一学习者协作。一次对话可以触发画像理解、资源生成和路径调整，最终把回答转化为可以继续执行的学习行动。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传统系统的个性化经常被四个断点阻断：画像碎片、资源供给慢、路径静态、反馈不回流。如果这些环节不共享状态，系统就会不断从零开始，因此我们把人、内容、路径和评价统一到一条业务链路中。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这套闭环同时服务学生、教师和平台。学生获得更匹配的资源与顺序，教师减少重复备课和诊断成本，平台则沉淀可解释、可复用的画像与知识资产。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赛题评分中，功能与技术占百分之四十五，创新与实用占百分之三十五，两项合计百分之八十。因此后续展示优先回答两个问题：系统是否真正做出来，以及这些能力是否形成了教育场景中的新价值。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系统由交互、编排、智能和数据四层组成。前端负责真实学习体验，FastAPI 与 LangGraph 负责任务协作，大模型、检索和知识图谱负责生成与约束，多种数据库分别承载业务、向量、关系、行为和热状态。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四个智能体不是并列摆放，而是一条有产物的流水线。调度智能体输出任务计划，画像智能体输出画像快照，资源智能体输出五类资源包，路径推送智能体最终形成阶段化学习路径。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多智能体任务可能耗时，因此我们把生成过程设计为可观察任务。用户可以获得任务标识、查看流式进度、查询状态、主动取消并回看结果，开发者也能据此定位具体失败阶段。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个性化的共同基础是八维动态画像。它既包含知识掌握度，也包含认知风格、易错偏好、多模态偏好、活跃时段、学习节奏、元认知校准和注意力特征，从而让“学得怎样”与“怎样学更好”同时进入决策。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画像不是注册时填写一次就结束。系统持续经历画像理解、资源生成、路径学习、效果评价和画像更新，每次循环都让下一次推荐更接近学习者的真实状态。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当前系统针对同一知识点固定并发生成五类资源：视频脚本、代码案例、练习题、讲义文档和思维导图。五类资源覆盖理解、应用、练习、教学和复习，并根据画像调整难度与解释方式。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知识图谱与检索增强承担不同职责。检索增强提供可以核验的语义证据，知识图谱提供前置、包含和关联关系，两者结合让内容生成更有依据，也让学习路径更尊重知识依赖。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学习路径从目标开始，经过知识差距诊断，再形成阶段化推送。系统综合掌握度、知识关系和学习者画像，决定知识点顺序并绑定对应资源，页面展示的是这一逻辑的真实产品落地。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智能辅导把提问和学习行动连接起来。系统通过流式 Markdown 提供即时反馈，同时识别知识缺口，并允许用户直接生成下一步资源，使对话从“回答完毕”升级为“继续学习”。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评价的作用不只是给出分数。练习和代码判题会进入错因分析，更新知识掌握度与画像，再驱动下一步推荐，从而让每次练习都成为新的个性化证据。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这里展示的是用户指定目录中的十张真实产品截图。它们覆盖首页、对话、学习路径以及其他核心页面，共同证明项目能力已经进入可以操作的完整用户旅程，而不是停留在架构图或概念原型。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我们的前沿技术融合不是简单堆叠名词，而是围绕同一学习状态分层协作。LangGraph 负责状态编排，大模型负责理解与生成，检索与图谱负责证据和关系，流式并发与隔离执行保证体验和安全。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可信能力来自三层约束。内容层通过检索证据和关系约束降低无依据输出，任务层通过进度、状态和取消实现可观察，系统层通过权限、隔离执行、容器编排和多数据库分工保证可部署。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当前已经实现的核心创新包括四智能体闭环、八维画像、五类并发资源以及知识图谱和检索增强。自动学习周报和跨周期策略自动优化属于下一阶段增强项，我们明确区分已实现能力与演进方向。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最终，我们希望让每一次学习都成为下一次个性化的依据。教育智能体具备可感知、可生成、可追踪和可进化四个特征，欢迎评审从真实产品链路中检验这套闭环的价值。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oftbei_a3_education_age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oftbei_a3_education_age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9.jp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jpg"/><Relationship Id="rId9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342900"/>
            <a:ext cx="12192000" cy="7200900"/>
            <a:chOff x="0" y="-342900"/>
            <a:chExt cx="12192000" cy="72009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4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381000" y="4000500"/>
              <a:ext cx="11430000" cy="2114550"/>
            </a:xfrm>
            <a:custGeom>
              <a:avLst/>
              <a:gdLst/>
              <a:ahLst/>
              <a:cxnLst/>
              <a:rect l="l" t="t" r="r" b="b"/>
              <a:pathLst>
                <a:path w="11430000" h="2114550">
                  <a:moveTo>
                    <a:pt x="0" y="2057400"/>
                  </a:moveTo>
                  <a:cubicBezTo>
                    <a:pt x="2667000" y="1428750"/>
                    <a:pt x="3714750" y="2114550"/>
                    <a:pt x="6096000" y="1428750"/>
                  </a:cubicBezTo>
                  <a:cubicBezTo>
                    <a:pt x="8191500" y="819150"/>
                    <a:pt x="9429750" y="1104900"/>
                    <a:pt x="11430000" y="0"/>
                  </a:cubicBez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9163050" y="-342900"/>
              <a:ext cx="2819400" cy="2819400"/>
            </a:xfrm>
            <a:prstGeom prst="ellipse">
              <a:avLst/>
            </a:prstGeom>
            <a:noFill/>
            <a:ln w="9525">
              <a:solidFill>
                <a:schemeClr val="accent4"/>
              </a:solidFill>
              <a:prstDash val="lgDash"/>
            </a:ln>
          </p:spPr>
        </p:sp>
        <p:sp>
          <p:nvSpPr>
            <p:cNvPr id="5" name="Ellipse 5"/>
            <p:cNvSpPr/>
            <p:nvPr/>
          </p:nvSpPr>
          <p:spPr>
            <a:xfrm>
              <a:off x="9677400" y="171450"/>
              <a:ext cx="1790700" cy="1790700"/>
            </a:xfrm>
            <a:prstGeom prst="ellipse">
              <a:avLst/>
            </a:prstGeom>
            <a:noFill/>
            <a:ln w="19050">
              <a:solidFill>
                <a:schemeClr val="accent1">
                  <a:alpha val="35000"/>
                </a:scheme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33400" y="533400"/>
            <a:ext cx="4702683" cy="3753612"/>
            <a:chOff x="533400" y="533400"/>
            <a:chExt cx="4702683" cy="3753612"/>
          </a:xfrm>
        </p:grpSpPr>
        <p:sp>
          <p:nvSpPr>
            <p:cNvPr id="7" name="Rectangle 7"/>
            <p:cNvSpPr/>
            <p:nvPr/>
          </p:nvSpPr>
          <p:spPr>
            <a:xfrm>
              <a:off x="552450" y="533400"/>
              <a:ext cx="2190750" cy="323850"/>
            </a:xfrm>
            <a:prstGeom prst="roundRect">
              <a:avLst>
                <a:gd name="adj" fmla="val 1764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6092" y="616268"/>
              <a:ext cx="2195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spc="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中国软件杯 · A3 赛题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3400" y="1325880"/>
              <a:ext cx="470268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3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教育智能体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5310" y="2247900"/>
              <a:ext cx="34229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面向个性化学习的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5310" y="2705100"/>
              <a:ext cx="34229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多智能体协作系统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8358" y="337947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让画像、资源、路径与评价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8358" y="381762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形成可追踪、可进化的学习闭环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29250" y="1466850"/>
            <a:ext cx="6229350" cy="3638550"/>
            <a:chOff x="5429250" y="1466850"/>
            <a:chExt cx="6229350" cy="3638550"/>
          </a:xfrm>
        </p:grpSpPr>
        <p:sp>
          <p:nvSpPr>
            <p:cNvPr id="15" name="Rectangle 15"/>
            <p:cNvSpPr/>
            <p:nvPr/>
          </p:nvSpPr>
          <p:spPr>
            <a:xfrm>
              <a:off x="5429250" y="1466850"/>
              <a:ext cx="6229350" cy="3638550"/>
            </a:xfrm>
            <a:prstGeom prst="roundRect">
              <a:avLst>
                <a:gd name="adj" fmla="val 3665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  <a:effectLst>
              <a:glow rad="57150">
                <a:srgbClr val="00B8D9">
                  <a:alpha val="28000"/>
                </a:srgbClr>
              </a:glow>
            </a:effectLst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91175" y="1628775"/>
              <a:ext cx="5905500" cy="332422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5638800" y="4648200"/>
              <a:ext cx="2590800" cy="285750"/>
            </a:xfrm>
            <a:prstGeom prst="roundRect">
              <a:avLst>
                <a:gd name="adj" fmla="val 20000"/>
              </a:avLst>
            </a:prstGeom>
            <a:solidFill>
              <a:schemeClr val="lt1">
                <a:alpha val="92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84342" y="4712018"/>
              <a:ext cx="2775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REAL PRODUCT · 当前页面实证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4762500"/>
            <a:ext cx="4331513" cy="1028700"/>
            <a:chOff x="552450" y="4762500"/>
            <a:chExt cx="4331513" cy="1028700"/>
          </a:xfrm>
        </p:grpSpPr>
        <p:sp>
          <p:nvSpPr>
            <p:cNvPr id="20" name="Rectangle 20"/>
            <p:cNvSpPr/>
            <p:nvPr/>
          </p:nvSpPr>
          <p:spPr>
            <a:xfrm>
              <a:off x="552450" y="4762500"/>
              <a:ext cx="4171950" cy="10287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22127" y="5033367"/>
              <a:ext cx="355998" cy="369690"/>
              <a:chOff x="822127" y="5033367"/>
              <a:chExt cx="355998" cy="36969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5819" y="5115521"/>
                <a:ext cx="328613" cy="273845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273845">
                    <a:moveTo>
                      <a:pt x="287537" y="0"/>
                    </a:moveTo>
                    <a:lnTo>
                      <a:pt x="41077" y="0"/>
                    </a:lnTo>
                    <a:cubicBezTo>
                      <a:pt x="18391" y="0"/>
                      <a:pt x="0" y="18391"/>
                      <a:pt x="0" y="41077"/>
                    </a:cubicBezTo>
                    <a:lnTo>
                      <a:pt x="0" y="232768"/>
                    </a:lnTo>
                    <a:cubicBezTo>
                      <a:pt x="0" y="255454"/>
                      <a:pt x="18391" y="273845"/>
                      <a:pt x="41077" y="273845"/>
                    </a:cubicBezTo>
                    <a:lnTo>
                      <a:pt x="287537" y="273845"/>
                    </a:lnTo>
                    <a:cubicBezTo>
                      <a:pt x="310223" y="273845"/>
                      <a:pt x="328613" y="255454"/>
                      <a:pt x="328613" y="232768"/>
                    </a:cubicBezTo>
                    <a:lnTo>
                      <a:pt x="328613" y="41077"/>
                    </a:lnTo>
                    <a:cubicBezTo>
                      <a:pt x="328613" y="18391"/>
                      <a:pt x="310223" y="0"/>
                      <a:pt x="287537" y="0"/>
                    </a:cubicBezTo>
                    <a:close/>
                    <a:moveTo>
                      <a:pt x="225922" y="219076"/>
                    </a:moveTo>
                    <a:lnTo>
                      <a:pt x="102692" y="219076"/>
                    </a:lnTo>
                    <a:cubicBezTo>
                      <a:pt x="83787" y="219076"/>
                      <a:pt x="68461" y="203750"/>
                      <a:pt x="68461" y="184845"/>
                    </a:cubicBezTo>
                    <a:cubicBezTo>
                      <a:pt x="68461" y="165940"/>
                      <a:pt x="83787" y="150614"/>
                      <a:pt x="102692" y="150614"/>
                    </a:cubicBezTo>
                    <a:lnTo>
                      <a:pt x="225922" y="150614"/>
                    </a:lnTo>
                    <a:cubicBezTo>
                      <a:pt x="244827" y="150614"/>
                      <a:pt x="260152" y="165940"/>
                      <a:pt x="260152" y="184845"/>
                    </a:cubicBezTo>
                    <a:cubicBezTo>
                      <a:pt x="260152" y="203750"/>
                      <a:pt x="244827" y="219076"/>
                      <a:pt x="225922" y="219076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2127" y="5033367"/>
                <a:ext cx="355998" cy="369690"/>
              </a:xfrm>
              <a:custGeom>
                <a:avLst/>
                <a:gdLst/>
                <a:ahLst/>
                <a:cxnLst/>
                <a:rect l="l" t="t" r="r" b="b"/>
                <a:pathLst>
                  <a:path w="355998" h="369690">
                    <a:moveTo>
                      <a:pt x="301229" y="68461"/>
                    </a:moveTo>
                    <a:lnTo>
                      <a:pt x="191691" y="68461"/>
                    </a:lnTo>
                    <a:lnTo>
                      <a:pt x="191691" y="13692"/>
                    </a:lnTo>
                    <a:cubicBezTo>
                      <a:pt x="191691" y="6130"/>
                      <a:pt x="185561" y="0"/>
                      <a:pt x="177999" y="0"/>
                    </a:cubicBezTo>
                    <a:cubicBezTo>
                      <a:pt x="170437" y="0"/>
                      <a:pt x="164307" y="6130"/>
                      <a:pt x="164307" y="13692"/>
                    </a:cubicBezTo>
                    <a:lnTo>
                      <a:pt x="164307" y="68461"/>
                    </a:lnTo>
                    <a:lnTo>
                      <a:pt x="54769" y="68461"/>
                    </a:lnTo>
                    <a:cubicBezTo>
                      <a:pt x="24521" y="68461"/>
                      <a:pt x="0" y="92982"/>
                      <a:pt x="0" y="123230"/>
                    </a:cubicBezTo>
                    <a:lnTo>
                      <a:pt x="0" y="314921"/>
                    </a:lnTo>
                    <a:cubicBezTo>
                      <a:pt x="0" y="345169"/>
                      <a:pt x="24521" y="369690"/>
                      <a:pt x="54769" y="369690"/>
                    </a:cubicBezTo>
                    <a:lnTo>
                      <a:pt x="301229" y="369690"/>
                    </a:lnTo>
                    <a:cubicBezTo>
                      <a:pt x="331477" y="369690"/>
                      <a:pt x="355998" y="345169"/>
                      <a:pt x="355998" y="314921"/>
                    </a:cubicBezTo>
                    <a:lnTo>
                      <a:pt x="355998" y="123230"/>
                    </a:lnTo>
                    <a:cubicBezTo>
                      <a:pt x="355998" y="92982"/>
                      <a:pt x="331477" y="68461"/>
                      <a:pt x="301229" y="68461"/>
                    </a:cubicBezTo>
                    <a:close/>
                    <a:moveTo>
                      <a:pt x="328613" y="314921"/>
                    </a:moveTo>
                    <a:cubicBezTo>
                      <a:pt x="328613" y="330045"/>
                      <a:pt x="316353" y="342306"/>
                      <a:pt x="301229" y="342306"/>
                    </a:cubicBezTo>
                    <a:lnTo>
                      <a:pt x="54769" y="342306"/>
                    </a:lnTo>
                    <a:cubicBezTo>
                      <a:pt x="39645" y="342306"/>
                      <a:pt x="27384" y="330045"/>
                      <a:pt x="27384" y="314921"/>
                    </a:cubicBezTo>
                    <a:lnTo>
                      <a:pt x="27384" y="123230"/>
                    </a:lnTo>
                    <a:cubicBezTo>
                      <a:pt x="27384" y="108106"/>
                      <a:pt x="39645" y="95846"/>
                      <a:pt x="54769" y="95846"/>
                    </a:cubicBezTo>
                    <a:lnTo>
                      <a:pt x="301229" y="95846"/>
                    </a:lnTo>
                    <a:cubicBezTo>
                      <a:pt x="316353" y="95846"/>
                      <a:pt x="328613" y="108106"/>
                      <a:pt x="328613" y="123230"/>
                    </a:cubicBezTo>
                    <a:close/>
                    <a:moveTo>
                      <a:pt x="239614" y="219076"/>
                    </a:moveTo>
                    <a:lnTo>
                      <a:pt x="116384" y="219076"/>
                    </a:lnTo>
                    <a:cubicBezTo>
                      <a:pt x="89917" y="219076"/>
                      <a:pt x="68461" y="240531"/>
                      <a:pt x="68461" y="266998"/>
                    </a:cubicBezTo>
                    <a:cubicBezTo>
                      <a:pt x="68461" y="293465"/>
                      <a:pt x="89917" y="314921"/>
                      <a:pt x="116384" y="314921"/>
                    </a:cubicBezTo>
                    <a:lnTo>
                      <a:pt x="239614" y="314921"/>
                    </a:lnTo>
                    <a:cubicBezTo>
                      <a:pt x="266081" y="314921"/>
                      <a:pt x="287537" y="293465"/>
                      <a:pt x="287537" y="266998"/>
                    </a:cubicBezTo>
                    <a:cubicBezTo>
                      <a:pt x="287537" y="240531"/>
                      <a:pt x="266081" y="219076"/>
                      <a:pt x="239614" y="219076"/>
                    </a:cubicBezTo>
                    <a:close/>
                    <a:moveTo>
                      <a:pt x="191691" y="246460"/>
                    </a:moveTo>
                    <a:lnTo>
                      <a:pt x="191691" y="287537"/>
                    </a:lnTo>
                    <a:lnTo>
                      <a:pt x="164307" y="287537"/>
                    </a:lnTo>
                    <a:lnTo>
                      <a:pt x="164307" y="246460"/>
                    </a:lnTo>
                    <a:close/>
                    <a:moveTo>
                      <a:pt x="95846" y="266998"/>
                    </a:moveTo>
                    <a:cubicBezTo>
                      <a:pt x="95846" y="255655"/>
                      <a:pt x="105041" y="246460"/>
                      <a:pt x="116384" y="246460"/>
                    </a:cubicBezTo>
                    <a:lnTo>
                      <a:pt x="136922" y="246460"/>
                    </a:lnTo>
                    <a:lnTo>
                      <a:pt x="136922" y="287537"/>
                    </a:lnTo>
                    <a:lnTo>
                      <a:pt x="116384" y="287537"/>
                    </a:lnTo>
                    <a:cubicBezTo>
                      <a:pt x="105041" y="287537"/>
                      <a:pt x="95846" y="278341"/>
                      <a:pt x="95846" y="266998"/>
                    </a:cubicBezTo>
                    <a:close/>
                    <a:moveTo>
                      <a:pt x="239614" y="287537"/>
                    </a:moveTo>
                    <a:lnTo>
                      <a:pt x="219076" y="287537"/>
                    </a:lnTo>
                    <a:lnTo>
                      <a:pt x="219076" y="246460"/>
                    </a:lnTo>
                    <a:lnTo>
                      <a:pt x="239614" y="246460"/>
                    </a:lnTo>
                    <a:cubicBezTo>
                      <a:pt x="250957" y="246460"/>
                      <a:pt x="260152" y="255655"/>
                      <a:pt x="260152" y="266998"/>
                    </a:cubicBezTo>
                    <a:cubicBezTo>
                      <a:pt x="260152" y="278341"/>
                      <a:pt x="250957" y="287537"/>
                      <a:pt x="239614" y="287537"/>
                    </a:cubicBezTo>
                    <a:close/>
                    <a:moveTo>
                      <a:pt x="82153" y="171153"/>
                    </a:moveTo>
                    <a:cubicBezTo>
                      <a:pt x="82153" y="159810"/>
                      <a:pt x="91349" y="150614"/>
                      <a:pt x="102692" y="150614"/>
                    </a:cubicBezTo>
                    <a:cubicBezTo>
                      <a:pt x="114035" y="150614"/>
                      <a:pt x="123230" y="159810"/>
                      <a:pt x="123230" y="171153"/>
                    </a:cubicBezTo>
                    <a:cubicBezTo>
                      <a:pt x="123230" y="182496"/>
                      <a:pt x="114035" y="191691"/>
                      <a:pt x="102692" y="191691"/>
                    </a:cubicBezTo>
                    <a:cubicBezTo>
                      <a:pt x="91349" y="191691"/>
                      <a:pt x="82153" y="182496"/>
                      <a:pt x="82153" y="171153"/>
                    </a:cubicBezTo>
                    <a:close/>
                    <a:moveTo>
                      <a:pt x="232768" y="171153"/>
                    </a:moveTo>
                    <a:cubicBezTo>
                      <a:pt x="232768" y="159810"/>
                      <a:pt x="241963" y="150614"/>
                      <a:pt x="253306" y="150614"/>
                    </a:cubicBezTo>
                    <a:cubicBezTo>
                      <a:pt x="264649" y="150614"/>
                      <a:pt x="273845" y="159810"/>
                      <a:pt x="273845" y="171153"/>
                    </a:cubicBezTo>
                    <a:cubicBezTo>
                      <a:pt x="273845" y="182496"/>
                      <a:pt x="264649" y="191691"/>
                      <a:pt x="253306" y="191691"/>
                    </a:cubicBezTo>
                    <a:cubicBezTo>
                      <a:pt x="241963" y="191691"/>
                      <a:pt x="232768" y="182496"/>
                      <a:pt x="232768" y="1711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400556" y="49872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四智能体协作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00556" y="5320665"/>
              <a:ext cx="34834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动态画像 · 五类资源 · 精准路径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45592" y="6331268"/>
            <a:ext cx="11100816" cy="264033"/>
            <a:chOff x="545592" y="6331268"/>
            <a:chExt cx="1110081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45592" y="6331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项目演示 · 2026.07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23873" y="63312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01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714500" y="704850"/>
            <a:ext cx="9906000" cy="5572125"/>
            <a:chOff x="1714500" y="704850"/>
            <a:chExt cx="9906000" cy="557212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14500" y="704850"/>
              <a:ext cx="9906000" cy="5572125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1714500" y="704850"/>
              <a:ext cx="9906000" cy="5572125"/>
            </a:xfrm>
            <a:prstGeom prst="rect">
              <a:avLst/>
            </a:prstGeom>
            <a:solidFill>
              <a:schemeClr val="lt1">
                <a:alpha val="16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7239000" cy="6858000"/>
            <a:chOff x="0" y="0"/>
            <a:chExt cx="7239000" cy="6858000"/>
          </a:xfrm>
        </p:grpSpPr>
        <p:sp>
          <p:nvSpPr>
            <p:cNvPr id="5" name="Rectangle 5"/>
            <p:cNvSpPr/>
            <p:nvPr/>
          </p:nvSpPr>
          <p:spPr>
            <a:xfrm>
              <a:off x="0" y="0"/>
              <a:ext cx="7239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8000"/>
                  </a:schemeClr>
                </a:gs>
                <a:gs pos="76000">
                  <a:schemeClr val="lt1">
                    <a:alpha val="82000"/>
                  </a:schemeClr>
                </a:gs>
                <a:gs pos="100000">
                  <a:schemeClr val="lt1">
                    <a:alpha val="8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476250"/>
              <a:ext cx="1581150" cy="3048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97992" y="549592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核心判断 / 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1165860"/>
            <a:ext cx="4896612" cy="3073527"/>
            <a:chOff x="514350" y="1165860"/>
            <a:chExt cx="4896612" cy="3073527"/>
          </a:xfrm>
        </p:grpSpPr>
        <p:sp>
          <p:nvSpPr>
            <p:cNvPr id="9" name="TextBox 9"/>
            <p:cNvSpPr txBox="1"/>
            <p:nvPr/>
          </p:nvSpPr>
          <p:spPr>
            <a:xfrm>
              <a:off x="514350" y="1165860"/>
              <a:ext cx="36595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不是“会聊天”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14350" y="1851660"/>
              <a:ext cx="36595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而是“会协作”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4350" y="2537460"/>
              <a:ext cx="40840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的 AI 教学团队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0258" y="334137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一次对话触发画像理解、资源生成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0258" y="3769995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路径规划与学习效果回写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4552950"/>
            <a:ext cx="5619750" cy="1104900"/>
            <a:chOff x="533400" y="4552950"/>
            <a:chExt cx="5619750" cy="1104900"/>
          </a:xfrm>
        </p:grpSpPr>
        <p:sp>
          <p:nvSpPr>
            <p:cNvPr id="15" name="Rectangle 15"/>
            <p:cNvSpPr/>
            <p:nvPr/>
          </p:nvSpPr>
          <p:spPr>
            <a:xfrm>
              <a:off x="533400" y="4552950"/>
              <a:ext cx="5619750" cy="11049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95324" y="4893432"/>
              <a:ext cx="428638" cy="371548"/>
              <a:chOff x="795324" y="4893432"/>
              <a:chExt cx="428638" cy="37154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9548" y="4914900"/>
                <a:ext cx="400138" cy="328612"/>
              </a:xfrm>
              <a:custGeom>
                <a:avLst/>
                <a:gdLst/>
                <a:ahLst/>
                <a:cxnLst/>
                <a:rect l="l" t="t" r="r" b="b"/>
                <a:pathLst>
                  <a:path w="400138" h="328612">
                    <a:moveTo>
                      <a:pt x="400127" y="164306"/>
                    </a:moveTo>
                    <a:cubicBezTo>
                      <a:pt x="400138" y="200645"/>
                      <a:pt x="377237" y="233043"/>
                      <a:pt x="342977" y="245156"/>
                    </a:cubicBezTo>
                    <a:lnTo>
                      <a:pt x="342977" y="245156"/>
                    </a:lnTo>
                    <a:lnTo>
                      <a:pt x="342977" y="257175"/>
                    </a:lnTo>
                    <a:cubicBezTo>
                      <a:pt x="342977" y="296629"/>
                      <a:pt x="310993" y="328612"/>
                      <a:pt x="271539" y="328612"/>
                    </a:cubicBezTo>
                    <a:cubicBezTo>
                      <a:pt x="232085" y="328612"/>
                      <a:pt x="200102" y="296629"/>
                      <a:pt x="200102" y="257175"/>
                    </a:cubicBezTo>
                    <a:cubicBezTo>
                      <a:pt x="200102" y="296629"/>
                      <a:pt x="168118" y="328612"/>
                      <a:pt x="128664" y="328612"/>
                    </a:cubicBezTo>
                    <a:cubicBezTo>
                      <a:pt x="89210" y="328612"/>
                      <a:pt x="57227" y="296629"/>
                      <a:pt x="57227" y="257175"/>
                    </a:cubicBezTo>
                    <a:lnTo>
                      <a:pt x="57227" y="245156"/>
                    </a:lnTo>
                    <a:lnTo>
                      <a:pt x="57227" y="245156"/>
                    </a:lnTo>
                    <a:cubicBezTo>
                      <a:pt x="22936" y="233069"/>
                      <a:pt x="0" y="200665"/>
                      <a:pt x="0" y="164306"/>
                    </a:cubicBezTo>
                    <a:cubicBezTo>
                      <a:pt x="0" y="127948"/>
                      <a:pt x="22936" y="95544"/>
                      <a:pt x="57227" y="83457"/>
                    </a:cubicBezTo>
                    <a:lnTo>
                      <a:pt x="57227" y="71438"/>
                    </a:lnTo>
                    <a:cubicBezTo>
                      <a:pt x="57227" y="31984"/>
                      <a:pt x="89210" y="0"/>
                      <a:pt x="128664" y="0"/>
                    </a:cubicBezTo>
                    <a:cubicBezTo>
                      <a:pt x="168118" y="0"/>
                      <a:pt x="200102" y="31984"/>
                      <a:pt x="200102" y="71438"/>
                    </a:cubicBezTo>
                    <a:cubicBezTo>
                      <a:pt x="200102" y="31984"/>
                      <a:pt x="232085" y="0"/>
                      <a:pt x="271539" y="0"/>
                    </a:cubicBezTo>
                    <a:cubicBezTo>
                      <a:pt x="310993" y="0"/>
                      <a:pt x="342977" y="31984"/>
                      <a:pt x="342977" y="71438"/>
                    </a:cubicBezTo>
                    <a:lnTo>
                      <a:pt x="342977" y="83457"/>
                    </a:lnTo>
                    <a:cubicBezTo>
                      <a:pt x="377237" y="95570"/>
                      <a:pt x="400138" y="127968"/>
                      <a:pt x="400127" y="16430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95324" y="4893432"/>
                <a:ext cx="428638" cy="371548"/>
              </a:xfrm>
              <a:custGeom>
                <a:avLst/>
                <a:gdLst/>
                <a:ahLst/>
                <a:cxnLst/>
                <a:rect l="l" t="t" r="r" b="b"/>
                <a:pathLst>
                  <a:path w="428638" h="371548">
                    <a:moveTo>
                      <a:pt x="428638" y="185774"/>
                    </a:moveTo>
                    <a:cubicBezTo>
                      <a:pt x="428600" y="147149"/>
                      <a:pt x="406366" y="111984"/>
                      <a:pt x="371488" y="95388"/>
                    </a:cubicBezTo>
                    <a:lnTo>
                      <a:pt x="371488" y="92905"/>
                    </a:lnTo>
                    <a:cubicBezTo>
                      <a:pt x="371455" y="55106"/>
                      <a:pt x="346668" y="21791"/>
                      <a:pt x="310473" y="10895"/>
                    </a:cubicBezTo>
                    <a:cubicBezTo>
                      <a:pt x="274279" y="0"/>
                      <a:pt x="235220" y="14097"/>
                      <a:pt x="214326" y="45596"/>
                    </a:cubicBezTo>
                    <a:cubicBezTo>
                      <a:pt x="193432" y="14097"/>
                      <a:pt x="154373" y="0"/>
                      <a:pt x="118178" y="10895"/>
                    </a:cubicBezTo>
                    <a:cubicBezTo>
                      <a:pt x="81984" y="21791"/>
                      <a:pt x="57197" y="55106"/>
                      <a:pt x="57163" y="92905"/>
                    </a:cubicBezTo>
                    <a:lnTo>
                      <a:pt x="57163" y="95388"/>
                    </a:lnTo>
                    <a:cubicBezTo>
                      <a:pt x="22253" y="111940"/>
                      <a:pt x="0" y="147121"/>
                      <a:pt x="0" y="185756"/>
                    </a:cubicBezTo>
                    <a:cubicBezTo>
                      <a:pt x="0" y="224392"/>
                      <a:pt x="22253" y="259572"/>
                      <a:pt x="57163" y="276124"/>
                    </a:cubicBezTo>
                    <a:lnTo>
                      <a:pt x="57163" y="278643"/>
                    </a:lnTo>
                    <a:cubicBezTo>
                      <a:pt x="57197" y="316441"/>
                      <a:pt x="81984" y="349757"/>
                      <a:pt x="118178" y="360652"/>
                    </a:cubicBezTo>
                    <a:cubicBezTo>
                      <a:pt x="154373" y="371548"/>
                      <a:pt x="193432" y="357451"/>
                      <a:pt x="214326" y="325952"/>
                    </a:cubicBezTo>
                    <a:cubicBezTo>
                      <a:pt x="235220" y="357451"/>
                      <a:pt x="274279" y="371548"/>
                      <a:pt x="310473" y="360652"/>
                    </a:cubicBezTo>
                    <a:cubicBezTo>
                      <a:pt x="346668" y="349757"/>
                      <a:pt x="371455" y="316441"/>
                      <a:pt x="371488" y="278643"/>
                    </a:cubicBezTo>
                    <a:lnTo>
                      <a:pt x="371488" y="276124"/>
                    </a:lnTo>
                    <a:cubicBezTo>
                      <a:pt x="406360" y="259540"/>
                      <a:pt x="428595" y="224388"/>
                      <a:pt x="428638" y="185774"/>
                    </a:cubicBezTo>
                    <a:close/>
                    <a:moveTo>
                      <a:pt x="142888" y="335793"/>
                    </a:moveTo>
                    <a:cubicBezTo>
                      <a:pt x="113706" y="335788"/>
                      <a:pt x="89215" y="313799"/>
                      <a:pt x="86078" y="284786"/>
                    </a:cubicBezTo>
                    <a:cubicBezTo>
                      <a:pt x="90698" y="285445"/>
                      <a:pt x="95359" y="285780"/>
                      <a:pt x="100026" y="285786"/>
                    </a:cubicBezTo>
                    <a:lnTo>
                      <a:pt x="114313" y="285786"/>
                    </a:lnTo>
                    <a:cubicBezTo>
                      <a:pt x="122204" y="285786"/>
                      <a:pt x="128601" y="279390"/>
                      <a:pt x="128601" y="271499"/>
                    </a:cubicBezTo>
                    <a:cubicBezTo>
                      <a:pt x="128601" y="263608"/>
                      <a:pt x="122204" y="257211"/>
                      <a:pt x="114313" y="257211"/>
                    </a:cubicBezTo>
                    <a:lnTo>
                      <a:pt x="100026" y="257211"/>
                    </a:lnTo>
                    <a:cubicBezTo>
                      <a:pt x="65200" y="257252"/>
                      <a:pt x="35419" y="232174"/>
                      <a:pt x="29533" y="197849"/>
                    </a:cubicBezTo>
                    <a:cubicBezTo>
                      <a:pt x="23646" y="163523"/>
                      <a:pt x="43369" y="129956"/>
                      <a:pt x="76219" y="118390"/>
                    </a:cubicBezTo>
                    <a:cubicBezTo>
                      <a:pt x="81924" y="116371"/>
                      <a:pt x="85737" y="110976"/>
                      <a:pt x="85738" y="104924"/>
                    </a:cubicBezTo>
                    <a:lnTo>
                      <a:pt x="85738" y="92905"/>
                    </a:lnTo>
                    <a:cubicBezTo>
                      <a:pt x="85738" y="61342"/>
                      <a:pt x="111325" y="35755"/>
                      <a:pt x="142888" y="35755"/>
                    </a:cubicBezTo>
                    <a:cubicBezTo>
                      <a:pt x="174451" y="35755"/>
                      <a:pt x="200038" y="61342"/>
                      <a:pt x="200038" y="92905"/>
                    </a:cubicBezTo>
                    <a:lnTo>
                      <a:pt x="200038" y="214813"/>
                    </a:lnTo>
                    <a:cubicBezTo>
                      <a:pt x="184349" y="200702"/>
                      <a:pt x="163990" y="192902"/>
                      <a:pt x="142888" y="192918"/>
                    </a:cubicBezTo>
                    <a:cubicBezTo>
                      <a:pt x="134998" y="192918"/>
                      <a:pt x="128601" y="199314"/>
                      <a:pt x="128601" y="207205"/>
                    </a:cubicBezTo>
                    <a:cubicBezTo>
                      <a:pt x="128601" y="215096"/>
                      <a:pt x="134998" y="221493"/>
                      <a:pt x="142888" y="221493"/>
                    </a:cubicBezTo>
                    <a:cubicBezTo>
                      <a:pt x="174451" y="221493"/>
                      <a:pt x="200038" y="247080"/>
                      <a:pt x="200038" y="278643"/>
                    </a:cubicBezTo>
                    <a:cubicBezTo>
                      <a:pt x="200038" y="310206"/>
                      <a:pt x="174451" y="335793"/>
                      <a:pt x="142888" y="335793"/>
                    </a:cubicBezTo>
                    <a:close/>
                    <a:moveTo>
                      <a:pt x="328626" y="257211"/>
                    </a:moveTo>
                    <a:lnTo>
                      <a:pt x="314338" y="257211"/>
                    </a:lnTo>
                    <a:cubicBezTo>
                      <a:pt x="306448" y="257211"/>
                      <a:pt x="300051" y="263608"/>
                      <a:pt x="300051" y="271499"/>
                    </a:cubicBezTo>
                    <a:cubicBezTo>
                      <a:pt x="300051" y="279390"/>
                      <a:pt x="306448" y="285786"/>
                      <a:pt x="314338" y="285786"/>
                    </a:cubicBezTo>
                    <a:lnTo>
                      <a:pt x="328626" y="285786"/>
                    </a:lnTo>
                    <a:cubicBezTo>
                      <a:pt x="333293" y="285780"/>
                      <a:pt x="337954" y="285445"/>
                      <a:pt x="342574" y="284786"/>
                    </a:cubicBezTo>
                    <a:cubicBezTo>
                      <a:pt x="339267" y="315374"/>
                      <a:pt x="312339" y="337854"/>
                      <a:pt x="281652" y="335645"/>
                    </a:cubicBezTo>
                    <a:cubicBezTo>
                      <a:pt x="250966" y="333436"/>
                      <a:pt x="227535" y="307332"/>
                      <a:pt x="228642" y="276586"/>
                    </a:cubicBezTo>
                    <a:cubicBezTo>
                      <a:pt x="229750" y="245840"/>
                      <a:pt x="254998" y="221488"/>
                      <a:pt x="285763" y="221493"/>
                    </a:cubicBezTo>
                    <a:cubicBezTo>
                      <a:pt x="293654" y="221493"/>
                      <a:pt x="300051" y="215096"/>
                      <a:pt x="300051" y="207205"/>
                    </a:cubicBezTo>
                    <a:cubicBezTo>
                      <a:pt x="300051" y="199314"/>
                      <a:pt x="293654" y="192918"/>
                      <a:pt x="285763" y="192918"/>
                    </a:cubicBezTo>
                    <a:cubicBezTo>
                      <a:pt x="264662" y="192902"/>
                      <a:pt x="244303" y="200702"/>
                      <a:pt x="228613" y="214813"/>
                    </a:cubicBezTo>
                    <a:lnTo>
                      <a:pt x="228613" y="92905"/>
                    </a:lnTo>
                    <a:cubicBezTo>
                      <a:pt x="228613" y="61342"/>
                      <a:pt x="254200" y="35755"/>
                      <a:pt x="285763" y="35755"/>
                    </a:cubicBezTo>
                    <a:cubicBezTo>
                      <a:pt x="317326" y="35755"/>
                      <a:pt x="342913" y="61342"/>
                      <a:pt x="342913" y="92905"/>
                    </a:cubicBezTo>
                    <a:lnTo>
                      <a:pt x="342913" y="104924"/>
                    </a:lnTo>
                    <a:cubicBezTo>
                      <a:pt x="342914" y="110976"/>
                      <a:pt x="346728" y="116371"/>
                      <a:pt x="352432" y="118390"/>
                    </a:cubicBezTo>
                    <a:cubicBezTo>
                      <a:pt x="385282" y="129956"/>
                      <a:pt x="405006" y="163523"/>
                      <a:pt x="399119" y="197849"/>
                    </a:cubicBezTo>
                    <a:cubicBezTo>
                      <a:pt x="393233" y="232174"/>
                      <a:pt x="363452" y="257252"/>
                      <a:pt x="328626" y="257211"/>
                    </a:cubicBezTo>
                    <a:close/>
                    <a:moveTo>
                      <a:pt x="357201" y="164343"/>
                    </a:moveTo>
                    <a:cubicBezTo>
                      <a:pt x="357201" y="172233"/>
                      <a:pt x="350804" y="178630"/>
                      <a:pt x="342913" y="178630"/>
                    </a:cubicBezTo>
                    <a:lnTo>
                      <a:pt x="335770" y="178630"/>
                    </a:lnTo>
                    <a:cubicBezTo>
                      <a:pt x="300261" y="178630"/>
                      <a:pt x="271476" y="149845"/>
                      <a:pt x="271476" y="114336"/>
                    </a:cubicBezTo>
                    <a:lnTo>
                      <a:pt x="271476" y="107193"/>
                    </a:lnTo>
                    <a:cubicBezTo>
                      <a:pt x="271476" y="99302"/>
                      <a:pt x="277873" y="92905"/>
                      <a:pt x="285763" y="92905"/>
                    </a:cubicBezTo>
                    <a:cubicBezTo>
                      <a:pt x="293654" y="92905"/>
                      <a:pt x="300051" y="99302"/>
                      <a:pt x="300051" y="107193"/>
                    </a:cubicBezTo>
                    <a:lnTo>
                      <a:pt x="300051" y="114336"/>
                    </a:lnTo>
                    <a:cubicBezTo>
                      <a:pt x="300051" y="134063"/>
                      <a:pt x="316043" y="150055"/>
                      <a:pt x="335770" y="150055"/>
                    </a:cubicBezTo>
                    <a:lnTo>
                      <a:pt x="342913" y="150055"/>
                    </a:lnTo>
                    <a:cubicBezTo>
                      <a:pt x="350804" y="150055"/>
                      <a:pt x="357201" y="156452"/>
                      <a:pt x="357201" y="164343"/>
                    </a:cubicBezTo>
                    <a:close/>
                    <a:moveTo>
                      <a:pt x="92882" y="178630"/>
                    </a:moveTo>
                    <a:lnTo>
                      <a:pt x="85738" y="178630"/>
                    </a:lnTo>
                    <a:cubicBezTo>
                      <a:pt x="77848" y="178630"/>
                      <a:pt x="71451" y="172233"/>
                      <a:pt x="71451" y="164343"/>
                    </a:cubicBezTo>
                    <a:cubicBezTo>
                      <a:pt x="71451" y="156452"/>
                      <a:pt x="77848" y="150055"/>
                      <a:pt x="85738" y="150055"/>
                    </a:cubicBezTo>
                    <a:lnTo>
                      <a:pt x="92882" y="150055"/>
                    </a:lnTo>
                    <a:cubicBezTo>
                      <a:pt x="112609" y="150055"/>
                      <a:pt x="128601" y="134063"/>
                      <a:pt x="128601" y="114336"/>
                    </a:cubicBezTo>
                    <a:lnTo>
                      <a:pt x="128601" y="107193"/>
                    </a:lnTo>
                    <a:cubicBezTo>
                      <a:pt x="128601" y="99302"/>
                      <a:pt x="134998" y="92905"/>
                      <a:pt x="142888" y="92905"/>
                    </a:cubicBezTo>
                    <a:cubicBezTo>
                      <a:pt x="150779" y="92905"/>
                      <a:pt x="157176" y="99302"/>
                      <a:pt x="157176" y="107193"/>
                    </a:cubicBezTo>
                    <a:lnTo>
                      <a:pt x="157176" y="114336"/>
                    </a:lnTo>
                    <a:cubicBezTo>
                      <a:pt x="157176" y="149845"/>
                      <a:pt x="128391" y="178630"/>
                      <a:pt x="92882" y="1786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38656" y="48158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感知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38656" y="51492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动态画像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91384" y="49091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05556" y="48158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协作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05556" y="51492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四智能体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63034" y="4909185"/>
              <a:ext cx="2273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39106" y="48158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进化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39106" y="51492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持续闭环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28" name="TextBox 28"/>
            <p:cNvSpPr txBox="1"/>
            <p:nvPr/>
          </p:nvSpPr>
          <p:spPr>
            <a:xfrm>
              <a:off x="526542" y="6388418"/>
              <a:ext cx="1962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真实产品页面：AI 对话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02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70510"/>
            <a:ext cx="9002580" cy="1101852"/>
            <a:chOff x="514350" y="270510"/>
            <a:chExt cx="9002580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70510"/>
              <a:ext cx="900258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四个断点，让个性化停留在“标签”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9029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教学数据没有连成持续服务，系统就只能反复从零开始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705100"/>
            <a:ext cx="9906000" cy="9525"/>
            <a:chOff x="1143000" y="2705100"/>
            <a:chExt cx="9906000" cy="9525"/>
          </a:xfrm>
        </p:grpSpPr>
        <p:sp>
          <p:nvSpPr>
            <p:cNvPr id="5" name="Line 5"/>
            <p:cNvSpPr/>
            <p:nvPr/>
          </p:nvSpPr>
          <p:spPr>
            <a:xfrm>
              <a:off x="1143000" y="27051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400300" y="27051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76200">
              <a:solidFill>
                <a:srgbClr val="FF7A90"/>
              </a:solidFill>
              <a:custDash>
                <a:ds d="150000" sp="125000"/>
              </a:custDash>
            </a:ln>
          </p:spPr>
        </p:sp>
        <p:sp>
          <p:nvSpPr>
            <p:cNvPr id="7" name="Line 7"/>
            <p:cNvSpPr/>
            <p:nvPr/>
          </p:nvSpPr>
          <p:spPr>
            <a:xfrm>
              <a:off x="4876800" y="27051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76200">
              <a:solidFill>
                <a:srgbClr val="FF7A90"/>
              </a:solidFill>
              <a:custDash>
                <a:ds d="150000" sp="125000"/>
              </a:custDash>
            </a:ln>
          </p:spPr>
        </p:sp>
        <p:sp>
          <p:nvSpPr>
            <p:cNvPr id="8" name="Line 8"/>
            <p:cNvSpPr/>
            <p:nvPr/>
          </p:nvSpPr>
          <p:spPr>
            <a:xfrm>
              <a:off x="7353300" y="27051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76200">
              <a:solidFill>
                <a:srgbClr val="FF7A90"/>
              </a:solidFill>
              <a:custDash>
                <a:ds d="150000" sp="125000"/>
              </a:custDash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62584" y="2190750"/>
            <a:ext cx="2203704" cy="2377059"/>
            <a:chOff x="862584" y="2190750"/>
            <a:chExt cx="2203704" cy="2377059"/>
          </a:xfrm>
        </p:grpSpPr>
        <p:sp>
          <p:nvSpPr>
            <p:cNvPr id="10" name="Ellipse 10"/>
            <p:cNvSpPr/>
            <p:nvPr/>
          </p:nvSpPr>
          <p:spPr>
            <a:xfrm>
              <a:off x="1276350" y="2190750"/>
              <a:ext cx="1028700" cy="1028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574006" y="2488120"/>
              <a:ext cx="433392" cy="419077"/>
              <a:chOff x="1574006" y="2488120"/>
              <a:chExt cx="433392" cy="4190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590675" y="2505075"/>
                <a:ext cx="4000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133350">
                    <a:moveTo>
                      <a:pt x="400050" y="66675"/>
                    </a:moveTo>
                    <a:lnTo>
                      <a:pt x="200025" y="133350"/>
                    </a:lnTo>
                    <a:lnTo>
                      <a:pt x="0" y="66675"/>
                    </a:lnTo>
                    <a:lnTo>
                      <a:pt x="200025" y="0"/>
                    </a:lnTo>
                    <a:close/>
                  </a:path>
                </a:pathLst>
              </a:custGeom>
              <a:solidFill>
                <a:srgbClr val="FF7A9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574006" y="2488120"/>
                <a:ext cx="433392" cy="419077"/>
              </a:xfrm>
              <a:custGeom>
                <a:avLst/>
                <a:gdLst/>
                <a:ahLst/>
                <a:cxnLst/>
                <a:rect l="l" t="t" r="r" b="b"/>
                <a:pathLst>
                  <a:path w="433392" h="419077">
                    <a:moveTo>
                      <a:pt x="421991" y="67816"/>
                    </a:moveTo>
                    <a:lnTo>
                      <a:pt x="221966" y="1141"/>
                    </a:lnTo>
                    <a:cubicBezTo>
                      <a:pt x="218544" y="0"/>
                      <a:pt x="214845" y="0"/>
                      <a:pt x="211423" y="1141"/>
                    </a:cubicBezTo>
                    <a:lnTo>
                      <a:pt x="11398" y="67816"/>
                    </a:lnTo>
                    <a:cubicBezTo>
                      <a:pt x="5220" y="69900"/>
                      <a:pt x="823" y="75395"/>
                      <a:pt x="147" y="81880"/>
                    </a:cubicBezTo>
                    <a:cubicBezTo>
                      <a:pt x="49" y="82458"/>
                      <a:pt x="0" y="83044"/>
                      <a:pt x="1" y="83630"/>
                    </a:cubicBezTo>
                    <a:lnTo>
                      <a:pt x="1" y="250318"/>
                    </a:lnTo>
                    <a:cubicBezTo>
                      <a:pt x="1" y="259524"/>
                      <a:pt x="7464" y="266986"/>
                      <a:pt x="16669" y="266986"/>
                    </a:cubicBezTo>
                    <a:cubicBezTo>
                      <a:pt x="25875" y="266986"/>
                      <a:pt x="33338" y="259524"/>
                      <a:pt x="33338" y="250318"/>
                    </a:cubicBezTo>
                    <a:lnTo>
                      <a:pt x="33338" y="106758"/>
                    </a:lnTo>
                    <a:lnTo>
                      <a:pt x="103326" y="130073"/>
                    </a:lnTo>
                    <a:cubicBezTo>
                      <a:pt x="64608" y="192626"/>
                      <a:pt x="83860" y="274718"/>
                      <a:pt x="146352" y="313534"/>
                    </a:cubicBezTo>
                    <a:cubicBezTo>
                      <a:pt x="108848" y="328244"/>
                      <a:pt x="76427" y="354852"/>
                      <a:pt x="52716" y="391231"/>
                    </a:cubicBezTo>
                    <a:cubicBezTo>
                      <a:pt x="49360" y="396219"/>
                      <a:pt x="48950" y="402628"/>
                      <a:pt x="51643" y="408003"/>
                    </a:cubicBezTo>
                    <a:cubicBezTo>
                      <a:pt x="54336" y="413378"/>
                      <a:pt x="59715" y="416886"/>
                      <a:pt x="65719" y="417184"/>
                    </a:cubicBezTo>
                    <a:cubicBezTo>
                      <a:pt x="71724" y="417482"/>
                      <a:pt x="77424" y="414524"/>
                      <a:pt x="80636" y="409442"/>
                    </a:cubicBezTo>
                    <a:cubicBezTo>
                      <a:pt x="112036" y="361269"/>
                      <a:pt x="161625" y="333661"/>
                      <a:pt x="216694" y="333661"/>
                    </a:cubicBezTo>
                    <a:cubicBezTo>
                      <a:pt x="271764" y="333661"/>
                      <a:pt x="321353" y="361269"/>
                      <a:pt x="352753" y="409442"/>
                    </a:cubicBezTo>
                    <a:cubicBezTo>
                      <a:pt x="357840" y="417003"/>
                      <a:pt x="368056" y="419077"/>
                      <a:pt x="375689" y="414098"/>
                    </a:cubicBezTo>
                    <a:cubicBezTo>
                      <a:pt x="383322" y="409120"/>
                      <a:pt x="385542" y="398934"/>
                      <a:pt x="380673" y="391231"/>
                    </a:cubicBezTo>
                    <a:cubicBezTo>
                      <a:pt x="356962" y="354852"/>
                      <a:pt x="324416" y="328244"/>
                      <a:pt x="287037" y="313534"/>
                    </a:cubicBezTo>
                    <a:cubicBezTo>
                      <a:pt x="349465" y="274722"/>
                      <a:pt x="368710" y="192708"/>
                      <a:pt x="330063" y="130178"/>
                    </a:cubicBezTo>
                    <a:lnTo>
                      <a:pt x="421991" y="99549"/>
                    </a:lnTo>
                    <a:cubicBezTo>
                      <a:pt x="428799" y="97281"/>
                      <a:pt x="433392" y="90910"/>
                      <a:pt x="433392" y="83734"/>
                    </a:cubicBezTo>
                    <a:cubicBezTo>
                      <a:pt x="433392" y="76558"/>
                      <a:pt x="428799" y="70188"/>
                      <a:pt x="421991" y="67920"/>
                    </a:cubicBezTo>
                    <a:close/>
                    <a:moveTo>
                      <a:pt x="316707" y="200311"/>
                    </a:moveTo>
                    <a:cubicBezTo>
                      <a:pt x="316719" y="243722"/>
                      <a:pt x="288726" y="282184"/>
                      <a:pt x="247413" y="295518"/>
                    </a:cubicBezTo>
                    <a:cubicBezTo>
                      <a:pt x="206101" y="308851"/>
                      <a:pt x="160904" y="294012"/>
                      <a:pt x="135536" y="258785"/>
                    </a:cubicBezTo>
                    <a:cubicBezTo>
                      <a:pt x="110168" y="223558"/>
                      <a:pt x="110421" y="175988"/>
                      <a:pt x="136164" y="141033"/>
                    </a:cubicBezTo>
                    <a:lnTo>
                      <a:pt x="211423" y="166036"/>
                    </a:lnTo>
                    <a:cubicBezTo>
                      <a:pt x="214845" y="167177"/>
                      <a:pt x="218544" y="167177"/>
                      <a:pt x="221966" y="166036"/>
                    </a:cubicBezTo>
                    <a:lnTo>
                      <a:pt x="297225" y="141033"/>
                    </a:lnTo>
                    <a:cubicBezTo>
                      <a:pt x="309889" y="158202"/>
                      <a:pt x="316717" y="178977"/>
                      <a:pt x="316707" y="200311"/>
                    </a:cubicBezTo>
                    <a:close/>
                    <a:moveTo>
                      <a:pt x="216694" y="132740"/>
                    </a:moveTo>
                    <a:lnTo>
                      <a:pt x="69384" y="83630"/>
                    </a:lnTo>
                    <a:lnTo>
                      <a:pt x="216694" y="34520"/>
                    </a:lnTo>
                    <a:lnTo>
                      <a:pt x="364005" y="83630"/>
                    </a:lnTo>
                    <a:close/>
                  </a:path>
                </a:pathLst>
              </a:custGeom>
              <a:solidFill>
                <a:srgbClr val="FF7A90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62584" y="33661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画像碎片化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156" y="39014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偏好、掌握度与行为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156" y="42157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分散在不同环节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339084" y="2190750"/>
            <a:ext cx="2203704" cy="2377059"/>
            <a:chOff x="3339084" y="2190750"/>
            <a:chExt cx="2203704" cy="2377059"/>
          </a:xfrm>
        </p:grpSpPr>
        <p:sp>
          <p:nvSpPr>
            <p:cNvPr id="18" name="Ellipse 18"/>
            <p:cNvSpPr/>
            <p:nvPr/>
          </p:nvSpPr>
          <p:spPr>
            <a:xfrm>
              <a:off x="3752850" y="2190750"/>
              <a:ext cx="1028700" cy="1028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4083844" y="2487307"/>
              <a:ext cx="403111" cy="417818"/>
              <a:chOff x="4083844" y="2487307"/>
              <a:chExt cx="403111" cy="41781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100512" y="2504526"/>
                <a:ext cx="321394" cy="317255"/>
              </a:xfrm>
              <a:custGeom>
                <a:avLst/>
                <a:gdLst/>
                <a:ahLst/>
                <a:cxnLst/>
                <a:rect l="l" t="t" r="r" b="b"/>
                <a:pathLst>
                  <a:path w="321394" h="317255">
                    <a:moveTo>
                      <a:pt x="0" y="83892"/>
                    </a:moveTo>
                    <a:lnTo>
                      <a:pt x="133350" y="83892"/>
                    </a:lnTo>
                    <a:lnTo>
                      <a:pt x="133350" y="317255"/>
                    </a:lnTo>
                    <a:lnTo>
                      <a:pt x="0" y="317255"/>
                    </a:lnTo>
                    <a:close/>
                    <a:moveTo>
                      <a:pt x="297204" y="13863"/>
                    </a:moveTo>
                    <a:cubicBezTo>
                      <a:pt x="296308" y="9515"/>
                      <a:pt x="293714" y="5704"/>
                      <a:pt x="289999" y="3275"/>
                    </a:cubicBezTo>
                    <a:cubicBezTo>
                      <a:pt x="286283" y="846"/>
                      <a:pt x="281752" y="0"/>
                      <a:pt x="277410" y="924"/>
                    </a:cubicBezTo>
                    <a:lnTo>
                      <a:pt x="179877" y="21760"/>
                    </a:lnTo>
                    <a:cubicBezTo>
                      <a:pt x="170850" y="23754"/>
                      <a:pt x="165127" y="32661"/>
                      <a:pt x="167063" y="41700"/>
                    </a:cubicBezTo>
                    <a:lnTo>
                      <a:pt x="191253" y="156818"/>
                    </a:lnTo>
                    <a:lnTo>
                      <a:pt x="321394" y="128856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083844" y="2487307"/>
                <a:ext cx="403111" cy="417818"/>
              </a:xfrm>
              <a:custGeom>
                <a:avLst/>
                <a:gdLst/>
                <a:ahLst/>
                <a:cxnLst/>
                <a:rect l="l" t="t" r="r" b="b"/>
                <a:pathLst>
                  <a:path w="403111" h="417818">
                    <a:moveTo>
                      <a:pt x="399321" y="356456"/>
                    </a:moveTo>
                    <a:lnTo>
                      <a:pt x="330166" y="27665"/>
                    </a:lnTo>
                    <a:cubicBezTo>
                      <a:pt x="328360" y="18981"/>
                      <a:pt x="323167" y="11374"/>
                      <a:pt x="315737" y="6529"/>
                    </a:cubicBezTo>
                    <a:cubicBezTo>
                      <a:pt x="308307" y="1684"/>
                      <a:pt x="299253" y="0"/>
                      <a:pt x="290578" y="1849"/>
                    </a:cubicBezTo>
                    <a:lnTo>
                      <a:pt x="193045" y="22810"/>
                    </a:lnTo>
                    <a:cubicBezTo>
                      <a:pt x="175089" y="26742"/>
                      <a:pt x="163653" y="44406"/>
                      <a:pt x="167417" y="62398"/>
                    </a:cubicBezTo>
                    <a:lnTo>
                      <a:pt x="236571" y="391189"/>
                    </a:lnTo>
                    <a:cubicBezTo>
                      <a:pt x="239748" y="406651"/>
                      <a:pt x="253332" y="417766"/>
                      <a:pt x="269117" y="417818"/>
                    </a:cubicBezTo>
                    <a:cubicBezTo>
                      <a:pt x="271484" y="417815"/>
                      <a:pt x="273845" y="417563"/>
                      <a:pt x="276160" y="417068"/>
                    </a:cubicBezTo>
                    <a:lnTo>
                      <a:pt x="373693" y="396107"/>
                    </a:lnTo>
                    <a:cubicBezTo>
                      <a:pt x="391671" y="392166"/>
                      <a:pt x="403111" y="374467"/>
                      <a:pt x="399321" y="356456"/>
                    </a:cubicBezTo>
                    <a:close/>
                    <a:moveTo>
                      <a:pt x="200025" y="55585"/>
                    </a:moveTo>
                    <a:cubicBezTo>
                      <a:pt x="200025" y="55460"/>
                      <a:pt x="200025" y="55397"/>
                      <a:pt x="200025" y="55397"/>
                    </a:cubicBezTo>
                    <a:lnTo>
                      <a:pt x="297537" y="34561"/>
                    </a:lnTo>
                    <a:lnTo>
                      <a:pt x="304476" y="67628"/>
                    </a:lnTo>
                    <a:lnTo>
                      <a:pt x="206963" y="88610"/>
                    </a:lnTo>
                    <a:close/>
                    <a:moveTo>
                      <a:pt x="213818" y="121156"/>
                    </a:moveTo>
                    <a:lnTo>
                      <a:pt x="311372" y="100215"/>
                    </a:lnTo>
                    <a:lnTo>
                      <a:pt x="318331" y="133345"/>
                    </a:lnTo>
                    <a:lnTo>
                      <a:pt x="220861" y="154306"/>
                    </a:lnTo>
                    <a:close/>
                    <a:moveTo>
                      <a:pt x="227653" y="186935"/>
                    </a:moveTo>
                    <a:lnTo>
                      <a:pt x="325207" y="165974"/>
                    </a:lnTo>
                    <a:lnTo>
                      <a:pt x="352919" y="297740"/>
                    </a:lnTo>
                    <a:lnTo>
                      <a:pt x="255365" y="318701"/>
                    </a:lnTo>
                    <a:close/>
                    <a:moveTo>
                      <a:pt x="366712" y="363519"/>
                    </a:moveTo>
                    <a:lnTo>
                      <a:pt x="269200" y="384355"/>
                    </a:lnTo>
                    <a:lnTo>
                      <a:pt x="262262" y="351289"/>
                    </a:lnTo>
                    <a:lnTo>
                      <a:pt x="359774" y="330307"/>
                    </a:lnTo>
                    <a:lnTo>
                      <a:pt x="366712" y="363332"/>
                    </a:lnTo>
                    <a:cubicBezTo>
                      <a:pt x="366712" y="363457"/>
                      <a:pt x="366712" y="363519"/>
                      <a:pt x="366712" y="363519"/>
                    </a:cubicBezTo>
                    <a:close/>
                    <a:moveTo>
                      <a:pt x="133350" y="17768"/>
                    </a:moveTo>
                    <a:lnTo>
                      <a:pt x="33338" y="17768"/>
                    </a:lnTo>
                    <a:cubicBezTo>
                      <a:pt x="14926" y="17768"/>
                      <a:pt x="0" y="32693"/>
                      <a:pt x="0" y="51105"/>
                    </a:cubicBezTo>
                    <a:lnTo>
                      <a:pt x="0" y="384480"/>
                    </a:lnTo>
                    <a:cubicBezTo>
                      <a:pt x="0" y="402892"/>
                      <a:pt x="14926" y="417818"/>
                      <a:pt x="33338" y="417818"/>
                    </a:cubicBezTo>
                    <a:lnTo>
                      <a:pt x="133350" y="417818"/>
                    </a:lnTo>
                    <a:cubicBezTo>
                      <a:pt x="151762" y="417818"/>
                      <a:pt x="166688" y="402892"/>
                      <a:pt x="166688" y="384480"/>
                    </a:cubicBezTo>
                    <a:lnTo>
                      <a:pt x="166688" y="51105"/>
                    </a:lnTo>
                    <a:cubicBezTo>
                      <a:pt x="166688" y="32693"/>
                      <a:pt x="151762" y="17768"/>
                      <a:pt x="133350" y="17768"/>
                    </a:cubicBezTo>
                    <a:close/>
                    <a:moveTo>
                      <a:pt x="33338" y="51105"/>
                    </a:moveTo>
                    <a:lnTo>
                      <a:pt x="133350" y="51105"/>
                    </a:lnTo>
                    <a:lnTo>
                      <a:pt x="133350" y="84443"/>
                    </a:lnTo>
                    <a:lnTo>
                      <a:pt x="33338" y="84443"/>
                    </a:lnTo>
                    <a:close/>
                    <a:moveTo>
                      <a:pt x="33338" y="117780"/>
                    </a:moveTo>
                    <a:lnTo>
                      <a:pt x="133350" y="117780"/>
                    </a:lnTo>
                    <a:lnTo>
                      <a:pt x="133350" y="317805"/>
                    </a:lnTo>
                    <a:lnTo>
                      <a:pt x="33338" y="317805"/>
                    </a:lnTo>
                    <a:close/>
                    <a:moveTo>
                      <a:pt x="133350" y="384480"/>
                    </a:moveTo>
                    <a:lnTo>
                      <a:pt x="33338" y="384480"/>
                    </a:lnTo>
                    <a:lnTo>
                      <a:pt x="33338" y="351143"/>
                    </a:lnTo>
                    <a:lnTo>
                      <a:pt x="133350" y="351143"/>
                    </a:lnTo>
                    <a:lnTo>
                      <a:pt x="133350" y="38448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3339084" y="33661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资源供给慢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43656" y="39014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教师难以为每个学生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43656" y="421576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实时重组多模态内容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815584" y="2190750"/>
            <a:ext cx="2446020" cy="2377059"/>
            <a:chOff x="5815584" y="2190750"/>
            <a:chExt cx="2446020" cy="2377059"/>
          </a:xfrm>
        </p:grpSpPr>
        <p:sp>
          <p:nvSpPr>
            <p:cNvPr id="26" name="Ellipse 26"/>
            <p:cNvSpPr/>
            <p:nvPr/>
          </p:nvSpPr>
          <p:spPr>
            <a:xfrm>
              <a:off x="6229350" y="2190750"/>
              <a:ext cx="1028700" cy="1028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6527006" y="2538412"/>
              <a:ext cx="436022" cy="388242"/>
              <a:chOff x="6527006" y="2538412"/>
              <a:chExt cx="436022" cy="38824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843712" y="2805112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100012" y="50006"/>
                    </a:moveTo>
                    <a:cubicBezTo>
                      <a:pt x="100012" y="77624"/>
                      <a:pt x="77624" y="100012"/>
                      <a:pt x="50006" y="100012"/>
                    </a:cubicBez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527006" y="2538412"/>
                <a:ext cx="436022" cy="388242"/>
              </a:xfrm>
              <a:custGeom>
                <a:avLst/>
                <a:gdLst/>
                <a:ahLst/>
                <a:cxnLst/>
                <a:rect l="l" t="t" r="r" b="b"/>
                <a:pathLst>
                  <a:path w="436022" h="388242">
                    <a:moveTo>
                      <a:pt x="366712" y="250031"/>
                    </a:moveTo>
                    <a:cubicBezTo>
                      <a:pt x="336311" y="250060"/>
                      <a:pt x="309764" y="270613"/>
                      <a:pt x="302121" y="300038"/>
                    </a:cubicBezTo>
                    <a:lnTo>
                      <a:pt x="100012" y="300038"/>
                    </a:lnTo>
                    <a:cubicBezTo>
                      <a:pt x="63189" y="300038"/>
                      <a:pt x="33338" y="270186"/>
                      <a:pt x="33338" y="233362"/>
                    </a:cubicBezTo>
                    <a:cubicBezTo>
                      <a:pt x="33338" y="196539"/>
                      <a:pt x="63189" y="166688"/>
                      <a:pt x="100012" y="166688"/>
                    </a:cubicBezTo>
                    <a:lnTo>
                      <a:pt x="300038" y="166688"/>
                    </a:lnTo>
                    <a:cubicBezTo>
                      <a:pt x="346067" y="166688"/>
                      <a:pt x="383381" y="129373"/>
                      <a:pt x="383381" y="83344"/>
                    </a:cubicBezTo>
                    <a:cubicBezTo>
                      <a:pt x="383381" y="37314"/>
                      <a:pt x="346067" y="0"/>
                      <a:pt x="300038" y="0"/>
                    </a:cubicBezTo>
                    <a:lnTo>
                      <a:pt x="100012" y="0"/>
                    </a:lnTo>
                    <a:cubicBezTo>
                      <a:pt x="90807" y="0"/>
                      <a:pt x="83344" y="7463"/>
                      <a:pt x="83344" y="16669"/>
                    </a:cubicBezTo>
                    <a:cubicBezTo>
                      <a:pt x="83344" y="25875"/>
                      <a:pt x="90807" y="33338"/>
                      <a:pt x="100012" y="33338"/>
                    </a:cubicBezTo>
                    <a:lnTo>
                      <a:pt x="300038" y="33338"/>
                    </a:lnTo>
                    <a:cubicBezTo>
                      <a:pt x="327655" y="33338"/>
                      <a:pt x="350044" y="55726"/>
                      <a:pt x="350044" y="83344"/>
                    </a:cubicBezTo>
                    <a:cubicBezTo>
                      <a:pt x="350044" y="110961"/>
                      <a:pt x="327655" y="133350"/>
                      <a:pt x="300038" y="133350"/>
                    </a:cubicBezTo>
                    <a:lnTo>
                      <a:pt x="100012" y="133350"/>
                    </a:lnTo>
                    <a:cubicBezTo>
                      <a:pt x="44777" y="133350"/>
                      <a:pt x="0" y="178127"/>
                      <a:pt x="0" y="233362"/>
                    </a:cubicBezTo>
                    <a:cubicBezTo>
                      <a:pt x="0" y="288598"/>
                      <a:pt x="44777" y="333375"/>
                      <a:pt x="100012" y="333375"/>
                    </a:cubicBezTo>
                    <a:lnTo>
                      <a:pt x="302121" y="333375"/>
                    </a:lnTo>
                    <a:cubicBezTo>
                      <a:pt x="310782" y="366920"/>
                      <a:pt x="343691" y="388242"/>
                      <a:pt x="377846" y="382439"/>
                    </a:cubicBezTo>
                    <a:cubicBezTo>
                      <a:pt x="412002" y="376637"/>
                      <a:pt x="436022" y="345642"/>
                      <a:pt x="433119" y="311119"/>
                    </a:cubicBezTo>
                    <a:cubicBezTo>
                      <a:pt x="430216" y="276596"/>
                      <a:pt x="401357" y="250049"/>
                      <a:pt x="366712" y="250031"/>
                    </a:cubicBezTo>
                    <a:close/>
                    <a:moveTo>
                      <a:pt x="366712" y="350044"/>
                    </a:moveTo>
                    <a:cubicBezTo>
                      <a:pt x="348301" y="350044"/>
                      <a:pt x="333375" y="335118"/>
                      <a:pt x="333375" y="316706"/>
                    </a:cubicBezTo>
                    <a:cubicBezTo>
                      <a:pt x="333375" y="298294"/>
                      <a:pt x="348301" y="283369"/>
                      <a:pt x="366712" y="283369"/>
                    </a:cubicBezTo>
                    <a:cubicBezTo>
                      <a:pt x="385124" y="283369"/>
                      <a:pt x="400050" y="298294"/>
                      <a:pt x="400050" y="316706"/>
                    </a:cubicBezTo>
                    <a:cubicBezTo>
                      <a:pt x="400050" y="335118"/>
                      <a:pt x="385124" y="350044"/>
                      <a:pt x="366712" y="35004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815584" y="33661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路径静态化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20156" y="39014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课程顺序固定，无法随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20156" y="42157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知识差距动态调整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292084" y="2190750"/>
            <a:ext cx="1961388" cy="2377059"/>
            <a:chOff x="8292084" y="2190750"/>
            <a:chExt cx="1961388" cy="2377059"/>
          </a:xfrm>
        </p:grpSpPr>
        <p:sp>
          <p:nvSpPr>
            <p:cNvPr id="34" name="Ellipse 34"/>
            <p:cNvSpPr/>
            <p:nvPr/>
          </p:nvSpPr>
          <p:spPr>
            <a:xfrm>
              <a:off x="8705850" y="2190750"/>
              <a:ext cx="1028700" cy="10287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003506" y="2521744"/>
              <a:ext cx="433388" cy="366712"/>
              <a:chOff x="9003506" y="2521744"/>
              <a:chExt cx="433388" cy="36671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020175" y="2538412"/>
                <a:ext cx="4000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3375">
                    <a:moveTo>
                      <a:pt x="400050" y="16669"/>
                    </a:moveTo>
                    <a:lnTo>
                      <a:pt x="400050" y="333375"/>
                    </a:lnTo>
                    <a:lnTo>
                      <a:pt x="0" y="333375"/>
                    </a:lnTo>
                    <a:lnTo>
                      <a:pt x="0" y="0"/>
                    </a:lnTo>
                    <a:lnTo>
                      <a:pt x="383381" y="0"/>
                    </a:lnTo>
                    <a:cubicBezTo>
                      <a:pt x="392587" y="0"/>
                      <a:pt x="400050" y="7463"/>
                      <a:pt x="400050" y="16669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003506" y="2521744"/>
                <a:ext cx="433388" cy="366712"/>
              </a:xfrm>
              <a:custGeom>
                <a:avLst/>
                <a:gdLst/>
                <a:ahLst/>
                <a:cxnLst/>
                <a:rect l="l" t="t" r="r" b="b"/>
                <a:pathLst>
                  <a:path w="433388" h="366712">
                    <a:moveTo>
                      <a:pt x="433388" y="350044"/>
                    </a:moveTo>
                    <a:cubicBezTo>
                      <a:pt x="433388" y="359250"/>
                      <a:pt x="425925" y="366712"/>
                      <a:pt x="416719" y="366712"/>
                    </a:cubicBezTo>
                    <a:lnTo>
                      <a:pt x="16669" y="366712"/>
                    </a:lnTo>
                    <a:cubicBezTo>
                      <a:pt x="7463" y="366712"/>
                      <a:pt x="0" y="359250"/>
                      <a:pt x="0" y="350044"/>
                    </a:cubicBez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ubicBezTo>
                      <a:pt x="25875" y="0"/>
                      <a:pt x="33338" y="7463"/>
                      <a:pt x="33338" y="16669"/>
                    </a:cubicBezTo>
                    <a:lnTo>
                      <a:pt x="33338" y="243135"/>
                    </a:lnTo>
                    <a:lnTo>
                      <a:pt x="138226" y="138226"/>
                    </a:lnTo>
                    <a:cubicBezTo>
                      <a:pt x="141352" y="135096"/>
                      <a:pt x="145595" y="133337"/>
                      <a:pt x="150019" y="133337"/>
                    </a:cubicBezTo>
                    <a:cubicBezTo>
                      <a:pt x="154443" y="133337"/>
                      <a:pt x="158685" y="135096"/>
                      <a:pt x="161812" y="138226"/>
                    </a:cubicBezTo>
                    <a:lnTo>
                      <a:pt x="216694" y="193128"/>
                    </a:lnTo>
                    <a:lnTo>
                      <a:pt x="326478" y="83344"/>
                    </a:lnTo>
                    <a:lnTo>
                      <a:pt x="283369" y="83344"/>
                    </a:lnTo>
                    <a:cubicBezTo>
                      <a:pt x="274163" y="83344"/>
                      <a:pt x="266700" y="75881"/>
                      <a:pt x="266700" y="66675"/>
                    </a:cubicBezTo>
                    <a:cubicBezTo>
                      <a:pt x="266700" y="57469"/>
                      <a:pt x="274163" y="50006"/>
                      <a:pt x="283369" y="50006"/>
                    </a:cubicBezTo>
                    <a:lnTo>
                      <a:pt x="366712" y="50006"/>
                    </a:lnTo>
                    <a:cubicBezTo>
                      <a:pt x="375918" y="50006"/>
                      <a:pt x="383381" y="57469"/>
                      <a:pt x="383381" y="66675"/>
                    </a:cubicBezTo>
                    <a:lnTo>
                      <a:pt x="383381" y="150019"/>
                    </a:lnTo>
                    <a:cubicBezTo>
                      <a:pt x="383381" y="159225"/>
                      <a:pt x="375918" y="166688"/>
                      <a:pt x="366712" y="166688"/>
                    </a:cubicBezTo>
                    <a:cubicBezTo>
                      <a:pt x="357507" y="166688"/>
                      <a:pt x="350044" y="159225"/>
                      <a:pt x="350044" y="150019"/>
                    </a:cubicBezTo>
                    <a:lnTo>
                      <a:pt x="350044" y="106909"/>
                    </a:lnTo>
                    <a:lnTo>
                      <a:pt x="228487" y="228487"/>
                    </a:lnTo>
                    <a:cubicBezTo>
                      <a:pt x="225360" y="231617"/>
                      <a:pt x="221118" y="233376"/>
                      <a:pt x="216694" y="233376"/>
                    </a:cubicBezTo>
                    <a:cubicBezTo>
                      <a:pt x="212270" y="233376"/>
                      <a:pt x="208027" y="231617"/>
                      <a:pt x="204901" y="228487"/>
                    </a:cubicBezTo>
                    <a:lnTo>
                      <a:pt x="150019" y="173584"/>
                    </a:lnTo>
                    <a:lnTo>
                      <a:pt x="33338" y="290265"/>
                    </a:lnTo>
                    <a:lnTo>
                      <a:pt x="33338" y="333375"/>
                    </a:lnTo>
                    <a:lnTo>
                      <a:pt x="416719" y="333375"/>
                    </a:lnTo>
                    <a:cubicBezTo>
                      <a:pt x="425925" y="333375"/>
                      <a:pt x="433388" y="340838"/>
                      <a:pt x="433388" y="3500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292084" y="33661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反馈不回流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96656" y="39014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练习结果没有驱动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96656" y="421576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下一次资源与策略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76300" y="5124450"/>
            <a:ext cx="10577817" cy="876300"/>
            <a:chOff x="876300" y="5124450"/>
            <a:chExt cx="10577817" cy="876300"/>
          </a:xfrm>
        </p:grpSpPr>
        <p:sp>
          <p:nvSpPr>
            <p:cNvPr id="42" name="Rectangle 42"/>
            <p:cNvSpPr/>
            <p:nvPr/>
          </p:nvSpPr>
          <p:spPr>
            <a:xfrm>
              <a:off x="876300" y="5124450"/>
              <a:ext cx="10248900" cy="876300"/>
            </a:xfrm>
            <a:prstGeom prst="roundRect">
              <a:avLst>
                <a:gd name="adj" fmla="val 1087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03960" y="5343525"/>
              <a:ext cx="102501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所以：必须把“人、内容、路径、评价”放进同一状态机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5" name="TextBox 45"/>
            <p:cNvSpPr txBox="1"/>
            <p:nvPr/>
          </p:nvSpPr>
          <p:spPr>
            <a:xfrm>
              <a:off x="526542" y="638841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问题定义 · 个性化学习的系统性断点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70510"/>
            <a:ext cx="8943213" cy="1101852"/>
            <a:chOff x="514350" y="270510"/>
            <a:chExt cx="8943213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70510"/>
              <a:ext cx="89432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把一次回答，升级为持续学习服务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9029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价值不只在生成内容，更在让三方共同获得可持续收益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1200150"/>
            <a:ext cx="12192000" cy="4819650"/>
            <a:chOff x="0" y="1200150"/>
            <a:chExt cx="12192000" cy="4819650"/>
          </a:xfrm>
        </p:grpSpPr>
        <p:sp>
          <p:nvSpPr>
            <p:cNvPr id="5" name="Rectangle 5"/>
            <p:cNvSpPr/>
            <p:nvPr/>
          </p:nvSpPr>
          <p:spPr>
            <a:xfrm>
              <a:off x="0" y="1200150"/>
              <a:ext cx="12192000" cy="4819650"/>
            </a:xfrm>
            <a:prstGeom prst="rect">
              <a:avLst/>
            </a:prstGeom>
            <a:gradFill>
              <a:gsLst>
                <a:gs pos="0">
                  <a:schemeClr val="accent3">
                    <a:alpha val="10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4114800" y="177165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8077200" y="177165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1034034" y="1562100"/>
            <a:ext cx="2199132" cy="3905250"/>
            <a:chOff x="1034034" y="1562100"/>
            <a:chExt cx="2199132" cy="3905250"/>
          </a:xfrm>
        </p:grpSpPr>
        <p:sp>
          <p:nvSpPr>
            <p:cNvPr id="9" name="Ellipse 9"/>
            <p:cNvSpPr/>
            <p:nvPr/>
          </p:nvSpPr>
          <p:spPr>
            <a:xfrm>
              <a:off x="1543050" y="15621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870471" y="1889174"/>
              <a:ext cx="526262" cy="508879"/>
              <a:chOff x="1870471" y="1889174"/>
              <a:chExt cx="526262" cy="50887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890712" y="1909762"/>
                <a:ext cx="4857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485775" h="161925">
                    <a:moveTo>
                      <a:pt x="485775" y="80962"/>
                    </a:moveTo>
                    <a:lnTo>
                      <a:pt x="242888" y="161925"/>
                    </a:lnTo>
                    <a:lnTo>
                      <a:pt x="0" y="80962"/>
                    </a:lnTo>
                    <a:lnTo>
                      <a:pt x="242888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870471" y="1889174"/>
                <a:ext cx="526262" cy="508879"/>
              </a:xfrm>
              <a:custGeom>
                <a:avLst/>
                <a:gdLst/>
                <a:ahLst/>
                <a:cxnLst/>
                <a:rect l="l" t="t" r="r" b="b"/>
                <a:pathLst>
                  <a:path w="526262" h="508879">
                    <a:moveTo>
                      <a:pt x="512418" y="82348"/>
                    </a:moveTo>
                    <a:lnTo>
                      <a:pt x="269530" y="1385"/>
                    </a:lnTo>
                    <a:cubicBezTo>
                      <a:pt x="265375" y="0"/>
                      <a:pt x="260883" y="0"/>
                      <a:pt x="256728" y="1385"/>
                    </a:cubicBezTo>
                    <a:lnTo>
                      <a:pt x="13840" y="82348"/>
                    </a:lnTo>
                    <a:cubicBezTo>
                      <a:pt x="6338" y="84878"/>
                      <a:pt x="1000" y="91551"/>
                      <a:pt x="178" y="99426"/>
                    </a:cubicBezTo>
                    <a:cubicBezTo>
                      <a:pt x="59" y="100128"/>
                      <a:pt x="0" y="100839"/>
                      <a:pt x="1" y="101551"/>
                    </a:cubicBezTo>
                    <a:lnTo>
                      <a:pt x="1" y="303957"/>
                    </a:lnTo>
                    <a:cubicBezTo>
                      <a:pt x="1" y="315136"/>
                      <a:pt x="9063" y="324198"/>
                      <a:pt x="20242" y="324198"/>
                    </a:cubicBezTo>
                    <a:cubicBezTo>
                      <a:pt x="31420" y="324198"/>
                      <a:pt x="40482" y="315136"/>
                      <a:pt x="40482" y="303957"/>
                    </a:cubicBezTo>
                    <a:lnTo>
                      <a:pt x="40482" y="129635"/>
                    </a:lnTo>
                    <a:lnTo>
                      <a:pt x="125467" y="157946"/>
                    </a:lnTo>
                    <a:cubicBezTo>
                      <a:pt x="78452" y="233903"/>
                      <a:pt x="101830" y="333586"/>
                      <a:pt x="177714" y="380720"/>
                    </a:cubicBezTo>
                    <a:cubicBezTo>
                      <a:pt x="132172" y="398582"/>
                      <a:pt x="92804" y="430891"/>
                      <a:pt x="64012" y="475066"/>
                    </a:cubicBezTo>
                    <a:cubicBezTo>
                      <a:pt x="59937" y="481123"/>
                      <a:pt x="59439" y="488905"/>
                      <a:pt x="62709" y="495432"/>
                    </a:cubicBezTo>
                    <a:cubicBezTo>
                      <a:pt x="65979" y="501959"/>
                      <a:pt x="72511" y="506219"/>
                      <a:pt x="79802" y="506581"/>
                    </a:cubicBezTo>
                    <a:cubicBezTo>
                      <a:pt x="87093" y="506943"/>
                      <a:pt x="94015" y="503350"/>
                      <a:pt x="97915" y="497179"/>
                    </a:cubicBezTo>
                    <a:cubicBezTo>
                      <a:pt x="136043" y="438684"/>
                      <a:pt x="196259" y="405160"/>
                      <a:pt x="263129" y="405160"/>
                    </a:cubicBezTo>
                    <a:cubicBezTo>
                      <a:pt x="329999" y="405160"/>
                      <a:pt x="390215" y="438684"/>
                      <a:pt x="428343" y="497179"/>
                    </a:cubicBezTo>
                    <a:cubicBezTo>
                      <a:pt x="434520" y="506360"/>
                      <a:pt x="446926" y="508879"/>
                      <a:pt x="456194" y="502833"/>
                    </a:cubicBezTo>
                    <a:cubicBezTo>
                      <a:pt x="465462" y="496788"/>
                      <a:pt x="468158" y="484420"/>
                      <a:pt x="462246" y="475066"/>
                    </a:cubicBezTo>
                    <a:cubicBezTo>
                      <a:pt x="433454" y="430891"/>
                      <a:pt x="393934" y="398582"/>
                      <a:pt x="348544" y="380720"/>
                    </a:cubicBezTo>
                    <a:cubicBezTo>
                      <a:pt x="424351" y="333591"/>
                      <a:pt x="447720" y="234003"/>
                      <a:pt x="400791" y="158073"/>
                    </a:cubicBezTo>
                    <a:lnTo>
                      <a:pt x="512418" y="120881"/>
                    </a:lnTo>
                    <a:cubicBezTo>
                      <a:pt x="520685" y="118127"/>
                      <a:pt x="526262" y="110391"/>
                      <a:pt x="526262" y="101677"/>
                    </a:cubicBezTo>
                    <a:cubicBezTo>
                      <a:pt x="526262" y="92964"/>
                      <a:pt x="520685" y="85228"/>
                      <a:pt x="512418" y="82474"/>
                    </a:cubicBezTo>
                    <a:close/>
                    <a:moveTo>
                      <a:pt x="384573" y="243235"/>
                    </a:moveTo>
                    <a:cubicBezTo>
                      <a:pt x="384588" y="295948"/>
                      <a:pt x="350596" y="342652"/>
                      <a:pt x="300431" y="358843"/>
                    </a:cubicBezTo>
                    <a:cubicBezTo>
                      <a:pt x="250266" y="375034"/>
                      <a:pt x="195384" y="357014"/>
                      <a:pt x="164580" y="314239"/>
                    </a:cubicBezTo>
                    <a:cubicBezTo>
                      <a:pt x="133775" y="271463"/>
                      <a:pt x="134083" y="213700"/>
                      <a:pt x="165341" y="171255"/>
                    </a:cubicBezTo>
                    <a:lnTo>
                      <a:pt x="256728" y="201615"/>
                    </a:lnTo>
                    <a:cubicBezTo>
                      <a:pt x="260883" y="203001"/>
                      <a:pt x="265375" y="203001"/>
                      <a:pt x="269530" y="201615"/>
                    </a:cubicBezTo>
                    <a:lnTo>
                      <a:pt x="360917" y="171255"/>
                    </a:lnTo>
                    <a:cubicBezTo>
                      <a:pt x="376294" y="192102"/>
                      <a:pt x="384585" y="217330"/>
                      <a:pt x="384573" y="243235"/>
                    </a:cubicBezTo>
                    <a:close/>
                    <a:moveTo>
                      <a:pt x="263129" y="161185"/>
                    </a:moveTo>
                    <a:lnTo>
                      <a:pt x="84252" y="101551"/>
                    </a:lnTo>
                    <a:lnTo>
                      <a:pt x="263129" y="41917"/>
                    </a:lnTo>
                    <a:lnTo>
                      <a:pt x="442006" y="10155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694307" y="2838450"/>
              <a:ext cx="87858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学生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42923" y="33794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少走弯路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55192" y="39014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资源匹配当前差距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4034" y="42348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路径随学习结果更新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7750" y="4914900"/>
              <a:ext cx="2171700" cy="55245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61161" y="5082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体验：更懂我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54118" y="1562100"/>
            <a:ext cx="2683764" cy="3905250"/>
            <a:chOff x="4754118" y="1562100"/>
            <a:chExt cx="2683764" cy="3905250"/>
          </a:xfrm>
        </p:grpSpPr>
        <p:sp>
          <p:nvSpPr>
            <p:cNvPr id="20" name="Ellipse 20"/>
            <p:cNvSpPr/>
            <p:nvPr/>
          </p:nvSpPr>
          <p:spPr>
            <a:xfrm>
              <a:off x="5505450" y="15621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5772156" y="1888734"/>
              <a:ext cx="647687" cy="567526"/>
              <a:chOff x="5772156" y="1888734"/>
              <a:chExt cx="647687" cy="5675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873342" y="2114876"/>
                <a:ext cx="445317" cy="240180"/>
              </a:xfrm>
              <a:custGeom>
                <a:avLst/>
                <a:gdLst/>
                <a:ahLst/>
                <a:cxnLst/>
                <a:rect l="l" t="t" r="r" b="b"/>
                <a:pathLst>
                  <a:path w="445317" h="240180">
                    <a:moveTo>
                      <a:pt x="445305" y="0"/>
                    </a:moveTo>
                    <a:lnTo>
                      <a:pt x="445305" y="134651"/>
                    </a:lnTo>
                    <a:cubicBezTo>
                      <a:pt x="445317" y="139597"/>
                      <a:pt x="443517" y="144376"/>
                      <a:pt x="440245" y="148085"/>
                    </a:cubicBezTo>
                    <a:cubicBezTo>
                      <a:pt x="411655" y="179939"/>
                      <a:pt x="341825" y="240180"/>
                      <a:pt x="222658" y="240180"/>
                    </a:cubicBezTo>
                    <a:cubicBezTo>
                      <a:pt x="103492" y="240180"/>
                      <a:pt x="33712" y="179939"/>
                      <a:pt x="5072" y="148085"/>
                    </a:cubicBezTo>
                    <a:cubicBezTo>
                      <a:pt x="1800" y="144376"/>
                      <a:pt x="0" y="139597"/>
                      <a:pt x="11" y="134651"/>
                    </a:cubicBezTo>
                    <a:lnTo>
                      <a:pt x="11" y="0"/>
                    </a:lnTo>
                    <a:lnTo>
                      <a:pt x="222658" y="118737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772156" y="1888734"/>
                <a:ext cx="647687" cy="567526"/>
              </a:xfrm>
              <a:custGeom>
                <a:avLst/>
                <a:gdLst/>
                <a:ahLst/>
                <a:cxnLst/>
                <a:rect l="l" t="t" r="r" b="b"/>
                <a:pathLst>
                  <a:path w="647687" h="567526">
                    <a:moveTo>
                      <a:pt x="636966" y="165092"/>
                    </a:moveTo>
                    <a:lnTo>
                      <a:pt x="333357" y="3167"/>
                    </a:lnTo>
                    <a:cubicBezTo>
                      <a:pt x="327410" y="0"/>
                      <a:pt x="320277" y="0"/>
                      <a:pt x="314331" y="3167"/>
                    </a:cubicBezTo>
                    <a:lnTo>
                      <a:pt x="10721" y="165092"/>
                    </a:lnTo>
                    <a:cubicBezTo>
                      <a:pt x="4122" y="168608"/>
                      <a:pt x="0" y="175477"/>
                      <a:pt x="0" y="182954"/>
                    </a:cubicBezTo>
                    <a:cubicBezTo>
                      <a:pt x="0" y="190431"/>
                      <a:pt x="4122" y="197300"/>
                      <a:pt x="10721" y="200816"/>
                    </a:cubicBezTo>
                    <a:lnTo>
                      <a:pt x="80956" y="238287"/>
                    </a:lnTo>
                    <a:lnTo>
                      <a:pt x="80956" y="360793"/>
                    </a:lnTo>
                    <a:cubicBezTo>
                      <a:pt x="80935" y="370735"/>
                      <a:pt x="84594" y="380333"/>
                      <a:pt x="91228" y="387738"/>
                    </a:cubicBezTo>
                    <a:cubicBezTo>
                      <a:pt x="124372" y="424652"/>
                      <a:pt x="198630" y="486563"/>
                      <a:pt x="323844" y="486563"/>
                    </a:cubicBezTo>
                    <a:cubicBezTo>
                      <a:pt x="365361" y="486907"/>
                      <a:pt x="406568" y="479386"/>
                      <a:pt x="445287" y="464400"/>
                    </a:cubicBezTo>
                    <a:lnTo>
                      <a:pt x="445287" y="547285"/>
                    </a:lnTo>
                    <a:cubicBezTo>
                      <a:pt x="445287" y="558464"/>
                      <a:pt x="454349" y="567526"/>
                      <a:pt x="465528" y="567526"/>
                    </a:cubicBezTo>
                    <a:cubicBezTo>
                      <a:pt x="476707" y="567526"/>
                      <a:pt x="485769" y="558464"/>
                      <a:pt x="485769" y="547285"/>
                    </a:cubicBezTo>
                    <a:lnTo>
                      <a:pt x="485769" y="444842"/>
                    </a:lnTo>
                    <a:cubicBezTo>
                      <a:pt x="512163" y="429606"/>
                      <a:pt x="536014" y="410339"/>
                      <a:pt x="556459" y="387738"/>
                    </a:cubicBezTo>
                    <a:cubicBezTo>
                      <a:pt x="563093" y="380333"/>
                      <a:pt x="566752" y="370735"/>
                      <a:pt x="566731" y="360793"/>
                    </a:cubicBezTo>
                    <a:lnTo>
                      <a:pt x="566731" y="238287"/>
                    </a:lnTo>
                    <a:lnTo>
                      <a:pt x="636966" y="200816"/>
                    </a:lnTo>
                    <a:cubicBezTo>
                      <a:pt x="643565" y="197300"/>
                      <a:pt x="647687" y="190431"/>
                      <a:pt x="647687" y="182954"/>
                    </a:cubicBezTo>
                    <a:cubicBezTo>
                      <a:pt x="647687" y="175477"/>
                      <a:pt x="643565" y="168608"/>
                      <a:pt x="636966" y="165092"/>
                    </a:cubicBezTo>
                    <a:close/>
                    <a:moveTo>
                      <a:pt x="323844" y="446082"/>
                    </a:moveTo>
                    <a:cubicBezTo>
                      <a:pt x="214367" y="446082"/>
                      <a:pt x="149977" y="392596"/>
                      <a:pt x="121437" y="360793"/>
                    </a:cubicBezTo>
                    <a:lnTo>
                      <a:pt x="121437" y="259868"/>
                    </a:lnTo>
                    <a:lnTo>
                      <a:pt x="314331" y="362741"/>
                    </a:lnTo>
                    <a:cubicBezTo>
                      <a:pt x="320277" y="365908"/>
                      <a:pt x="327410" y="365908"/>
                      <a:pt x="333357" y="362741"/>
                    </a:cubicBezTo>
                    <a:lnTo>
                      <a:pt x="445287" y="303057"/>
                    </a:lnTo>
                    <a:lnTo>
                      <a:pt x="445287" y="420301"/>
                    </a:lnTo>
                    <a:cubicBezTo>
                      <a:pt x="413408" y="435177"/>
                      <a:pt x="373231" y="446082"/>
                      <a:pt x="323844" y="446082"/>
                    </a:cubicBezTo>
                    <a:close/>
                    <a:moveTo>
                      <a:pt x="526250" y="360692"/>
                    </a:moveTo>
                    <a:cubicBezTo>
                      <a:pt x="514117" y="374156"/>
                      <a:pt x="500542" y="386246"/>
                      <a:pt x="485769" y="396745"/>
                    </a:cubicBezTo>
                    <a:lnTo>
                      <a:pt x="485769" y="281450"/>
                    </a:lnTo>
                    <a:lnTo>
                      <a:pt x="526250" y="259868"/>
                    </a:lnTo>
                    <a:close/>
                    <a:moveTo>
                      <a:pt x="475648" y="240994"/>
                    </a:moveTo>
                    <a:lnTo>
                      <a:pt x="475092" y="240665"/>
                    </a:lnTo>
                    <a:lnTo>
                      <a:pt x="333407" y="165092"/>
                    </a:lnTo>
                    <a:cubicBezTo>
                      <a:pt x="323573" y="160068"/>
                      <a:pt x="311527" y="163855"/>
                      <a:pt x="306335" y="173602"/>
                    </a:cubicBezTo>
                    <a:cubicBezTo>
                      <a:pt x="301144" y="183350"/>
                      <a:pt x="304724" y="195459"/>
                      <a:pt x="314381" y="200816"/>
                    </a:cubicBezTo>
                    <a:lnTo>
                      <a:pt x="432637" y="263916"/>
                    </a:lnTo>
                    <a:lnTo>
                      <a:pt x="323844" y="321931"/>
                    </a:lnTo>
                    <a:lnTo>
                      <a:pt x="63246" y="182954"/>
                    </a:lnTo>
                    <a:lnTo>
                      <a:pt x="323844" y="43977"/>
                    </a:lnTo>
                    <a:lnTo>
                      <a:pt x="584442" y="18295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656707" y="2838450"/>
              <a:ext cx="87858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教师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066081" y="3379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降低重复劳动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96434" y="39014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自动生成多模态资源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54118" y="423481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快速定位共性与个体问题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010150" y="4914900"/>
              <a:ext cx="2171700" cy="55245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23561" y="5082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效率：更省时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95360" y="1562100"/>
            <a:ext cx="2926080" cy="3905250"/>
            <a:chOff x="8595360" y="1562100"/>
            <a:chExt cx="2926080" cy="3905250"/>
          </a:xfrm>
        </p:grpSpPr>
        <p:sp>
          <p:nvSpPr>
            <p:cNvPr id="31" name="Ellipse 31"/>
            <p:cNvSpPr/>
            <p:nvPr/>
          </p:nvSpPr>
          <p:spPr>
            <a:xfrm>
              <a:off x="9467850" y="156210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815512" y="1889522"/>
              <a:ext cx="485775" cy="526256"/>
              <a:chOff x="9815512" y="1889522"/>
              <a:chExt cx="485775" cy="52625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835753" y="1909762"/>
                <a:ext cx="445294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45294" h="242888">
                    <a:moveTo>
                      <a:pt x="445294" y="121444"/>
                    </a:moveTo>
                    <a:cubicBezTo>
                      <a:pt x="445294" y="188516"/>
                      <a:pt x="345609" y="242888"/>
                      <a:pt x="222647" y="242888"/>
                    </a:cubicBezTo>
                    <a:cubicBezTo>
                      <a:pt x="99685" y="242888"/>
                      <a:pt x="0" y="188516"/>
                      <a:pt x="0" y="121444"/>
                    </a:cubicBezTo>
                    <a:cubicBezTo>
                      <a:pt x="0" y="54371"/>
                      <a:pt x="99685" y="0"/>
                      <a:pt x="222647" y="0"/>
                    </a:cubicBezTo>
                    <a:cubicBezTo>
                      <a:pt x="345609" y="0"/>
                      <a:pt x="445294" y="54371"/>
                      <a:pt x="445294" y="121444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815512" y="1889522"/>
                <a:ext cx="485775" cy="526256"/>
              </a:xfrm>
              <a:custGeom>
                <a:avLst/>
                <a:gdLst/>
                <a:ahLst/>
                <a:cxnLst/>
                <a:rect l="l" t="t" r="r" b="b"/>
                <a:pathLst>
                  <a:path w="485775" h="526256">
                    <a:moveTo>
                      <a:pt x="242888" y="0"/>
                    </a:moveTo>
                    <a:cubicBezTo>
                      <a:pt x="106693" y="0"/>
                      <a:pt x="0" y="62240"/>
                      <a:pt x="0" y="141684"/>
                    </a:cubicBezTo>
                    <a:lnTo>
                      <a:pt x="0" y="384572"/>
                    </a:lnTo>
                    <a:cubicBezTo>
                      <a:pt x="0" y="464016"/>
                      <a:pt x="106693" y="526256"/>
                      <a:pt x="242888" y="526256"/>
                    </a:cubicBezTo>
                    <a:cubicBezTo>
                      <a:pt x="379082" y="526256"/>
                      <a:pt x="485775" y="464016"/>
                      <a:pt x="485775" y="384572"/>
                    </a:cubicBezTo>
                    <a:lnTo>
                      <a:pt x="485775" y="141684"/>
                    </a:lnTo>
                    <a:cubicBezTo>
                      <a:pt x="485775" y="62240"/>
                      <a:pt x="379082" y="0"/>
                      <a:pt x="242888" y="0"/>
                    </a:cubicBezTo>
                    <a:close/>
                    <a:moveTo>
                      <a:pt x="445294" y="263128"/>
                    </a:moveTo>
                    <a:cubicBezTo>
                      <a:pt x="445294" y="287467"/>
                      <a:pt x="425357" y="312288"/>
                      <a:pt x="390619" y="331238"/>
                    </a:cubicBezTo>
                    <a:cubicBezTo>
                      <a:pt x="351504" y="352566"/>
                      <a:pt x="299030" y="364331"/>
                      <a:pt x="242888" y="364331"/>
                    </a:cubicBezTo>
                    <a:cubicBezTo>
                      <a:pt x="186745" y="364331"/>
                      <a:pt x="134271" y="352566"/>
                      <a:pt x="95156" y="331238"/>
                    </a:cubicBezTo>
                    <a:cubicBezTo>
                      <a:pt x="60418" y="312288"/>
                      <a:pt x="40481" y="287467"/>
                      <a:pt x="40481" y="263128"/>
                    </a:cubicBezTo>
                    <a:lnTo>
                      <a:pt x="40481" y="221028"/>
                    </a:lnTo>
                    <a:cubicBezTo>
                      <a:pt x="83644" y="258979"/>
                      <a:pt x="157447" y="283369"/>
                      <a:pt x="242888" y="283369"/>
                    </a:cubicBezTo>
                    <a:cubicBezTo>
                      <a:pt x="328328" y="283369"/>
                      <a:pt x="402131" y="258878"/>
                      <a:pt x="445294" y="221028"/>
                    </a:cubicBezTo>
                    <a:close/>
                    <a:moveTo>
                      <a:pt x="95156" y="73575"/>
                    </a:moveTo>
                    <a:cubicBezTo>
                      <a:pt x="134271" y="52246"/>
                      <a:pt x="186745" y="40481"/>
                      <a:pt x="242888" y="40481"/>
                    </a:cubicBezTo>
                    <a:cubicBezTo>
                      <a:pt x="299030" y="40481"/>
                      <a:pt x="351504" y="52246"/>
                      <a:pt x="390619" y="73575"/>
                    </a:cubicBezTo>
                    <a:cubicBezTo>
                      <a:pt x="425357" y="92525"/>
                      <a:pt x="445294" y="117345"/>
                      <a:pt x="445294" y="141684"/>
                    </a:cubicBezTo>
                    <a:cubicBezTo>
                      <a:pt x="445294" y="166024"/>
                      <a:pt x="425357" y="190844"/>
                      <a:pt x="390619" y="209794"/>
                    </a:cubicBezTo>
                    <a:cubicBezTo>
                      <a:pt x="351504" y="231123"/>
                      <a:pt x="299030" y="242888"/>
                      <a:pt x="242888" y="242888"/>
                    </a:cubicBezTo>
                    <a:cubicBezTo>
                      <a:pt x="186745" y="242888"/>
                      <a:pt x="134271" y="231123"/>
                      <a:pt x="95156" y="209794"/>
                    </a:cubicBezTo>
                    <a:cubicBezTo>
                      <a:pt x="60418" y="190844"/>
                      <a:pt x="40481" y="166024"/>
                      <a:pt x="40481" y="141684"/>
                    </a:cubicBezTo>
                    <a:cubicBezTo>
                      <a:pt x="40481" y="117345"/>
                      <a:pt x="60418" y="92525"/>
                      <a:pt x="95156" y="73575"/>
                    </a:cubicBezTo>
                    <a:close/>
                    <a:moveTo>
                      <a:pt x="390619" y="452682"/>
                    </a:moveTo>
                    <a:cubicBezTo>
                      <a:pt x="351504" y="474010"/>
                      <a:pt x="299030" y="485775"/>
                      <a:pt x="242888" y="485775"/>
                    </a:cubicBezTo>
                    <a:cubicBezTo>
                      <a:pt x="186745" y="485775"/>
                      <a:pt x="134271" y="474010"/>
                      <a:pt x="95156" y="452682"/>
                    </a:cubicBezTo>
                    <a:cubicBezTo>
                      <a:pt x="60418" y="433731"/>
                      <a:pt x="40481" y="408911"/>
                      <a:pt x="40481" y="384572"/>
                    </a:cubicBezTo>
                    <a:lnTo>
                      <a:pt x="40481" y="342471"/>
                    </a:lnTo>
                    <a:cubicBezTo>
                      <a:pt x="83644" y="380423"/>
                      <a:pt x="157447" y="404812"/>
                      <a:pt x="242888" y="404812"/>
                    </a:cubicBezTo>
                    <a:cubicBezTo>
                      <a:pt x="328328" y="404812"/>
                      <a:pt x="402131" y="380321"/>
                      <a:pt x="445294" y="342471"/>
                    </a:cubicBezTo>
                    <a:lnTo>
                      <a:pt x="445294" y="384572"/>
                    </a:lnTo>
                    <a:cubicBezTo>
                      <a:pt x="445294" y="408911"/>
                      <a:pt x="425357" y="433731"/>
                      <a:pt x="390619" y="45268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619107" y="2838450"/>
              <a:ext cx="87858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平台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58860" y="337947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沉淀可解释资产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95360" y="39014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画像、知识图谱与任务轨迹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79992" y="42348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持续提升推荐质量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72550" y="4914900"/>
              <a:ext cx="2171700" cy="55245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5961" y="5082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资产：可复用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2" name="TextBox 42"/>
            <p:cNvSpPr txBox="1"/>
            <p:nvPr/>
          </p:nvSpPr>
          <p:spPr>
            <a:xfrm>
              <a:off x="526542" y="6388418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应用价值 · 学生 / 教师 / 平台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04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70510"/>
            <a:ext cx="10932022" cy="1101852"/>
            <a:chOff x="514350" y="270510"/>
            <a:chExt cx="10932022" cy="110185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70510"/>
              <a:ext cx="1093202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80% 的分数，取决于“做出来”与“有新意”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9029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后续页面按评分项组织证据，而不是按技术栈罗列名词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676400"/>
            <a:ext cx="2571750" cy="3562350"/>
            <a:chOff x="533400" y="1676400"/>
            <a:chExt cx="2571750" cy="3562350"/>
          </a:xfrm>
        </p:grpSpPr>
        <p:sp>
          <p:nvSpPr>
            <p:cNvPr id="5" name="Rectangle 5"/>
            <p:cNvSpPr/>
            <p:nvPr/>
          </p:nvSpPr>
          <p:spPr>
            <a:xfrm>
              <a:off x="533400" y="1676400"/>
              <a:ext cx="2571750" cy="356235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676400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0006" y="2072640"/>
              <a:ext cx="2088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FUNCTION &amp; TECH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0100" y="2625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45%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6958" y="33794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功能与技术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006" y="3901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核心功能完整性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006" y="4225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系统实现与体验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366962" y="4652962"/>
              <a:ext cx="371475" cy="371475"/>
              <a:chOff x="2366962" y="4652962"/>
              <a:chExt cx="371475" cy="37147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381250" y="466725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342900" y="171450"/>
                    </a:moveTo>
                    <a:cubicBezTo>
                      <a:pt x="342900" y="266139"/>
                      <a:pt x="266139" y="342900"/>
                      <a:pt x="171450" y="342900"/>
                    </a:cubicBezTo>
                    <a:cubicBezTo>
                      <a:pt x="76761" y="342900"/>
                      <a:pt x="0" y="266139"/>
                      <a:pt x="0" y="171450"/>
                    </a:cubicBezTo>
                    <a:cubicBezTo>
                      <a:pt x="0" y="76761"/>
                      <a:pt x="76761" y="0"/>
                      <a:pt x="171450" y="0"/>
                    </a:cubicBezTo>
                    <a:cubicBezTo>
                      <a:pt x="266139" y="0"/>
                      <a:pt x="342900" y="76761"/>
                      <a:pt x="342900" y="171450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366962" y="4652962"/>
                <a:ext cx="371475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71475">
                    <a:moveTo>
                      <a:pt x="267283" y="132767"/>
                    </a:moveTo>
                    <a:cubicBezTo>
                      <a:pt x="269966" y="135446"/>
                      <a:pt x="271474" y="139083"/>
                      <a:pt x="271474" y="142875"/>
                    </a:cubicBezTo>
                    <a:cubicBezTo>
                      <a:pt x="271474" y="146667"/>
                      <a:pt x="269966" y="150304"/>
                      <a:pt x="267283" y="152983"/>
                    </a:cubicBezTo>
                    <a:lnTo>
                      <a:pt x="167271" y="252996"/>
                    </a:lnTo>
                    <a:cubicBezTo>
                      <a:pt x="164591" y="255679"/>
                      <a:pt x="160955" y="257186"/>
                      <a:pt x="157162" y="257186"/>
                    </a:cubicBezTo>
                    <a:cubicBezTo>
                      <a:pt x="153370" y="257186"/>
                      <a:pt x="149734" y="255679"/>
                      <a:pt x="147054" y="252996"/>
                    </a:cubicBezTo>
                    <a:lnTo>
                      <a:pt x="104192" y="210133"/>
                    </a:lnTo>
                    <a:cubicBezTo>
                      <a:pt x="98609" y="204551"/>
                      <a:pt x="98609" y="195499"/>
                      <a:pt x="104192" y="189917"/>
                    </a:cubicBezTo>
                    <a:cubicBezTo>
                      <a:pt x="109774" y="184334"/>
                      <a:pt x="118826" y="184334"/>
                      <a:pt x="124408" y="189917"/>
                    </a:cubicBezTo>
                    <a:lnTo>
                      <a:pt x="157162" y="222689"/>
                    </a:lnTo>
                    <a:lnTo>
                      <a:pt x="247067" y="132767"/>
                    </a:lnTo>
                    <a:cubicBezTo>
                      <a:pt x="249746" y="130084"/>
                      <a:pt x="253383" y="128576"/>
                      <a:pt x="257175" y="128576"/>
                    </a:cubicBezTo>
                    <a:cubicBezTo>
                      <a:pt x="260967" y="128576"/>
                      <a:pt x="264604" y="130084"/>
                      <a:pt x="267283" y="132767"/>
                    </a:cubicBezTo>
                    <a:close/>
                    <a:moveTo>
                      <a:pt x="371475" y="185738"/>
                    </a:moveTo>
                    <a:cubicBezTo>
                      <a:pt x="371475" y="288317"/>
                      <a:pt x="288317" y="371475"/>
                      <a:pt x="185738" y="371475"/>
                    </a:cubicBezTo>
                    <a:cubicBezTo>
                      <a:pt x="83158" y="371475"/>
                      <a:pt x="0" y="288317"/>
                      <a:pt x="0" y="185738"/>
                    </a:cubicBezTo>
                    <a:cubicBezTo>
                      <a:pt x="0" y="83158"/>
                      <a:pt x="83158" y="0"/>
                      <a:pt x="185738" y="0"/>
                    </a:cubicBezTo>
                    <a:cubicBezTo>
                      <a:pt x="288273" y="108"/>
                      <a:pt x="371367" y="83202"/>
                      <a:pt x="371475" y="185738"/>
                    </a:cubicBezTo>
                    <a:close/>
                    <a:moveTo>
                      <a:pt x="342900" y="185738"/>
                    </a:moveTo>
                    <a:cubicBezTo>
                      <a:pt x="342900" y="98939"/>
                      <a:pt x="272536" y="28575"/>
                      <a:pt x="185738" y="28575"/>
                    </a:cubicBezTo>
                    <a:cubicBezTo>
                      <a:pt x="98939" y="28575"/>
                      <a:pt x="28575" y="98939"/>
                      <a:pt x="28575" y="185738"/>
                    </a:cubicBezTo>
                    <a:cubicBezTo>
                      <a:pt x="28575" y="272536"/>
                      <a:pt x="98939" y="342900"/>
                      <a:pt x="185738" y="342900"/>
                    </a:cubicBezTo>
                    <a:cubicBezTo>
                      <a:pt x="272495" y="342802"/>
                      <a:pt x="342802" y="272495"/>
                      <a:pt x="342900" y="18573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</p:grpSp>
      <p:grpSp>
        <p:nvGrpSpPr>
          <p:cNvPr id="26" name="Group 26"/>
          <p:cNvGrpSpPr/>
          <p:nvPr/>
        </p:nvGrpSpPr>
        <p:grpSpPr>
          <a:xfrm>
            <a:off x="3390900" y="1676400"/>
            <a:ext cx="2571750" cy="3562350"/>
            <a:chOff x="3390900" y="1676400"/>
            <a:chExt cx="2571750" cy="3562350"/>
          </a:xfrm>
        </p:grpSpPr>
        <p:sp>
          <p:nvSpPr>
            <p:cNvPr id="16" name="Rectangle 16"/>
            <p:cNvSpPr/>
            <p:nvPr/>
          </p:nvSpPr>
          <p:spPr>
            <a:xfrm>
              <a:off x="3390900" y="1676400"/>
              <a:ext cx="2571750" cy="356235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90900" y="1676400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667506" y="2072640"/>
              <a:ext cx="14699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INNOVATION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57600" y="2625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35%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64458" y="337947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创新与实用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67506" y="3901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多智能体融合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67506" y="4225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教育场景可落地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5210174" y="4624388"/>
              <a:ext cx="414339" cy="414410"/>
              <a:chOff x="5210174" y="4624388"/>
              <a:chExt cx="414339" cy="41441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224610" y="4710188"/>
                <a:ext cx="314173" cy="314173"/>
              </a:xfrm>
              <a:custGeom>
                <a:avLst/>
                <a:gdLst/>
                <a:ahLst/>
                <a:cxnLst/>
                <a:rect l="l" t="t" r="r" b="b"/>
                <a:pathLst>
                  <a:path w="314173" h="314173">
                    <a:moveTo>
                      <a:pt x="304926" y="170356"/>
                    </a:moveTo>
                    <a:lnTo>
                      <a:pt x="212665" y="204289"/>
                    </a:lnTo>
                    <a:cubicBezTo>
                      <a:pt x="208777" y="205713"/>
                      <a:pt x="205713" y="208777"/>
                      <a:pt x="204289" y="212665"/>
                    </a:cubicBezTo>
                    <a:lnTo>
                      <a:pt x="170356" y="304926"/>
                    </a:lnTo>
                    <a:cubicBezTo>
                      <a:pt x="168305" y="310483"/>
                      <a:pt x="163009" y="314173"/>
                      <a:pt x="157087" y="314173"/>
                    </a:cubicBezTo>
                    <a:cubicBezTo>
                      <a:pt x="151164" y="314173"/>
                      <a:pt x="145868" y="310483"/>
                      <a:pt x="143817" y="304926"/>
                    </a:cubicBezTo>
                    <a:lnTo>
                      <a:pt x="109884" y="212665"/>
                    </a:lnTo>
                    <a:cubicBezTo>
                      <a:pt x="108460" y="208777"/>
                      <a:pt x="105396" y="205713"/>
                      <a:pt x="101508" y="204289"/>
                    </a:cubicBezTo>
                    <a:lnTo>
                      <a:pt x="9247" y="170356"/>
                    </a:lnTo>
                    <a:cubicBezTo>
                      <a:pt x="3690" y="168305"/>
                      <a:pt x="0" y="163009"/>
                      <a:pt x="0" y="157087"/>
                    </a:cubicBezTo>
                    <a:cubicBezTo>
                      <a:pt x="0" y="151164"/>
                      <a:pt x="3690" y="145868"/>
                      <a:pt x="9247" y="143817"/>
                    </a:cubicBezTo>
                    <a:lnTo>
                      <a:pt x="101508" y="109884"/>
                    </a:lnTo>
                    <a:cubicBezTo>
                      <a:pt x="105396" y="108460"/>
                      <a:pt x="108460" y="105396"/>
                      <a:pt x="109884" y="101508"/>
                    </a:cubicBezTo>
                    <a:lnTo>
                      <a:pt x="143817" y="9247"/>
                    </a:lnTo>
                    <a:cubicBezTo>
                      <a:pt x="145868" y="3690"/>
                      <a:pt x="151164" y="0"/>
                      <a:pt x="157087" y="0"/>
                    </a:cubicBezTo>
                    <a:cubicBezTo>
                      <a:pt x="163009" y="0"/>
                      <a:pt x="168305" y="3690"/>
                      <a:pt x="170356" y="9247"/>
                    </a:cubicBezTo>
                    <a:lnTo>
                      <a:pt x="204289" y="101508"/>
                    </a:lnTo>
                    <a:cubicBezTo>
                      <a:pt x="205713" y="105396"/>
                      <a:pt x="208777" y="108460"/>
                      <a:pt x="212665" y="109884"/>
                    </a:cubicBezTo>
                    <a:lnTo>
                      <a:pt x="304926" y="143817"/>
                    </a:lnTo>
                    <a:cubicBezTo>
                      <a:pt x="310483" y="145868"/>
                      <a:pt x="314173" y="151164"/>
                      <a:pt x="314173" y="157087"/>
                    </a:cubicBezTo>
                    <a:cubicBezTo>
                      <a:pt x="314173" y="163009"/>
                      <a:pt x="310483" y="168305"/>
                      <a:pt x="304926" y="17035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210174" y="4624388"/>
                <a:ext cx="414339" cy="414410"/>
              </a:xfrm>
              <a:custGeom>
                <a:avLst/>
                <a:gdLst/>
                <a:ahLst/>
                <a:cxnLst/>
                <a:rect l="l" t="t" r="r" b="b"/>
                <a:pathLst>
                  <a:path w="414339" h="414410">
                    <a:moveTo>
                      <a:pt x="324292" y="216206"/>
                    </a:moveTo>
                    <a:lnTo>
                      <a:pt x="232119" y="182273"/>
                    </a:lnTo>
                    <a:lnTo>
                      <a:pt x="198187" y="90029"/>
                    </a:lnTo>
                    <a:cubicBezTo>
                      <a:pt x="194071" y="78848"/>
                      <a:pt x="183420" y="71418"/>
                      <a:pt x="171505" y="71418"/>
                    </a:cubicBezTo>
                    <a:cubicBezTo>
                      <a:pt x="159590" y="71418"/>
                      <a:pt x="148939" y="78848"/>
                      <a:pt x="144823" y="90029"/>
                    </a:cubicBezTo>
                    <a:lnTo>
                      <a:pt x="110854" y="182166"/>
                    </a:lnTo>
                    <a:lnTo>
                      <a:pt x="18611" y="216098"/>
                    </a:lnTo>
                    <a:cubicBezTo>
                      <a:pt x="7429" y="220214"/>
                      <a:pt x="0" y="230865"/>
                      <a:pt x="0" y="242780"/>
                    </a:cubicBezTo>
                    <a:cubicBezTo>
                      <a:pt x="0" y="254695"/>
                      <a:pt x="7429" y="265346"/>
                      <a:pt x="18611" y="269462"/>
                    </a:cubicBezTo>
                    <a:lnTo>
                      <a:pt x="110729" y="303609"/>
                    </a:lnTo>
                    <a:lnTo>
                      <a:pt x="144662" y="395799"/>
                    </a:lnTo>
                    <a:cubicBezTo>
                      <a:pt x="148778" y="406981"/>
                      <a:pt x="159429" y="414410"/>
                      <a:pt x="171344" y="414410"/>
                    </a:cubicBezTo>
                    <a:cubicBezTo>
                      <a:pt x="183259" y="414410"/>
                      <a:pt x="193910" y="406981"/>
                      <a:pt x="198026" y="395799"/>
                    </a:cubicBezTo>
                    <a:lnTo>
                      <a:pt x="231959" y="303627"/>
                    </a:lnTo>
                    <a:lnTo>
                      <a:pt x="324202" y="269694"/>
                    </a:lnTo>
                    <a:cubicBezTo>
                      <a:pt x="335384" y="265579"/>
                      <a:pt x="342813" y="254927"/>
                      <a:pt x="342813" y="243013"/>
                    </a:cubicBezTo>
                    <a:cubicBezTo>
                      <a:pt x="342813" y="231098"/>
                      <a:pt x="335384" y="220446"/>
                      <a:pt x="324202" y="216331"/>
                    </a:cubicBezTo>
                    <a:close/>
                    <a:moveTo>
                      <a:pt x="222154" y="276820"/>
                    </a:moveTo>
                    <a:cubicBezTo>
                      <a:pt x="214339" y="279689"/>
                      <a:pt x="208181" y="285847"/>
                      <a:pt x="205313" y="293662"/>
                    </a:cubicBezTo>
                    <a:lnTo>
                      <a:pt x="171380" y="385566"/>
                    </a:lnTo>
                    <a:lnTo>
                      <a:pt x="137518" y="293590"/>
                    </a:lnTo>
                    <a:cubicBezTo>
                      <a:pt x="134648" y="285818"/>
                      <a:pt x="128521" y="279690"/>
                      <a:pt x="120748" y="276820"/>
                    </a:cubicBezTo>
                    <a:lnTo>
                      <a:pt x="120748" y="276820"/>
                    </a:lnTo>
                    <a:lnTo>
                      <a:pt x="28844" y="242888"/>
                    </a:lnTo>
                    <a:lnTo>
                      <a:pt x="120748" y="208955"/>
                    </a:lnTo>
                    <a:cubicBezTo>
                      <a:pt x="128521" y="206085"/>
                      <a:pt x="134648" y="199957"/>
                      <a:pt x="137518" y="192185"/>
                    </a:cubicBezTo>
                    <a:lnTo>
                      <a:pt x="171451" y="100280"/>
                    </a:lnTo>
                    <a:lnTo>
                      <a:pt x="205384" y="192185"/>
                    </a:lnTo>
                    <a:cubicBezTo>
                      <a:pt x="208252" y="199999"/>
                      <a:pt x="214411" y="206158"/>
                      <a:pt x="222225" y="209026"/>
                    </a:cubicBezTo>
                    <a:lnTo>
                      <a:pt x="314130" y="242959"/>
                    </a:lnTo>
                    <a:close/>
                    <a:moveTo>
                      <a:pt x="228601" y="57150"/>
                    </a:moveTo>
                    <a:cubicBezTo>
                      <a:pt x="228601" y="49259"/>
                      <a:pt x="234998" y="42862"/>
                      <a:pt x="242889" y="42862"/>
                    </a:cubicBezTo>
                    <a:lnTo>
                      <a:pt x="271464" y="42862"/>
                    </a:lnTo>
                    <a:lnTo>
                      <a:pt x="271464" y="14288"/>
                    </a:lnTo>
                    <a:cubicBezTo>
                      <a:pt x="271464" y="6397"/>
                      <a:pt x="277860" y="0"/>
                      <a:pt x="285751" y="0"/>
                    </a:cubicBezTo>
                    <a:cubicBezTo>
                      <a:pt x="293642" y="0"/>
                      <a:pt x="300039" y="6397"/>
                      <a:pt x="300039" y="14288"/>
                    </a:cubicBezTo>
                    <a:lnTo>
                      <a:pt x="300039" y="42862"/>
                    </a:lnTo>
                    <a:lnTo>
                      <a:pt x="328614" y="42862"/>
                    </a:lnTo>
                    <a:cubicBezTo>
                      <a:pt x="336504" y="42862"/>
                      <a:pt x="342901" y="49259"/>
                      <a:pt x="342901" y="57150"/>
                    </a:cubicBezTo>
                    <a:cubicBezTo>
                      <a:pt x="342901" y="65041"/>
                      <a:pt x="336504" y="71438"/>
                      <a:pt x="328614" y="71438"/>
                    </a:cubicBezTo>
                    <a:lnTo>
                      <a:pt x="300039" y="71438"/>
                    </a:lnTo>
                    <a:lnTo>
                      <a:pt x="300039" y="100012"/>
                    </a:lnTo>
                    <a:cubicBezTo>
                      <a:pt x="300039" y="107903"/>
                      <a:pt x="293642" y="114300"/>
                      <a:pt x="285751" y="114300"/>
                    </a:cubicBezTo>
                    <a:cubicBezTo>
                      <a:pt x="277860" y="114300"/>
                      <a:pt x="271464" y="107903"/>
                      <a:pt x="271464" y="100012"/>
                    </a:cubicBezTo>
                    <a:lnTo>
                      <a:pt x="271464" y="71438"/>
                    </a:lnTo>
                    <a:lnTo>
                      <a:pt x="242889" y="71438"/>
                    </a:lnTo>
                    <a:cubicBezTo>
                      <a:pt x="234998" y="71438"/>
                      <a:pt x="228601" y="65041"/>
                      <a:pt x="228601" y="57150"/>
                    </a:cubicBezTo>
                    <a:close/>
                    <a:moveTo>
                      <a:pt x="414339" y="142875"/>
                    </a:moveTo>
                    <a:cubicBezTo>
                      <a:pt x="414339" y="150766"/>
                      <a:pt x="407942" y="157162"/>
                      <a:pt x="400051" y="157162"/>
                    </a:cubicBezTo>
                    <a:lnTo>
                      <a:pt x="385764" y="157162"/>
                    </a:lnTo>
                    <a:lnTo>
                      <a:pt x="385764" y="171450"/>
                    </a:lnTo>
                    <a:cubicBezTo>
                      <a:pt x="385764" y="179341"/>
                      <a:pt x="379367" y="185738"/>
                      <a:pt x="371476" y="185738"/>
                    </a:cubicBezTo>
                    <a:cubicBezTo>
                      <a:pt x="363585" y="185738"/>
                      <a:pt x="357189" y="179341"/>
                      <a:pt x="357189" y="171450"/>
                    </a:cubicBezTo>
                    <a:lnTo>
                      <a:pt x="357189" y="157162"/>
                    </a:lnTo>
                    <a:lnTo>
                      <a:pt x="342901" y="157162"/>
                    </a:lnTo>
                    <a:cubicBezTo>
                      <a:pt x="335010" y="157162"/>
                      <a:pt x="328614" y="150766"/>
                      <a:pt x="328614" y="142875"/>
                    </a:cubicBezTo>
                    <a:cubicBezTo>
                      <a:pt x="328614" y="134984"/>
                      <a:pt x="335010" y="128588"/>
                      <a:pt x="342901" y="128588"/>
                    </a:cubicBezTo>
                    <a:lnTo>
                      <a:pt x="357189" y="128588"/>
                    </a:lnTo>
                    <a:lnTo>
                      <a:pt x="357189" y="114300"/>
                    </a:lnTo>
                    <a:cubicBezTo>
                      <a:pt x="357189" y="106409"/>
                      <a:pt x="363585" y="100012"/>
                      <a:pt x="371476" y="100012"/>
                    </a:cubicBezTo>
                    <a:cubicBezTo>
                      <a:pt x="379367" y="100012"/>
                      <a:pt x="385764" y="106409"/>
                      <a:pt x="385764" y="114300"/>
                    </a:cubicBezTo>
                    <a:lnTo>
                      <a:pt x="385764" y="128588"/>
                    </a:lnTo>
                    <a:lnTo>
                      <a:pt x="400051" y="128588"/>
                    </a:lnTo>
                    <a:cubicBezTo>
                      <a:pt x="407942" y="128588"/>
                      <a:pt x="414339" y="134984"/>
                      <a:pt x="414339" y="1428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37" name="Group 37"/>
          <p:cNvGrpSpPr/>
          <p:nvPr/>
        </p:nvGrpSpPr>
        <p:grpSpPr>
          <a:xfrm>
            <a:off x="6248400" y="1676400"/>
            <a:ext cx="2571750" cy="3562350"/>
            <a:chOff x="6248400" y="1676400"/>
            <a:chExt cx="2571750" cy="3562350"/>
          </a:xfrm>
        </p:grpSpPr>
        <p:sp>
          <p:nvSpPr>
            <p:cNvPr id="27" name="Rectangle 27"/>
            <p:cNvSpPr/>
            <p:nvPr/>
          </p:nvSpPr>
          <p:spPr>
            <a:xfrm>
              <a:off x="6248400" y="1676400"/>
              <a:ext cx="2571750" cy="356235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48400" y="1676400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5006" y="2072640"/>
              <a:ext cx="14565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DOCUMENTS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15100" y="2625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21958" y="33794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文档质量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25006" y="3901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架构与实现说明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5006" y="4225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完整交付材料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8089106" y="4652960"/>
              <a:ext cx="351533" cy="342903"/>
              <a:chOff x="8089106" y="4652960"/>
              <a:chExt cx="351533" cy="34290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10562" y="4667250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100012" y="100012"/>
                    </a:move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089106" y="4652960"/>
                <a:ext cx="351533" cy="342903"/>
              </a:xfrm>
              <a:custGeom>
                <a:avLst/>
                <a:gdLst/>
                <a:ahLst/>
                <a:cxnLst/>
                <a:rect l="l" t="t" r="r" b="b"/>
                <a:pathLst>
                  <a:path w="351533" h="342903">
                    <a:moveTo>
                      <a:pt x="42862" y="214315"/>
                    </a:moveTo>
                    <a:lnTo>
                      <a:pt x="14288" y="214315"/>
                    </a:lnTo>
                    <a:cubicBezTo>
                      <a:pt x="6397" y="214315"/>
                      <a:pt x="0" y="220712"/>
                      <a:pt x="0" y="228603"/>
                    </a:cubicBezTo>
                    <a:lnTo>
                      <a:pt x="0" y="328615"/>
                    </a:lnTo>
                    <a:cubicBezTo>
                      <a:pt x="0" y="336506"/>
                      <a:pt x="6397" y="342903"/>
                      <a:pt x="14288" y="342903"/>
                    </a:cubicBezTo>
                    <a:lnTo>
                      <a:pt x="42862" y="342903"/>
                    </a:lnTo>
                    <a:cubicBezTo>
                      <a:pt x="78371" y="342903"/>
                      <a:pt x="107156" y="314118"/>
                      <a:pt x="107156" y="278609"/>
                    </a:cubicBezTo>
                    <a:cubicBezTo>
                      <a:pt x="107156" y="243101"/>
                      <a:pt x="78371" y="214315"/>
                      <a:pt x="42862" y="214315"/>
                    </a:cubicBezTo>
                    <a:close/>
                    <a:moveTo>
                      <a:pt x="42862" y="314328"/>
                    </a:moveTo>
                    <a:lnTo>
                      <a:pt x="28575" y="314328"/>
                    </a:lnTo>
                    <a:lnTo>
                      <a:pt x="28575" y="242890"/>
                    </a:lnTo>
                    <a:lnTo>
                      <a:pt x="42862" y="242890"/>
                    </a:lnTo>
                    <a:cubicBezTo>
                      <a:pt x="62589" y="242890"/>
                      <a:pt x="78581" y="258882"/>
                      <a:pt x="78581" y="278609"/>
                    </a:cubicBezTo>
                    <a:cubicBezTo>
                      <a:pt x="78581" y="298336"/>
                      <a:pt x="62589" y="314328"/>
                      <a:pt x="42862" y="314328"/>
                    </a:cubicBezTo>
                    <a:close/>
                    <a:moveTo>
                      <a:pt x="345632" y="305559"/>
                    </a:moveTo>
                    <a:cubicBezTo>
                      <a:pt x="351333" y="311014"/>
                      <a:pt x="351533" y="320057"/>
                      <a:pt x="346079" y="325758"/>
                    </a:cubicBezTo>
                    <a:cubicBezTo>
                      <a:pt x="336024" y="336581"/>
                      <a:pt x="321954" y="342783"/>
                      <a:pt x="307181" y="342903"/>
                    </a:cubicBezTo>
                    <a:cubicBezTo>
                      <a:pt x="275659" y="342903"/>
                      <a:pt x="250031" y="314060"/>
                      <a:pt x="250031" y="278609"/>
                    </a:cubicBezTo>
                    <a:cubicBezTo>
                      <a:pt x="250031" y="243158"/>
                      <a:pt x="275659" y="214315"/>
                      <a:pt x="307181" y="214315"/>
                    </a:cubicBezTo>
                    <a:cubicBezTo>
                      <a:pt x="321954" y="214435"/>
                      <a:pt x="336024" y="220637"/>
                      <a:pt x="346079" y="231460"/>
                    </a:cubicBezTo>
                    <a:cubicBezTo>
                      <a:pt x="351411" y="237179"/>
                      <a:pt x="351155" y="246122"/>
                      <a:pt x="345506" y="251527"/>
                    </a:cubicBezTo>
                    <a:cubicBezTo>
                      <a:pt x="339856" y="256932"/>
                      <a:pt x="330911" y="256792"/>
                      <a:pt x="325434" y="251213"/>
                    </a:cubicBezTo>
                    <a:cubicBezTo>
                      <a:pt x="320747" y="246055"/>
                      <a:pt x="314149" y="243047"/>
                      <a:pt x="307181" y="242890"/>
                    </a:cubicBezTo>
                    <a:cubicBezTo>
                      <a:pt x="291429" y="242890"/>
                      <a:pt x="278606" y="258964"/>
                      <a:pt x="278606" y="278609"/>
                    </a:cubicBezTo>
                    <a:cubicBezTo>
                      <a:pt x="278606" y="298255"/>
                      <a:pt x="291429" y="314328"/>
                      <a:pt x="307181" y="314328"/>
                    </a:cubicBezTo>
                    <a:cubicBezTo>
                      <a:pt x="314152" y="314184"/>
                      <a:pt x="320754" y="311174"/>
                      <a:pt x="325434" y="306006"/>
                    </a:cubicBezTo>
                    <a:cubicBezTo>
                      <a:pt x="330888" y="300305"/>
                      <a:pt x="339931" y="300105"/>
                      <a:pt x="345632" y="305559"/>
                    </a:cubicBezTo>
                    <a:close/>
                    <a:moveTo>
                      <a:pt x="178594" y="214315"/>
                    </a:moveTo>
                    <a:cubicBezTo>
                      <a:pt x="147090" y="214315"/>
                      <a:pt x="121444" y="243158"/>
                      <a:pt x="121444" y="278609"/>
                    </a:cubicBezTo>
                    <a:cubicBezTo>
                      <a:pt x="121444" y="314060"/>
                      <a:pt x="147090" y="342903"/>
                      <a:pt x="178594" y="342903"/>
                    </a:cubicBezTo>
                    <a:cubicBezTo>
                      <a:pt x="210098" y="342903"/>
                      <a:pt x="235744" y="314060"/>
                      <a:pt x="235744" y="278609"/>
                    </a:cubicBezTo>
                    <a:cubicBezTo>
                      <a:pt x="235744" y="243158"/>
                      <a:pt x="210098" y="214315"/>
                      <a:pt x="178594" y="214315"/>
                    </a:cubicBezTo>
                    <a:close/>
                    <a:moveTo>
                      <a:pt x="178594" y="314328"/>
                    </a:moveTo>
                    <a:cubicBezTo>
                      <a:pt x="162842" y="314328"/>
                      <a:pt x="150019" y="298255"/>
                      <a:pt x="150019" y="278609"/>
                    </a:cubicBezTo>
                    <a:cubicBezTo>
                      <a:pt x="150019" y="258964"/>
                      <a:pt x="162842" y="242890"/>
                      <a:pt x="178594" y="242890"/>
                    </a:cubicBezTo>
                    <a:cubicBezTo>
                      <a:pt x="194346" y="242890"/>
                      <a:pt x="207169" y="258964"/>
                      <a:pt x="207169" y="278609"/>
                    </a:cubicBezTo>
                    <a:cubicBezTo>
                      <a:pt x="207169" y="298255"/>
                      <a:pt x="194346" y="314328"/>
                      <a:pt x="178594" y="314328"/>
                    </a:cubicBezTo>
                    <a:close/>
                    <a:moveTo>
                      <a:pt x="35719" y="171453"/>
                    </a:moveTo>
                    <a:cubicBezTo>
                      <a:pt x="43610" y="171453"/>
                      <a:pt x="50006" y="165056"/>
                      <a:pt x="50006" y="157165"/>
                    </a:cubicBezTo>
                    <a:lnTo>
                      <a:pt x="50006" y="28578"/>
                    </a:lnTo>
                    <a:lnTo>
                      <a:pt x="207169" y="28578"/>
                    </a:lnTo>
                    <a:lnTo>
                      <a:pt x="207169" y="114303"/>
                    </a:lnTo>
                    <a:cubicBezTo>
                      <a:pt x="207169" y="122194"/>
                      <a:pt x="213565" y="128590"/>
                      <a:pt x="221456" y="128590"/>
                    </a:cubicBezTo>
                    <a:lnTo>
                      <a:pt x="307181" y="128590"/>
                    </a:lnTo>
                    <a:lnTo>
                      <a:pt x="307181" y="157165"/>
                    </a:lnTo>
                    <a:cubicBezTo>
                      <a:pt x="307181" y="165056"/>
                      <a:pt x="313578" y="171453"/>
                      <a:pt x="321469" y="171453"/>
                    </a:cubicBezTo>
                    <a:cubicBezTo>
                      <a:pt x="329360" y="171453"/>
                      <a:pt x="335756" y="165056"/>
                      <a:pt x="335756" y="157165"/>
                    </a:cubicBezTo>
                    <a:lnTo>
                      <a:pt x="335756" y="114303"/>
                    </a:lnTo>
                    <a:cubicBezTo>
                      <a:pt x="335759" y="110513"/>
                      <a:pt x="334256" y="106876"/>
                      <a:pt x="331577" y="104195"/>
                    </a:cubicBezTo>
                    <a:lnTo>
                      <a:pt x="231565" y="4182"/>
                    </a:lnTo>
                    <a:cubicBezTo>
                      <a:pt x="228883" y="1503"/>
                      <a:pt x="225247" y="0"/>
                      <a:pt x="221456" y="3"/>
                    </a:cubicBezTo>
                    <a:lnTo>
                      <a:pt x="50006" y="3"/>
                    </a:lnTo>
                    <a:cubicBezTo>
                      <a:pt x="34225" y="3"/>
                      <a:pt x="21431" y="12796"/>
                      <a:pt x="21431" y="28578"/>
                    </a:cubicBezTo>
                    <a:lnTo>
                      <a:pt x="21431" y="157165"/>
                    </a:lnTo>
                    <a:cubicBezTo>
                      <a:pt x="21431" y="165056"/>
                      <a:pt x="27828" y="171453"/>
                      <a:pt x="35719" y="171453"/>
                    </a:cubicBezTo>
                    <a:close/>
                    <a:moveTo>
                      <a:pt x="235744" y="48777"/>
                    </a:moveTo>
                    <a:lnTo>
                      <a:pt x="286982" y="100015"/>
                    </a:lnTo>
                    <a:lnTo>
                      <a:pt x="235744" y="10001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9105900" y="1676400"/>
            <a:ext cx="2571750" cy="3562350"/>
            <a:chOff x="9105900" y="1676400"/>
            <a:chExt cx="2571750" cy="3562350"/>
          </a:xfrm>
        </p:grpSpPr>
        <p:sp>
          <p:nvSpPr>
            <p:cNvPr id="38" name="Rectangle 38"/>
            <p:cNvSpPr/>
            <p:nvPr/>
          </p:nvSpPr>
          <p:spPr>
            <a:xfrm>
              <a:off x="9105900" y="1676400"/>
              <a:ext cx="2571750" cy="356235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 w="19050">
              <a:solidFill>
                <a:schemeClr val="accent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05900" y="1676400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82506" y="2072640"/>
              <a:ext cx="17791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PRESENTATION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72600" y="262509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10%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79458" y="3379470"/>
              <a:ext cx="17986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视频与 PPT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82506" y="3901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逻辑与演示表达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82506" y="4225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项目价值可视化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0939462" y="4681538"/>
              <a:ext cx="371475" cy="342900"/>
              <a:chOff x="10939462" y="4681538"/>
              <a:chExt cx="371475" cy="3429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0953750" y="4695825"/>
                <a:ext cx="3429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57175">
                    <a:moveTo>
                      <a:pt x="31432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228600"/>
                    </a:lnTo>
                    <a:cubicBezTo>
                      <a:pt x="0" y="244382"/>
                      <a:pt x="12793" y="257175"/>
                      <a:pt x="28575" y="257175"/>
                    </a:cubicBezTo>
                    <a:lnTo>
                      <a:pt x="314325" y="257175"/>
                    </a:lnTo>
                    <a:cubicBezTo>
                      <a:pt x="330107" y="257175"/>
                      <a:pt x="342900" y="244382"/>
                      <a:pt x="342900" y="228600"/>
                    </a:cubicBezTo>
                    <a:lnTo>
                      <a:pt x="342900" y="28575"/>
                    </a:lnTo>
                    <a:cubicBezTo>
                      <a:pt x="342900" y="12793"/>
                      <a:pt x="330107" y="0"/>
                      <a:pt x="314325" y="0"/>
                    </a:cubicBezTo>
                    <a:close/>
                    <a:moveTo>
                      <a:pt x="142875" y="185738"/>
                    </a:moveTo>
                    <a:lnTo>
                      <a:pt x="142875" y="71438"/>
                    </a:lnTo>
                    <a:lnTo>
                      <a:pt x="228600" y="128588"/>
                    </a:lnTo>
                    <a:close/>
                  </a:path>
                </a:pathLst>
              </a:custGeom>
              <a:solidFill>
                <a:schemeClr val="dk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939462" y="4681538"/>
                <a:ext cx="371475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42900">
                    <a:moveTo>
                      <a:pt x="328612" y="0"/>
                    </a:moveTo>
                    <a:lnTo>
                      <a:pt x="42862" y="0"/>
                    </a:lnTo>
                    <a:cubicBezTo>
                      <a:pt x="19190" y="0"/>
                      <a:pt x="0" y="19190"/>
                      <a:pt x="0" y="42862"/>
                    </a:cubicBezTo>
                    <a:lnTo>
                      <a:pt x="0" y="242888"/>
                    </a:lnTo>
                    <a:cubicBezTo>
                      <a:pt x="0" y="266560"/>
                      <a:pt x="19190" y="285750"/>
                      <a:pt x="42862" y="285750"/>
                    </a:cubicBezTo>
                    <a:lnTo>
                      <a:pt x="328612" y="285750"/>
                    </a:lnTo>
                    <a:cubicBezTo>
                      <a:pt x="352285" y="285750"/>
                      <a:pt x="371475" y="266560"/>
                      <a:pt x="371475" y="242888"/>
                    </a:cubicBezTo>
                    <a:lnTo>
                      <a:pt x="371475" y="42862"/>
                    </a:lnTo>
                    <a:cubicBezTo>
                      <a:pt x="371475" y="19190"/>
                      <a:pt x="352285" y="0"/>
                      <a:pt x="328612" y="0"/>
                    </a:cubicBezTo>
                    <a:close/>
                    <a:moveTo>
                      <a:pt x="342900" y="242888"/>
                    </a:moveTo>
                    <a:cubicBezTo>
                      <a:pt x="342900" y="250778"/>
                      <a:pt x="336503" y="257175"/>
                      <a:pt x="328612" y="257175"/>
                    </a:cubicBezTo>
                    <a:lnTo>
                      <a:pt x="42862" y="257175"/>
                    </a:lnTo>
                    <a:cubicBezTo>
                      <a:pt x="34972" y="257175"/>
                      <a:pt x="28575" y="250778"/>
                      <a:pt x="28575" y="242888"/>
                    </a:cubicBezTo>
                    <a:lnTo>
                      <a:pt x="28575" y="42862"/>
                    </a:lnTo>
                    <a:cubicBezTo>
                      <a:pt x="28575" y="34972"/>
                      <a:pt x="34972" y="28575"/>
                      <a:pt x="42862" y="28575"/>
                    </a:cubicBezTo>
                    <a:lnTo>
                      <a:pt x="328612" y="28575"/>
                    </a:lnTo>
                    <a:cubicBezTo>
                      <a:pt x="336503" y="28575"/>
                      <a:pt x="342900" y="34972"/>
                      <a:pt x="342900" y="42862"/>
                    </a:cubicBezTo>
                    <a:close/>
                    <a:moveTo>
                      <a:pt x="257175" y="328612"/>
                    </a:moveTo>
                    <a:cubicBezTo>
                      <a:pt x="257175" y="336503"/>
                      <a:pt x="250778" y="342900"/>
                      <a:pt x="242888" y="342900"/>
                    </a:cubicBezTo>
                    <a:lnTo>
                      <a:pt x="128588" y="342900"/>
                    </a:lnTo>
                    <a:cubicBezTo>
                      <a:pt x="120697" y="342900"/>
                      <a:pt x="114300" y="336503"/>
                      <a:pt x="114300" y="328612"/>
                    </a:cubicBezTo>
                    <a:cubicBezTo>
                      <a:pt x="114300" y="320722"/>
                      <a:pt x="120697" y="314325"/>
                      <a:pt x="128588" y="314325"/>
                    </a:cubicBezTo>
                    <a:lnTo>
                      <a:pt x="242888" y="314325"/>
                    </a:lnTo>
                    <a:cubicBezTo>
                      <a:pt x="250778" y="314325"/>
                      <a:pt x="257175" y="320722"/>
                      <a:pt x="257175" y="328612"/>
                    </a:cubicBezTo>
                    <a:close/>
                    <a:moveTo>
                      <a:pt x="250817" y="130981"/>
                    </a:moveTo>
                    <a:lnTo>
                      <a:pt x="165092" y="73831"/>
                    </a:lnTo>
                    <a:cubicBezTo>
                      <a:pt x="160707" y="70905"/>
                      <a:pt x="155067" y="70632"/>
                      <a:pt x="150419" y="73120"/>
                    </a:cubicBezTo>
                    <a:cubicBezTo>
                      <a:pt x="145771" y="75608"/>
                      <a:pt x="142872" y="80453"/>
                      <a:pt x="142875" y="85725"/>
                    </a:cubicBezTo>
                    <a:lnTo>
                      <a:pt x="142875" y="200025"/>
                    </a:lnTo>
                    <a:cubicBezTo>
                      <a:pt x="142872" y="205297"/>
                      <a:pt x="145771" y="210142"/>
                      <a:pt x="150419" y="212630"/>
                    </a:cubicBezTo>
                    <a:cubicBezTo>
                      <a:pt x="155067" y="215118"/>
                      <a:pt x="160707" y="214845"/>
                      <a:pt x="165092" y="211919"/>
                    </a:cubicBezTo>
                    <a:lnTo>
                      <a:pt x="250817" y="154769"/>
                    </a:lnTo>
                    <a:cubicBezTo>
                      <a:pt x="254797" y="152120"/>
                      <a:pt x="257189" y="147656"/>
                      <a:pt x="257189" y="142875"/>
                    </a:cubicBezTo>
                    <a:cubicBezTo>
                      <a:pt x="257189" y="138094"/>
                      <a:pt x="254797" y="133630"/>
                      <a:pt x="250817" y="130981"/>
                    </a:cubicBezTo>
                    <a:close/>
                    <a:moveTo>
                      <a:pt x="171450" y="173325"/>
                    </a:moveTo>
                    <a:lnTo>
                      <a:pt x="171450" y="112514"/>
                    </a:lnTo>
                    <a:lnTo>
                      <a:pt x="217134" y="14287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</p:grpSp>
      </p:grpSp>
      <p:grpSp>
        <p:nvGrpSpPr>
          <p:cNvPr id="51" name="Group 51"/>
          <p:cNvGrpSpPr/>
          <p:nvPr/>
        </p:nvGrpSpPr>
        <p:grpSpPr>
          <a:xfrm>
            <a:off x="3390900" y="5524500"/>
            <a:ext cx="5429250" cy="581787"/>
            <a:chOff x="3390900" y="5524500"/>
            <a:chExt cx="5429250" cy="581787"/>
          </a:xfrm>
        </p:grpSpPr>
        <p:sp>
          <p:nvSpPr>
            <p:cNvPr id="49" name="Rectangle 49"/>
            <p:cNvSpPr/>
            <p:nvPr/>
          </p:nvSpPr>
          <p:spPr>
            <a:xfrm>
              <a:off x="3390900" y="5524500"/>
              <a:ext cx="5429250" cy="552450"/>
            </a:xfrm>
            <a:prstGeom prst="roundRect">
              <a:avLst>
                <a:gd name="adj" fmla="val 13793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18636" y="5636895"/>
              <a:ext cx="47737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45% + 35% = 80% · 重点证据区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526542" y="6388418"/>
              <a:ext cx="4039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来源：cnsoftbei.com/content-3-1286-1.html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05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9536887" cy="1082802"/>
            <a:chOff x="514350" y="251460"/>
            <a:chExt cx="9536887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953688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四层协同，把生成能力变成可用系统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交互体验、智能体编排、模型检索与数据状态各司其职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3400" y="1466850"/>
            <a:ext cx="11125200" cy="1009650"/>
            <a:chOff x="533400" y="1466850"/>
            <a:chExt cx="11125200" cy="10096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11125200" cy="1009650"/>
            </a:xfrm>
            <a:prstGeom prst="roundRect">
              <a:avLst>
                <a:gd name="adj" fmla="val 9434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466850"/>
              <a:ext cx="1104900" cy="1009650"/>
            </a:xfrm>
            <a:prstGeom prst="roundRect">
              <a:avLst>
                <a:gd name="adj" fmla="val 943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36769" y="17011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95058" y="20059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131A"/>
                  </a:solidFill>
                  <a:latin typeface="+mn-lt"/>
                  <a:ea typeface="+mn-ea"/>
                  <a:cs typeface="+mn-cs"/>
                </a:rPr>
                <a:t>交互层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9958" y="1588770"/>
              <a:ext cx="47102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React 18 + TypeScript + Vite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53006" y="2015490"/>
              <a:ext cx="64606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流式对话 · Markdown · 多模态卡片 · 学习路径 · 任务进度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2628900"/>
            <a:ext cx="11125200" cy="1009650"/>
            <a:chOff x="533400" y="2628900"/>
            <a:chExt cx="11125200" cy="1009650"/>
          </a:xfrm>
        </p:grpSpPr>
        <p:sp>
          <p:nvSpPr>
            <p:cNvPr id="12" name="Rectangle 12"/>
            <p:cNvSpPr/>
            <p:nvPr/>
          </p:nvSpPr>
          <p:spPr>
            <a:xfrm>
              <a:off x="533400" y="2628900"/>
              <a:ext cx="11125200" cy="1009650"/>
            </a:xfrm>
            <a:prstGeom prst="roundRect">
              <a:avLst>
                <a:gd name="adj" fmla="val 9434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628900"/>
              <a:ext cx="1104900" cy="1009650"/>
            </a:xfrm>
            <a:prstGeom prst="roundRect">
              <a:avLst>
                <a:gd name="adj" fmla="val 943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6769" y="28632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058" y="31680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131A"/>
                  </a:solidFill>
                  <a:latin typeface="+mn-lt"/>
                  <a:ea typeface="+mn-ea"/>
                  <a:cs typeface="+mn-cs"/>
                </a:rPr>
                <a:t>编排层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49958" y="2750820"/>
              <a:ext cx="53742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FastAPI + LangGraph StateGraph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53006" y="3177540"/>
              <a:ext cx="81341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Scheduler · Profile · ResourceGen · PathPush · SSE / 取消 / 状态查询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3790950"/>
            <a:ext cx="11125200" cy="1009650"/>
            <a:chOff x="533400" y="3790950"/>
            <a:chExt cx="111252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533400" y="3790950"/>
              <a:ext cx="11125200" cy="1009650"/>
            </a:xfrm>
            <a:prstGeom prst="roundRect">
              <a:avLst>
                <a:gd name="adj" fmla="val 9434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790950"/>
              <a:ext cx="1104900" cy="1009650"/>
            </a:xfrm>
            <a:prstGeom prst="roundRect">
              <a:avLst>
                <a:gd name="adj" fmla="val 943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6769" y="40252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5058" y="43300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49958" y="3912870"/>
              <a:ext cx="47945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LLM + RAG + Knowledge Graph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53006" y="4339590"/>
              <a:ext cx="70465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DeepSeek / Qwen · 向量召回 · 知识依赖 · 内容生成与差距诊断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33400" y="4953000"/>
            <a:ext cx="11125200" cy="1009650"/>
            <a:chOff x="533400" y="4953000"/>
            <a:chExt cx="11125200" cy="1009650"/>
          </a:xfrm>
        </p:grpSpPr>
        <p:sp>
          <p:nvSpPr>
            <p:cNvPr id="26" name="Rectangle 26"/>
            <p:cNvSpPr/>
            <p:nvPr/>
          </p:nvSpPr>
          <p:spPr>
            <a:xfrm>
              <a:off x="533400" y="4953000"/>
              <a:ext cx="11125200" cy="1009650"/>
            </a:xfrm>
            <a:prstGeom prst="roundRect">
              <a:avLst>
                <a:gd name="adj" fmla="val 943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953000"/>
              <a:ext cx="1104900" cy="1009650"/>
            </a:xfrm>
            <a:prstGeom prst="roundRect">
              <a:avLst>
                <a:gd name="adj" fmla="val 9434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6769" y="51873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5058" y="54921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131A"/>
                  </a:solidFill>
                  <a:latin typeface="+mn-lt"/>
                  <a:ea typeface="+mn-ea"/>
                  <a:cs typeface="+mn-cs"/>
                </a:rPr>
                <a:t>数据层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49958" y="5074920"/>
              <a:ext cx="7995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PostgreSQL/pgvector · Neo4j · MongoDB · Redis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53006" y="5501640"/>
              <a:ext cx="64638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业务关系 · 向量证据 · 图谱关系 · 行为轨迹 · 热状态与进度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33" name="TextBox 33"/>
            <p:cNvSpPr txBox="1"/>
            <p:nvPr/>
          </p:nvSpPr>
          <p:spPr>
            <a:xfrm>
              <a:off x="526542" y="63884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实现证据：当前项目技术栈与服务编排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06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130561" cy="1082802"/>
            <a:chOff x="514350" y="251460"/>
            <a:chExt cx="10130561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13056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四智能体流水线：每一步都有明确产物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84246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共享状态贯穿编排、画像、资源与路径，避免重复理解用户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62100" y="2752725"/>
            <a:ext cx="9067800" cy="171450"/>
            <a:chOff x="1562100" y="2752725"/>
            <a:chExt cx="9067800" cy="171450"/>
          </a:xfrm>
        </p:grpSpPr>
        <p:sp>
          <p:nvSpPr>
            <p:cNvPr id="5" name="Line 5"/>
            <p:cNvSpPr/>
            <p:nvPr/>
          </p:nvSpPr>
          <p:spPr>
            <a:xfrm>
              <a:off x="1562100" y="2838450"/>
              <a:ext cx="9067800" cy="9525"/>
            </a:xfrm>
            <a:custGeom>
              <a:avLst/>
              <a:gdLst/>
              <a:ahLst/>
              <a:cxnLst/>
              <a:rect l="l" t="t" r="r" b="b"/>
              <a:pathLst>
                <a:path w="9067800" h="9525">
                  <a:moveTo>
                    <a:pt x="0" y="0"/>
                  </a:moveTo>
                  <a:lnTo>
                    <a:pt x="9067800" y="0"/>
                  </a:lnTo>
                </a:path>
              </a:pathLst>
            </a:custGeom>
            <a:noFill/>
            <a:ln w="95250" cap="rnd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647825" y="27527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4562475" y="275272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477125" y="275272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391775" y="2752725"/>
              <a:ext cx="171450" cy="1714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33400" y="1600200"/>
            <a:ext cx="2552700" cy="3562350"/>
            <a:chOff x="533400" y="1600200"/>
            <a:chExt cx="2552700" cy="3562350"/>
          </a:xfrm>
        </p:grpSpPr>
        <p:sp>
          <p:nvSpPr>
            <p:cNvPr id="11" name="Rectangle 11"/>
            <p:cNvSpPr/>
            <p:nvPr/>
          </p:nvSpPr>
          <p:spPr>
            <a:xfrm>
              <a:off x="533400" y="1600200"/>
              <a:ext cx="2552700" cy="356235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906" y="1844040"/>
              <a:ext cx="19538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 / SCHEDULER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96700" y="2402888"/>
              <a:ext cx="482640" cy="358692"/>
              <a:chOff x="796700" y="2402888"/>
              <a:chExt cx="482640" cy="35869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13197" y="2613423"/>
                <a:ext cx="128588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28588">
                    <a:moveTo>
                      <a:pt x="128588" y="64294"/>
                    </a:moveTo>
                    <a:cubicBezTo>
                      <a:pt x="128588" y="99802"/>
                      <a:pt x="99802" y="128588"/>
                      <a:pt x="64294" y="128588"/>
                    </a:cubicBezTo>
                    <a:cubicBezTo>
                      <a:pt x="28785" y="128588"/>
                      <a:pt x="0" y="99802"/>
                      <a:pt x="0" y="64294"/>
                    </a:cubicBezTo>
                    <a:cubicBezTo>
                      <a:pt x="0" y="28785"/>
                      <a:pt x="28785" y="0"/>
                      <a:pt x="64294" y="0"/>
                    </a:cubicBezTo>
                    <a:cubicBezTo>
                      <a:pt x="99802" y="0"/>
                      <a:pt x="128588" y="28785"/>
                      <a:pt x="128588" y="64294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96700" y="2402888"/>
                <a:ext cx="482640" cy="358692"/>
              </a:xfrm>
              <a:custGeom>
                <a:avLst/>
                <a:gdLst/>
                <a:ahLst/>
                <a:cxnLst/>
                <a:rect l="l" t="t" r="r" b="b"/>
                <a:pathLst>
                  <a:path w="482640" h="358692">
                    <a:moveTo>
                      <a:pt x="477926" y="70574"/>
                    </a:moveTo>
                    <a:lnTo>
                      <a:pt x="413632" y="6281"/>
                    </a:lnTo>
                    <a:cubicBezTo>
                      <a:pt x="407352" y="0"/>
                      <a:pt x="397169" y="0"/>
                      <a:pt x="390888" y="6281"/>
                    </a:cubicBezTo>
                    <a:cubicBezTo>
                      <a:pt x="384608" y="12561"/>
                      <a:pt x="384608" y="22744"/>
                      <a:pt x="390888" y="29025"/>
                    </a:cubicBezTo>
                    <a:lnTo>
                      <a:pt x="427757" y="65873"/>
                    </a:lnTo>
                    <a:lnTo>
                      <a:pt x="370113" y="65873"/>
                    </a:lnTo>
                    <a:cubicBezTo>
                      <a:pt x="350421" y="66587"/>
                      <a:pt x="331064" y="71182"/>
                      <a:pt x="313153" y="79395"/>
                    </a:cubicBezTo>
                    <a:cubicBezTo>
                      <a:pt x="285788" y="92033"/>
                      <a:pt x="251210" y="118996"/>
                      <a:pt x="241746" y="175836"/>
                    </a:cubicBezTo>
                    <a:cubicBezTo>
                      <a:pt x="231058" y="239989"/>
                      <a:pt x="183279" y="254636"/>
                      <a:pt x="159370" y="257931"/>
                    </a:cubicBezTo>
                    <a:cubicBezTo>
                      <a:pt x="150637" y="217620"/>
                      <a:pt x="112806" y="190464"/>
                      <a:pt x="71820" y="195086"/>
                    </a:cubicBezTo>
                    <a:cubicBezTo>
                      <a:pt x="30834" y="199707"/>
                      <a:pt x="0" y="234605"/>
                      <a:pt x="462" y="275848"/>
                    </a:cubicBezTo>
                    <a:cubicBezTo>
                      <a:pt x="925" y="317091"/>
                      <a:pt x="32533" y="351289"/>
                      <a:pt x="73612" y="354990"/>
                    </a:cubicBezTo>
                    <a:cubicBezTo>
                      <a:pt x="114692" y="358692"/>
                      <a:pt x="151904" y="330695"/>
                      <a:pt x="159732" y="290198"/>
                    </a:cubicBezTo>
                    <a:cubicBezTo>
                      <a:pt x="174182" y="288551"/>
                      <a:pt x="188299" y="284724"/>
                      <a:pt x="201603" y="278847"/>
                    </a:cubicBezTo>
                    <a:cubicBezTo>
                      <a:pt x="228968" y="266791"/>
                      <a:pt x="263626" y="239868"/>
                      <a:pt x="273451" y="181019"/>
                    </a:cubicBezTo>
                    <a:cubicBezTo>
                      <a:pt x="287033" y="99567"/>
                      <a:pt x="366778" y="98020"/>
                      <a:pt x="370113" y="98020"/>
                    </a:cubicBezTo>
                    <a:lnTo>
                      <a:pt x="427757" y="98020"/>
                    </a:lnTo>
                    <a:lnTo>
                      <a:pt x="390888" y="134868"/>
                    </a:lnTo>
                    <a:cubicBezTo>
                      <a:pt x="384608" y="141149"/>
                      <a:pt x="384608" y="151332"/>
                      <a:pt x="390888" y="157612"/>
                    </a:cubicBezTo>
                    <a:cubicBezTo>
                      <a:pt x="397169" y="163893"/>
                      <a:pt x="407352" y="163893"/>
                      <a:pt x="413632" y="157612"/>
                    </a:cubicBezTo>
                    <a:lnTo>
                      <a:pt x="477926" y="93318"/>
                    </a:lnTo>
                    <a:cubicBezTo>
                      <a:pt x="480944" y="90304"/>
                      <a:pt x="482640" y="86213"/>
                      <a:pt x="482640" y="81946"/>
                    </a:cubicBezTo>
                    <a:cubicBezTo>
                      <a:pt x="482640" y="77680"/>
                      <a:pt x="480944" y="73589"/>
                      <a:pt x="477926" y="70574"/>
                    </a:cubicBezTo>
                    <a:close/>
                    <a:moveTo>
                      <a:pt x="80791" y="323049"/>
                    </a:moveTo>
                    <a:cubicBezTo>
                      <a:pt x="54159" y="323049"/>
                      <a:pt x="32570" y="301460"/>
                      <a:pt x="32570" y="274828"/>
                    </a:cubicBezTo>
                    <a:cubicBezTo>
                      <a:pt x="32570" y="248197"/>
                      <a:pt x="54159" y="226608"/>
                      <a:pt x="80791" y="226608"/>
                    </a:cubicBezTo>
                    <a:cubicBezTo>
                      <a:pt x="107422" y="226608"/>
                      <a:pt x="129011" y="248197"/>
                      <a:pt x="129011" y="274828"/>
                    </a:cubicBezTo>
                    <a:cubicBezTo>
                      <a:pt x="129011" y="301460"/>
                      <a:pt x="107422" y="323049"/>
                      <a:pt x="80791" y="3230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768858" y="3093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任务编排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190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解析目标与上下文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1906" y="39204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决定执行顺序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81050" y="4457700"/>
              <a:ext cx="2057400" cy="457200"/>
            </a:xfrm>
            <a:prstGeom prst="roundRect">
              <a:avLst>
                <a:gd name="adj" fmla="val 1458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901" y="4568190"/>
              <a:ext cx="2343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OUTPUT · 任务计划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448050" y="1600200"/>
            <a:ext cx="2552700" cy="3562350"/>
            <a:chOff x="3448050" y="1600200"/>
            <a:chExt cx="2552700" cy="3562350"/>
          </a:xfrm>
        </p:grpSpPr>
        <p:sp>
          <p:nvSpPr>
            <p:cNvPr id="22" name="Rectangle 22"/>
            <p:cNvSpPr/>
            <p:nvPr/>
          </p:nvSpPr>
          <p:spPr>
            <a:xfrm>
              <a:off x="3448050" y="1600200"/>
              <a:ext cx="2552700" cy="356235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86556" y="1844040"/>
              <a:ext cx="1644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 / PROFILE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3711758" y="2364243"/>
              <a:ext cx="482219" cy="417992"/>
              <a:chOff x="3711758" y="2364243"/>
              <a:chExt cx="482219" cy="41799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727761" y="2388394"/>
                <a:ext cx="450157" cy="369690"/>
              </a:xfrm>
              <a:custGeom>
                <a:avLst/>
                <a:gdLst/>
                <a:ahLst/>
                <a:cxnLst/>
                <a:rect l="l" t="t" r="r" b="b"/>
                <a:pathLst>
                  <a:path w="450157" h="369690">
                    <a:moveTo>
                      <a:pt x="450144" y="184845"/>
                    </a:moveTo>
                    <a:cubicBezTo>
                      <a:pt x="450157" y="225726"/>
                      <a:pt x="424393" y="262174"/>
                      <a:pt x="385850" y="275801"/>
                    </a:cubicBezTo>
                    <a:lnTo>
                      <a:pt x="385850" y="275801"/>
                    </a:lnTo>
                    <a:lnTo>
                      <a:pt x="385850" y="289323"/>
                    </a:lnTo>
                    <a:cubicBezTo>
                      <a:pt x="385850" y="333708"/>
                      <a:pt x="349868" y="369690"/>
                      <a:pt x="305482" y="369690"/>
                    </a:cubicBezTo>
                    <a:cubicBezTo>
                      <a:pt x="261097" y="369690"/>
                      <a:pt x="225115" y="333708"/>
                      <a:pt x="225115" y="289323"/>
                    </a:cubicBezTo>
                    <a:cubicBezTo>
                      <a:pt x="225115" y="333708"/>
                      <a:pt x="189133" y="369690"/>
                      <a:pt x="144748" y="369690"/>
                    </a:cubicBezTo>
                    <a:cubicBezTo>
                      <a:pt x="100362" y="369690"/>
                      <a:pt x="64380" y="333708"/>
                      <a:pt x="64380" y="289323"/>
                    </a:cubicBezTo>
                    <a:lnTo>
                      <a:pt x="64380" y="275801"/>
                    </a:lnTo>
                    <a:lnTo>
                      <a:pt x="64380" y="275801"/>
                    </a:lnTo>
                    <a:cubicBezTo>
                      <a:pt x="25803" y="262203"/>
                      <a:pt x="0" y="225749"/>
                      <a:pt x="0" y="184845"/>
                    </a:cubicBezTo>
                    <a:cubicBezTo>
                      <a:pt x="0" y="143941"/>
                      <a:pt x="25803" y="107487"/>
                      <a:pt x="64380" y="93889"/>
                    </a:cubicBezTo>
                    <a:lnTo>
                      <a:pt x="64380" y="80367"/>
                    </a:lnTo>
                    <a:cubicBezTo>
                      <a:pt x="64380" y="35982"/>
                      <a:pt x="100362" y="0"/>
                      <a:pt x="144748" y="0"/>
                    </a:cubicBezTo>
                    <a:cubicBezTo>
                      <a:pt x="189133" y="0"/>
                      <a:pt x="225115" y="35982"/>
                      <a:pt x="225115" y="80367"/>
                    </a:cubicBezTo>
                    <a:cubicBezTo>
                      <a:pt x="225115" y="35982"/>
                      <a:pt x="261097" y="0"/>
                      <a:pt x="305482" y="0"/>
                    </a:cubicBezTo>
                    <a:cubicBezTo>
                      <a:pt x="349868" y="0"/>
                      <a:pt x="385850" y="35982"/>
                      <a:pt x="385850" y="80367"/>
                    </a:cubicBezTo>
                    <a:lnTo>
                      <a:pt x="385850" y="93889"/>
                    </a:lnTo>
                    <a:cubicBezTo>
                      <a:pt x="424393" y="107516"/>
                      <a:pt x="450157" y="143964"/>
                      <a:pt x="450144" y="18484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711758" y="2364243"/>
                <a:ext cx="482219" cy="417992"/>
              </a:xfrm>
              <a:custGeom>
                <a:avLst/>
                <a:gdLst/>
                <a:ahLst/>
                <a:cxnLst/>
                <a:rect l="l" t="t" r="r" b="b"/>
                <a:pathLst>
                  <a:path w="482219" h="417992">
                    <a:moveTo>
                      <a:pt x="482219" y="208996"/>
                    </a:moveTo>
                    <a:cubicBezTo>
                      <a:pt x="482176" y="165543"/>
                      <a:pt x="457163" y="125983"/>
                      <a:pt x="417925" y="107311"/>
                    </a:cubicBezTo>
                    <a:lnTo>
                      <a:pt x="417925" y="104519"/>
                    </a:lnTo>
                    <a:cubicBezTo>
                      <a:pt x="417887" y="61995"/>
                      <a:pt x="390002" y="24515"/>
                      <a:pt x="349283" y="12257"/>
                    </a:cubicBezTo>
                    <a:cubicBezTo>
                      <a:pt x="308565" y="0"/>
                      <a:pt x="264623" y="15859"/>
                      <a:pt x="241117" y="51295"/>
                    </a:cubicBezTo>
                    <a:cubicBezTo>
                      <a:pt x="217611" y="15859"/>
                      <a:pt x="173670" y="0"/>
                      <a:pt x="132951" y="12257"/>
                    </a:cubicBezTo>
                    <a:cubicBezTo>
                      <a:pt x="92232" y="24515"/>
                      <a:pt x="64347" y="61995"/>
                      <a:pt x="64309" y="104519"/>
                    </a:cubicBezTo>
                    <a:lnTo>
                      <a:pt x="64309" y="107311"/>
                    </a:lnTo>
                    <a:cubicBezTo>
                      <a:pt x="25035" y="125933"/>
                      <a:pt x="0" y="165511"/>
                      <a:pt x="0" y="208976"/>
                    </a:cubicBezTo>
                    <a:cubicBezTo>
                      <a:pt x="0" y="252441"/>
                      <a:pt x="25035" y="292019"/>
                      <a:pt x="64309" y="310641"/>
                    </a:cubicBezTo>
                    <a:lnTo>
                      <a:pt x="64309" y="313474"/>
                    </a:lnTo>
                    <a:cubicBezTo>
                      <a:pt x="64347" y="355997"/>
                      <a:pt x="92232" y="393478"/>
                      <a:pt x="132951" y="405735"/>
                    </a:cubicBezTo>
                    <a:cubicBezTo>
                      <a:pt x="173670" y="417992"/>
                      <a:pt x="217611" y="402133"/>
                      <a:pt x="241117" y="366697"/>
                    </a:cubicBezTo>
                    <a:cubicBezTo>
                      <a:pt x="264623" y="402133"/>
                      <a:pt x="308565" y="417992"/>
                      <a:pt x="349283" y="405735"/>
                    </a:cubicBezTo>
                    <a:cubicBezTo>
                      <a:pt x="390002" y="393478"/>
                      <a:pt x="417887" y="355997"/>
                      <a:pt x="417925" y="313474"/>
                    </a:cubicBezTo>
                    <a:lnTo>
                      <a:pt x="417925" y="310641"/>
                    </a:lnTo>
                    <a:cubicBezTo>
                      <a:pt x="457156" y="291983"/>
                      <a:pt x="482170" y="252438"/>
                      <a:pt x="482219" y="208996"/>
                    </a:cubicBezTo>
                    <a:close/>
                    <a:moveTo>
                      <a:pt x="160750" y="377768"/>
                    </a:moveTo>
                    <a:cubicBezTo>
                      <a:pt x="127920" y="377763"/>
                      <a:pt x="100367" y="353025"/>
                      <a:pt x="96838" y="320385"/>
                    </a:cubicBezTo>
                    <a:cubicBezTo>
                      <a:pt x="102035" y="321127"/>
                      <a:pt x="107279" y="321503"/>
                      <a:pt x="112529" y="321510"/>
                    </a:cubicBezTo>
                    <a:lnTo>
                      <a:pt x="128603" y="321510"/>
                    </a:lnTo>
                    <a:cubicBezTo>
                      <a:pt x="137480" y="321510"/>
                      <a:pt x="144676" y="314314"/>
                      <a:pt x="144676" y="305437"/>
                    </a:cubicBezTo>
                    <a:cubicBezTo>
                      <a:pt x="144676" y="296560"/>
                      <a:pt x="137480" y="289363"/>
                      <a:pt x="128603" y="289363"/>
                    </a:cubicBezTo>
                    <a:lnTo>
                      <a:pt x="112529" y="289363"/>
                    </a:lnTo>
                    <a:cubicBezTo>
                      <a:pt x="73350" y="289409"/>
                      <a:pt x="39847" y="261196"/>
                      <a:pt x="33224" y="222580"/>
                    </a:cubicBezTo>
                    <a:cubicBezTo>
                      <a:pt x="26602" y="183964"/>
                      <a:pt x="48791" y="146200"/>
                      <a:pt x="85747" y="133190"/>
                    </a:cubicBezTo>
                    <a:cubicBezTo>
                      <a:pt x="92165" y="130917"/>
                      <a:pt x="96455" y="124848"/>
                      <a:pt x="96456" y="118040"/>
                    </a:cubicBezTo>
                    <a:lnTo>
                      <a:pt x="96456" y="104519"/>
                    </a:lnTo>
                    <a:cubicBezTo>
                      <a:pt x="96456" y="69010"/>
                      <a:pt x="125241" y="40225"/>
                      <a:pt x="160750" y="40225"/>
                    </a:cubicBezTo>
                    <a:cubicBezTo>
                      <a:pt x="196258" y="40225"/>
                      <a:pt x="225044" y="69010"/>
                      <a:pt x="225044" y="104519"/>
                    </a:cubicBezTo>
                    <a:lnTo>
                      <a:pt x="225044" y="241665"/>
                    </a:lnTo>
                    <a:cubicBezTo>
                      <a:pt x="207393" y="225791"/>
                      <a:pt x="184489" y="217015"/>
                      <a:pt x="160750" y="217033"/>
                    </a:cubicBezTo>
                    <a:cubicBezTo>
                      <a:pt x="151873" y="217033"/>
                      <a:pt x="144676" y="224229"/>
                      <a:pt x="144676" y="233106"/>
                    </a:cubicBezTo>
                    <a:cubicBezTo>
                      <a:pt x="144676" y="241983"/>
                      <a:pt x="151873" y="249180"/>
                      <a:pt x="160750" y="249180"/>
                    </a:cubicBezTo>
                    <a:cubicBezTo>
                      <a:pt x="196258" y="249180"/>
                      <a:pt x="225044" y="277965"/>
                      <a:pt x="225044" y="313474"/>
                    </a:cubicBezTo>
                    <a:cubicBezTo>
                      <a:pt x="225044" y="348982"/>
                      <a:pt x="196258" y="377768"/>
                      <a:pt x="160750" y="377768"/>
                    </a:cubicBezTo>
                    <a:close/>
                    <a:moveTo>
                      <a:pt x="369705" y="289363"/>
                    </a:moveTo>
                    <a:lnTo>
                      <a:pt x="353632" y="289363"/>
                    </a:lnTo>
                    <a:cubicBezTo>
                      <a:pt x="344754" y="289363"/>
                      <a:pt x="337558" y="296560"/>
                      <a:pt x="337558" y="305437"/>
                    </a:cubicBezTo>
                    <a:cubicBezTo>
                      <a:pt x="337558" y="314314"/>
                      <a:pt x="344754" y="321510"/>
                      <a:pt x="353632" y="321510"/>
                    </a:cubicBezTo>
                    <a:lnTo>
                      <a:pt x="369705" y="321510"/>
                    </a:lnTo>
                    <a:cubicBezTo>
                      <a:pt x="374955" y="321503"/>
                      <a:pt x="380199" y="321127"/>
                      <a:pt x="385397" y="320385"/>
                    </a:cubicBezTo>
                    <a:cubicBezTo>
                      <a:pt x="381676" y="354796"/>
                      <a:pt x="351382" y="380086"/>
                      <a:pt x="316860" y="377602"/>
                    </a:cubicBezTo>
                    <a:cubicBezTo>
                      <a:pt x="282337" y="375117"/>
                      <a:pt x="255977" y="345749"/>
                      <a:pt x="257223" y="311160"/>
                    </a:cubicBezTo>
                    <a:cubicBezTo>
                      <a:pt x="258469" y="276571"/>
                      <a:pt x="286873" y="249175"/>
                      <a:pt x="321485" y="249180"/>
                    </a:cubicBezTo>
                    <a:cubicBezTo>
                      <a:pt x="330362" y="249180"/>
                      <a:pt x="337558" y="241983"/>
                      <a:pt x="337558" y="233106"/>
                    </a:cubicBezTo>
                    <a:cubicBezTo>
                      <a:pt x="337558" y="224229"/>
                      <a:pt x="330362" y="217033"/>
                      <a:pt x="321485" y="217033"/>
                    </a:cubicBezTo>
                    <a:cubicBezTo>
                      <a:pt x="297745" y="217015"/>
                      <a:pt x="274841" y="225791"/>
                      <a:pt x="257191" y="241665"/>
                    </a:cubicBezTo>
                    <a:lnTo>
                      <a:pt x="257191" y="104519"/>
                    </a:lnTo>
                    <a:cubicBezTo>
                      <a:pt x="257191" y="69010"/>
                      <a:pt x="285976" y="40225"/>
                      <a:pt x="321485" y="40225"/>
                    </a:cubicBezTo>
                    <a:cubicBezTo>
                      <a:pt x="356993" y="40225"/>
                      <a:pt x="385778" y="69010"/>
                      <a:pt x="385778" y="104519"/>
                    </a:cubicBezTo>
                    <a:lnTo>
                      <a:pt x="385778" y="118040"/>
                    </a:lnTo>
                    <a:cubicBezTo>
                      <a:pt x="385780" y="124848"/>
                      <a:pt x="390070" y="130917"/>
                      <a:pt x="396487" y="133190"/>
                    </a:cubicBezTo>
                    <a:cubicBezTo>
                      <a:pt x="433444" y="146200"/>
                      <a:pt x="455632" y="183964"/>
                      <a:pt x="449010" y="222580"/>
                    </a:cubicBezTo>
                    <a:cubicBezTo>
                      <a:pt x="442388" y="261196"/>
                      <a:pt x="408885" y="289409"/>
                      <a:pt x="369705" y="289363"/>
                    </a:cubicBezTo>
                    <a:close/>
                    <a:moveTo>
                      <a:pt x="401852" y="184886"/>
                    </a:moveTo>
                    <a:cubicBezTo>
                      <a:pt x="401852" y="193763"/>
                      <a:pt x="394656" y="200959"/>
                      <a:pt x="385778" y="200959"/>
                    </a:cubicBezTo>
                    <a:lnTo>
                      <a:pt x="377742" y="200959"/>
                    </a:lnTo>
                    <a:cubicBezTo>
                      <a:pt x="337795" y="200959"/>
                      <a:pt x="305411" y="168576"/>
                      <a:pt x="305411" y="128629"/>
                    </a:cubicBezTo>
                    <a:lnTo>
                      <a:pt x="305411" y="120592"/>
                    </a:lnTo>
                    <a:cubicBezTo>
                      <a:pt x="305411" y="111715"/>
                      <a:pt x="312607" y="104519"/>
                      <a:pt x="321485" y="104519"/>
                    </a:cubicBezTo>
                    <a:cubicBezTo>
                      <a:pt x="330362" y="104519"/>
                      <a:pt x="337558" y="111715"/>
                      <a:pt x="337558" y="120592"/>
                    </a:cubicBezTo>
                    <a:lnTo>
                      <a:pt x="337558" y="128629"/>
                    </a:lnTo>
                    <a:cubicBezTo>
                      <a:pt x="337558" y="150822"/>
                      <a:pt x="355549" y="168812"/>
                      <a:pt x="377742" y="168812"/>
                    </a:cubicBezTo>
                    <a:lnTo>
                      <a:pt x="385778" y="168812"/>
                    </a:lnTo>
                    <a:cubicBezTo>
                      <a:pt x="394656" y="168812"/>
                      <a:pt x="401852" y="176009"/>
                      <a:pt x="401852" y="184886"/>
                    </a:cubicBezTo>
                    <a:close/>
                    <a:moveTo>
                      <a:pt x="104493" y="200959"/>
                    </a:moveTo>
                    <a:lnTo>
                      <a:pt x="96456" y="200959"/>
                    </a:lnTo>
                    <a:cubicBezTo>
                      <a:pt x="87579" y="200959"/>
                      <a:pt x="80382" y="193763"/>
                      <a:pt x="80382" y="184886"/>
                    </a:cubicBezTo>
                    <a:cubicBezTo>
                      <a:pt x="80382" y="176009"/>
                      <a:pt x="87579" y="168812"/>
                      <a:pt x="96456" y="168812"/>
                    </a:cubicBezTo>
                    <a:lnTo>
                      <a:pt x="104493" y="168812"/>
                    </a:lnTo>
                    <a:cubicBezTo>
                      <a:pt x="126686" y="168812"/>
                      <a:pt x="144676" y="150822"/>
                      <a:pt x="144676" y="128629"/>
                    </a:cubicBezTo>
                    <a:lnTo>
                      <a:pt x="144676" y="120592"/>
                    </a:lnTo>
                    <a:cubicBezTo>
                      <a:pt x="144676" y="111715"/>
                      <a:pt x="151873" y="104519"/>
                      <a:pt x="160750" y="104519"/>
                    </a:cubicBezTo>
                    <a:cubicBezTo>
                      <a:pt x="169627" y="104519"/>
                      <a:pt x="176823" y="111715"/>
                      <a:pt x="176823" y="120592"/>
                    </a:cubicBezTo>
                    <a:lnTo>
                      <a:pt x="176823" y="128629"/>
                    </a:lnTo>
                    <a:cubicBezTo>
                      <a:pt x="176823" y="168576"/>
                      <a:pt x="144440" y="200959"/>
                      <a:pt x="104493" y="20095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683508" y="3093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画像理解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865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融合掌握度与行为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86556" y="3920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形成个性化约束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695700" y="4457700"/>
              <a:ext cx="2057400" cy="457200"/>
            </a:xfrm>
            <a:prstGeom prst="roundRect">
              <a:avLst>
                <a:gd name="adj" fmla="val 1458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52551" y="4568190"/>
              <a:ext cx="2343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OUTPUT · 画像快照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62700" y="1600200"/>
            <a:ext cx="2552700" cy="3562350"/>
            <a:chOff x="6362700" y="1600200"/>
            <a:chExt cx="2552700" cy="3562350"/>
          </a:xfrm>
        </p:grpSpPr>
        <p:sp>
          <p:nvSpPr>
            <p:cNvPr id="33" name="Rectangle 33"/>
            <p:cNvSpPr/>
            <p:nvPr/>
          </p:nvSpPr>
          <p:spPr>
            <a:xfrm>
              <a:off x="6362700" y="1600200"/>
              <a:ext cx="2552700" cy="356235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01206" y="1844040"/>
              <a:ext cx="2303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03 / RESOURCEGEN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690717" y="2371261"/>
              <a:ext cx="388715" cy="402897"/>
              <a:chOff x="6690717" y="2371261"/>
              <a:chExt cx="388715" cy="40289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06791" y="2387865"/>
                <a:ext cx="309917" cy="305925"/>
              </a:xfrm>
              <a:custGeom>
                <a:avLst/>
                <a:gdLst/>
                <a:ahLst/>
                <a:cxnLst/>
                <a:rect l="l" t="t" r="r" b="b"/>
                <a:pathLst>
                  <a:path w="309917" h="305925">
                    <a:moveTo>
                      <a:pt x="0" y="80896"/>
                    </a:moveTo>
                    <a:lnTo>
                      <a:pt x="128588" y="80896"/>
                    </a:lnTo>
                    <a:lnTo>
                      <a:pt x="128588" y="305925"/>
                    </a:lnTo>
                    <a:lnTo>
                      <a:pt x="0" y="305925"/>
                    </a:lnTo>
                    <a:close/>
                    <a:moveTo>
                      <a:pt x="286590" y="13368"/>
                    </a:moveTo>
                    <a:cubicBezTo>
                      <a:pt x="285726" y="9175"/>
                      <a:pt x="283225" y="5501"/>
                      <a:pt x="279642" y="3158"/>
                    </a:cubicBezTo>
                    <a:cubicBezTo>
                      <a:pt x="276059" y="816"/>
                      <a:pt x="271690" y="0"/>
                      <a:pt x="267503" y="891"/>
                    </a:cubicBezTo>
                    <a:lnTo>
                      <a:pt x="173453" y="20983"/>
                    </a:lnTo>
                    <a:cubicBezTo>
                      <a:pt x="164749" y="22906"/>
                      <a:pt x="159230" y="31494"/>
                      <a:pt x="161096" y="40210"/>
                    </a:cubicBezTo>
                    <a:lnTo>
                      <a:pt x="184423" y="151218"/>
                    </a:lnTo>
                    <a:lnTo>
                      <a:pt x="309917" y="124255"/>
                    </a:ln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90717" y="2371261"/>
                <a:ext cx="388715" cy="402897"/>
              </a:xfrm>
              <a:custGeom>
                <a:avLst/>
                <a:gdLst/>
                <a:ahLst/>
                <a:cxnLst/>
                <a:rect l="l" t="t" r="r" b="b"/>
                <a:pathLst>
                  <a:path w="388715" h="402897">
                    <a:moveTo>
                      <a:pt x="385060" y="343726"/>
                    </a:moveTo>
                    <a:lnTo>
                      <a:pt x="318375" y="26677"/>
                    </a:lnTo>
                    <a:cubicBezTo>
                      <a:pt x="316633" y="18303"/>
                      <a:pt x="311626" y="10968"/>
                      <a:pt x="304462" y="6296"/>
                    </a:cubicBezTo>
                    <a:cubicBezTo>
                      <a:pt x="297297" y="1624"/>
                      <a:pt x="288566" y="0"/>
                      <a:pt x="280201" y="1783"/>
                    </a:cubicBezTo>
                    <a:lnTo>
                      <a:pt x="186151" y="21995"/>
                    </a:lnTo>
                    <a:cubicBezTo>
                      <a:pt x="168836" y="25787"/>
                      <a:pt x="157809" y="42820"/>
                      <a:pt x="161438" y="60170"/>
                    </a:cubicBezTo>
                    <a:lnTo>
                      <a:pt x="228123" y="377219"/>
                    </a:lnTo>
                    <a:cubicBezTo>
                      <a:pt x="231186" y="392129"/>
                      <a:pt x="244285" y="402846"/>
                      <a:pt x="259506" y="402897"/>
                    </a:cubicBezTo>
                    <a:cubicBezTo>
                      <a:pt x="261789" y="402894"/>
                      <a:pt x="264065" y="402651"/>
                      <a:pt x="266297" y="402173"/>
                    </a:cubicBezTo>
                    <a:lnTo>
                      <a:pt x="360347" y="381961"/>
                    </a:lnTo>
                    <a:cubicBezTo>
                      <a:pt x="377684" y="378161"/>
                      <a:pt x="388715" y="361094"/>
                      <a:pt x="385060" y="343726"/>
                    </a:cubicBezTo>
                    <a:close/>
                    <a:moveTo>
                      <a:pt x="192882" y="53600"/>
                    </a:moveTo>
                    <a:cubicBezTo>
                      <a:pt x="192882" y="53479"/>
                      <a:pt x="192882" y="53419"/>
                      <a:pt x="192882" y="53419"/>
                    </a:cubicBezTo>
                    <a:lnTo>
                      <a:pt x="286912" y="33327"/>
                    </a:lnTo>
                    <a:lnTo>
                      <a:pt x="293602" y="65213"/>
                    </a:lnTo>
                    <a:lnTo>
                      <a:pt x="199572" y="85445"/>
                    </a:lnTo>
                    <a:close/>
                    <a:moveTo>
                      <a:pt x="206183" y="116829"/>
                    </a:moveTo>
                    <a:lnTo>
                      <a:pt x="300253" y="96637"/>
                    </a:lnTo>
                    <a:lnTo>
                      <a:pt x="306963" y="128583"/>
                    </a:lnTo>
                    <a:lnTo>
                      <a:pt x="212974" y="148795"/>
                    </a:lnTo>
                    <a:close/>
                    <a:moveTo>
                      <a:pt x="219523" y="180259"/>
                    </a:moveTo>
                    <a:lnTo>
                      <a:pt x="313594" y="160046"/>
                    </a:lnTo>
                    <a:lnTo>
                      <a:pt x="340316" y="287107"/>
                    </a:lnTo>
                    <a:lnTo>
                      <a:pt x="246246" y="307320"/>
                    </a:lnTo>
                    <a:close/>
                    <a:moveTo>
                      <a:pt x="353616" y="350537"/>
                    </a:moveTo>
                    <a:lnTo>
                      <a:pt x="259587" y="370629"/>
                    </a:lnTo>
                    <a:lnTo>
                      <a:pt x="252896" y="338743"/>
                    </a:lnTo>
                    <a:lnTo>
                      <a:pt x="346926" y="318511"/>
                    </a:lnTo>
                    <a:lnTo>
                      <a:pt x="353616" y="350356"/>
                    </a:lnTo>
                    <a:cubicBezTo>
                      <a:pt x="353616" y="350477"/>
                      <a:pt x="353616" y="350537"/>
                      <a:pt x="353616" y="350537"/>
                    </a:cubicBezTo>
                    <a:close/>
                    <a:moveTo>
                      <a:pt x="128588" y="17133"/>
                    </a:moveTo>
                    <a:lnTo>
                      <a:pt x="32147" y="17133"/>
                    </a:lnTo>
                    <a:cubicBezTo>
                      <a:pt x="14393" y="17133"/>
                      <a:pt x="0" y="31526"/>
                      <a:pt x="0" y="49280"/>
                    </a:cubicBezTo>
                    <a:lnTo>
                      <a:pt x="0" y="370750"/>
                    </a:lnTo>
                    <a:cubicBezTo>
                      <a:pt x="0" y="388504"/>
                      <a:pt x="14393" y="402897"/>
                      <a:pt x="32147" y="402897"/>
                    </a:cubicBezTo>
                    <a:lnTo>
                      <a:pt x="128588" y="402897"/>
                    </a:lnTo>
                    <a:cubicBezTo>
                      <a:pt x="146342" y="402897"/>
                      <a:pt x="160735" y="388504"/>
                      <a:pt x="160735" y="370750"/>
                    </a:cubicBezTo>
                    <a:lnTo>
                      <a:pt x="160735" y="49280"/>
                    </a:lnTo>
                    <a:cubicBezTo>
                      <a:pt x="160735" y="31526"/>
                      <a:pt x="146342" y="17133"/>
                      <a:pt x="128588" y="17133"/>
                    </a:cubicBezTo>
                    <a:close/>
                    <a:moveTo>
                      <a:pt x="32147" y="49280"/>
                    </a:moveTo>
                    <a:lnTo>
                      <a:pt x="128588" y="49280"/>
                    </a:lnTo>
                    <a:lnTo>
                      <a:pt x="128588" y="81427"/>
                    </a:lnTo>
                    <a:lnTo>
                      <a:pt x="32147" y="81427"/>
                    </a:lnTo>
                    <a:close/>
                    <a:moveTo>
                      <a:pt x="32147" y="113574"/>
                    </a:moveTo>
                    <a:lnTo>
                      <a:pt x="128588" y="113574"/>
                    </a:lnTo>
                    <a:lnTo>
                      <a:pt x="128588" y="306456"/>
                    </a:lnTo>
                    <a:lnTo>
                      <a:pt x="32147" y="306456"/>
                    </a:lnTo>
                    <a:close/>
                    <a:moveTo>
                      <a:pt x="128588" y="370750"/>
                    </a:moveTo>
                    <a:lnTo>
                      <a:pt x="32147" y="370750"/>
                    </a:lnTo>
                    <a:lnTo>
                      <a:pt x="32147" y="338603"/>
                    </a:lnTo>
                    <a:lnTo>
                      <a:pt x="128588" y="338603"/>
                    </a:lnTo>
                    <a:lnTo>
                      <a:pt x="128588" y="3707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598158" y="3093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资源生成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120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五类内容并发生成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1206" y="3920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按画像调整难度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10350" y="4457700"/>
              <a:ext cx="2057400" cy="457200"/>
            </a:xfrm>
            <a:prstGeom prst="roundRect">
              <a:avLst>
                <a:gd name="adj" fmla="val 1458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01617" y="4568190"/>
              <a:ext cx="20748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OUTPUT · 资源包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277350" y="1600200"/>
            <a:ext cx="2381250" cy="3562350"/>
            <a:chOff x="9277350" y="1600200"/>
            <a:chExt cx="2381250" cy="3562350"/>
          </a:xfrm>
        </p:grpSpPr>
        <p:sp>
          <p:nvSpPr>
            <p:cNvPr id="44" name="Rectangle 44"/>
            <p:cNvSpPr/>
            <p:nvPr/>
          </p:nvSpPr>
          <p:spPr>
            <a:xfrm>
              <a:off x="9277350" y="1600200"/>
              <a:ext cx="2381250" cy="3562350"/>
            </a:xfrm>
            <a:prstGeom prst="roundRect">
              <a:avLst>
                <a:gd name="adj" fmla="val 4800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15856" y="1844040"/>
              <a:ext cx="18060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04 / PATHPUSH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9573220" y="2420541"/>
              <a:ext cx="420451" cy="374377"/>
              <a:chOff x="9573220" y="2420541"/>
              <a:chExt cx="420451" cy="37437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9878616" y="2677716"/>
                <a:ext cx="96441" cy="96441"/>
              </a:xfrm>
              <a:custGeom>
                <a:avLst/>
                <a:gdLst/>
                <a:ahLst/>
                <a:cxnLst/>
                <a:rect l="l" t="t" r="r" b="b"/>
                <a:pathLst>
                  <a:path w="96441" h="96441">
                    <a:moveTo>
                      <a:pt x="96441" y="48220"/>
                    </a:moveTo>
                    <a:cubicBezTo>
                      <a:pt x="96441" y="74852"/>
                      <a:pt x="74852" y="96441"/>
                      <a:pt x="48220" y="96441"/>
                    </a:cubicBezTo>
                    <a:cubicBezTo>
                      <a:pt x="21589" y="96441"/>
                      <a:pt x="0" y="74852"/>
                      <a:pt x="0" y="48220"/>
                    </a:cubicBezTo>
                    <a:cubicBezTo>
                      <a:pt x="0" y="21589"/>
                      <a:pt x="21589" y="0"/>
                      <a:pt x="48220" y="0"/>
                    </a:cubicBezTo>
                    <a:cubicBezTo>
                      <a:pt x="74852" y="0"/>
                      <a:pt x="96441" y="21589"/>
                      <a:pt x="96441" y="48220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573220" y="2420541"/>
                <a:ext cx="420451" cy="374377"/>
              </a:xfrm>
              <a:custGeom>
                <a:avLst/>
                <a:gdLst/>
                <a:ahLst/>
                <a:cxnLst/>
                <a:rect l="l" t="t" r="r" b="b"/>
                <a:pathLst>
                  <a:path w="420451" h="374377">
                    <a:moveTo>
                      <a:pt x="353616" y="241102"/>
                    </a:moveTo>
                    <a:cubicBezTo>
                      <a:pt x="324301" y="241130"/>
                      <a:pt x="298702" y="260949"/>
                      <a:pt x="291332" y="289323"/>
                    </a:cubicBezTo>
                    <a:lnTo>
                      <a:pt x="96441" y="289323"/>
                    </a:lnTo>
                    <a:cubicBezTo>
                      <a:pt x="60932" y="289323"/>
                      <a:pt x="32147" y="260537"/>
                      <a:pt x="32147" y="225029"/>
                    </a:cubicBezTo>
                    <a:cubicBezTo>
                      <a:pt x="32147" y="189520"/>
                      <a:pt x="60932" y="160735"/>
                      <a:pt x="96441" y="160735"/>
                    </a:cubicBezTo>
                    <a:lnTo>
                      <a:pt x="289323" y="160735"/>
                    </a:lnTo>
                    <a:cubicBezTo>
                      <a:pt x="333708" y="160735"/>
                      <a:pt x="369690" y="124753"/>
                      <a:pt x="369690" y="80367"/>
                    </a:cubicBezTo>
                    <a:cubicBezTo>
                      <a:pt x="369690" y="35982"/>
                      <a:pt x="333708" y="0"/>
                      <a:pt x="289323" y="0"/>
                    </a:cubicBezTo>
                    <a:lnTo>
                      <a:pt x="96441" y="0"/>
                    </a:lnTo>
                    <a:cubicBezTo>
                      <a:pt x="87564" y="0"/>
                      <a:pt x="80367" y="7196"/>
                      <a:pt x="80367" y="16073"/>
                    </a:cubicBezTo>
                    <a:cubicBezTo>
                      <a:pt x="80367" y="24951"/>
                      <a:pt x="87564" y="32147"/>
                      <a:pt x="96441" y="32147"/>
                    </a:cubicBezTo>
                    <a:lnTo>
                      <a:pt x="289323" y="32147"/>
                    </a:lnTo>
                    <a:cubicBezTo>
                      <a:pt x="315954" y="32147"/>
                      <a:pt x="337543" y="53736"/>
                      <a:pt x="337543" y="80367"/>
                    </a:cubicBezTo>
                    <a:cubicBezTo>
                      <a:pt x="337543" y="106999"/>
                      <a:pt x="315954" y="128588"/>
                      <a:pt x="289323" y="128588"/>
                    </a:cubicBezTo>
                    <a:lnTo>
                      <a:pt x="96441" y="128588"/>
                    </a:lnTo>
                    <a:cubicBezTo>
                      <a:pt x="43178" y="128588"/>
                      <a:pt x="0" y="171766"/>
                      <a:pt x="0" y="225029"/>
                    </a:cubicBezTo>
                    <a:cubicBezTo>
                      <a:pt x="0" y="278291"/>
                      <a:pt x="43178" y="321470"/>
                      <a:pt x="96441" y="321470"/>
                    </a:cubicBezTo>
                    <a:lnTo>
                      <a:pt x="291332" y="321470"/>
                    </a:lnTo>
                    <a:cubicBezTo>
                      <a:pt x="299684" y="353816"/>
                      <a:pt x="331417" y="374377"/>
                      <a:pt x="364353" y="368782"/>
                    </a:cubicBezTo>
                    <a:cubicBezTo>
                      <a:pt x="397288" y="363186"/>
                      <a:pt x="420451" y="333299"/>
                      <a:pt x="417652" y="300009"/>
                    </a:cubicBezTo>
                    <a:cubicBezTo>
                      <a:pt x="414853" y="266719"/>
                      <a:pt x="387024" y="241119"/>
                      <a:pt x="353616" y="241102"/>
                    </a:cubicBezTo>
                    <a:close/>
                    <a:moveTo>
                      <a:pt x="353616" y="337543"/>
                    </a:moveTo>
                    <a:cubicBezTo>
                      <a:pt x="335862" y="337543"/>
                      <a:pt x="321470" y="323150"/>
                      <a:pt x="321470" y="305396"/>
                    </a:cubicBezTo>
                    <a:cubicBezTo>
                      <a:pt x="321470" y="287642"/>
                      <a:pt x="335862" y="273249"/>
                      <a:pt x="353616" y="273249"/>
                    </a:cubicBezTo>
                    <a:cubicBezTo>
                      <a:pt x="371371" y="273249"/>
                      <a:pt x="385763" y="287642"/>
                      <a:pt x="385763" y="305396"/>
                    </a:cubicBezTo>
                    <a:cubicBezTo>
                      <a:pt x="385763" y="323150"/>
                      <a:pt x="371371" y="337543"/>
                      <a:pt x="353616" y="3375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512808" y="30937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路径推送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158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阶段化排序知识点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15856" y="39204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绑定精准资源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525000" y="4457700"/>
              <a:ext cx="1885950" cy="457200"/>
            </a:xfrm>
            <a:prstGeom prst="roundRect">
              <a:avLst>
                <a:gd name="adj" fmla="val 14583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296126" y="4568190"/>
              <a:ext cx="2343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OUTPUT · 学习路径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247900" y="5486400"/>
            <a:ext cx="7696200" cy="581787"/>
            <a:chOff x="2247900" y="5486400"/>
            <a:chExt cx="7696200" cy="581787"/>
          </a:xfrm>
        </p:grpSpPr>
        <p:sp>
          <p:nvSpPr>
            <p:cNvPr id="55" name="Rectangle 55"/>
            <p:cNvSpPr/>
            <p:nvPr/>
          </p:nvSpPr>
          <p:spPr>
            <a:xfrm>
              <a:off x="2247900" y="5486400"/>
              <a:ext cx="769620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553127" y="5598795"/>
              <a:ext cx="70857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LANGGRAPH SHARED STATE · MEMORY SAVER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8" name="TextBox 58"/>
            <p:cNvSpPr txBox="1"/>
            <p:nvPr/>
          </p:nvSpPr>
          <p:spPr>
            <a:xfrm>
              <a:off x="526542" y="6388418"/>
              <a:ext cx="44480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实现证据：app/services/multi_agent/workflow.py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07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9096756" cy="1082802"/>
            <a:chOff x="514350" y="251460"/>
            <a:chExt cx="9096756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89432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生成过程可追踪，而不是黑盒等待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90708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用户能看到进度、取消任务、回看结果，系统也能定位失败阶段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209800" y="2857500"/>
            <a:ext cx="8115300" cy="1"/>
            <a:chOff x="2209800" y="2857500"/>
            <a:chExt cx="8115300" cy="1"/>
          </a:xfrm>
        </p:grpSpPr>
        <p:sp>
          <p:nvSpPr>
            <p:cNvPr id="5" name="Line 5"/>
            <p:cNvSpPr/>
            <p:nvPr/>
          </p:nvSpPr>
          <p:spPr>
            <a:xfrm>
              <a:off x="2209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" name="Line 6"/>
            <p:cNvSpPr/>
            <p:nvPr/>
          </p:nvSpPr>
          <p:spPr>
            <a:xfrm>
              <a:off x="4114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7" name="Line 7"/>
            <p:cNvSpPr/>
            <p:nvPr/>
          </p:nvSpPr>
          <p:spPr>
            <a:xfrm>
              <a:off x="6019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8" name="Line 8"/>
            <p:cNvSpPr/>
            <p:nvPr/>
          </p:nvSpPr>
          <p:spPr>
            <a:xfrm>
              <a:off x="7924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9829800" y="2857500"/>
              <a:ext cx="495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32409" y="2133600"/>
            <a:ext cx="1906981" cy="1986534"/>
            <a:chOff x="532409" y="2133600"/>
            <a:chExt cx="1906981" cy="1986534"/>
          </a:xfrm>
        </p:grpSpPr>
        <p:sp>
          <p:nvSpPr>
            <p:cNvPr id="11" name="Ellipse 11"/>
            <p:cNvSpPr/>
            <p:nvPr/>
          </p:nvSpPr>
          <p:spPr>
            <a:xfrm>
              <a:off x="762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62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7892" y="2891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创建任务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409" y="3768090"/>
              <a:ext cx="1906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POST /generate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631182" y="2133600"/>
            <a:ext cx="1519436" cy="1986534"/>
            <a:chOff x="2631182" y="2133600"/>
            <a:chExt cx="1519436" cy="1986534"/>
          </a:xfrm>
        </p:grpSpPr>
        <p:sp>
          <p:nvSpPr>
            <p:cNvPr id="16" name="Ellipse 16"/>
            <p:cNvSpPr/>
            <p:nvPr/>
          </p:nvSpPr>
          <p:spPr>
            <a:xfrm>
              <a:off x="2667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67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1182" y="2891790"/>
              <a:ext cx="1519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 task_id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54808" y="3768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独立追踪标识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59808" y="2133600"/>
            <a:ext cx="1472184" cy="1986534"/>
            <a:chOff x="4559808" y="2133600"/>
            <a:chExt cx="1472184" cy="1986534"/>
          </a:xfrm>
        </p:grpSpPr>
        <p:sp>
          <p:nvSpPr>
            <p:cNvPr id="21" name="Ellipse 21"/>
            <p:cNvSpPr/>
            <p:nvPr/>
          </p:nvSpPr>
          <p:spPr>
            <a:xfrm>
              <a:off x="4572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72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5810" y="2891790"/>
              <a:ext cx="10801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SSE 进度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59808" y="3768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阶段与百分比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5781" y="2133600"/>
            <a:ext cx="1450238" cy="1986534"/>
            <a:chOff x="6475781" y="2133600"/>
            <a:chExt cx="1450238" cy="1986534"/>
          </a:xfrm>
        </p:grpSpPr>
        <p:sp>
          <p:nvSpPr>
            <p:cNvPr id="26" name="Ellipse 26"/>
            <p:cNvSpPr/>
            <p:nvPr/>
          </p:nvSpPr>
          <p:spPr>
            <a:xfrm>
              <a:off x="6477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77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82892" y="2891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状态查询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5781" y="3768090"/>
              <a:ext cx="14502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GET /status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82000" y="2133600"/>
            <a:ext cx="1447800" cy="1986534"/>
            <a:chOff x="8382000" y="2133600"/>
            <a:chExt cx="1447800" cy="1986534"/>
          </a:xfrm>
        </p:grpSpPr>
        <p:sp>
          <p:nvSpPr>
            <p:cNvPr id="31" name="Ellipse 31"/>
            <p:cNvSpPr/>
            <p:nvPr/>
          </p:nvSpPr>
          <p:spPr>
            <a:xfrm>
              <a:off x="8382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82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87892" y="2891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主动取消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12124" y="3768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异常可控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287000" y="2133600"/>
            <a:ext cx="1447800" cy="1986534"/>
            <a:chOff x="10287000" y="2133600"/>
            <a:chExt cx="1447800" cy="1986534"/>
          </a:xfrm>
        </p:grpSpPr>
        <p:sp>
          <p:nvSpPr>
            <p:cNvPr id="36" name="Ellipse 36"/>
            <p:cNvSpPr/>
            <p:nvPr/>
          </p:nvSpPr>
          <p:spPr>
            <a:xfrm>
              <a:off x="10287000" y="213360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787278" y="24326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06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92892" y="28917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结果回看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95966" y="37680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列表与详情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28750" y="4762500"/>
            <a:ext cx="9334500" cy="900684"/>
            <a:chOff x="1428750" y="4762500"/>
            <a:chExt cx="9334500" cy="900684"/>
          </a:xfrm>
        </p:grpSpPr>
        <p:sp>
          <p:nvSpPr>
            <p:cNvPr id="41" name="Rectangle 41"/>
            <p:cNvSpPr/>
            <p:nvPr/>
          </p:nvSpPr>
          <p:spPr>
            <a:xfrm>
              <a:off x="1428750" y="4762500"/>
              <a:ext cx="9334500" cy="895350"/>
            </a:xfrm>
            <a:prstGeom prst="roundRect">
              <a:avLst>
                <a:gd name="adj" fmla="val 12766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828800" y="5053012"/>
              <a:ext cx="342900" cy="357674"/>
              <a:chOff x="1828800" y="5053012"/>
              <a:chExt cx="342900" cy="357674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843088" y="5067300"/>
                <a:ext cx="314325" cy="328827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28827">
                    <a:moveTo>
                      <a:pt x="314325" y="14288"/>
                    </a:moveTo>
                    <a:lnTo>
                      <a:pt x="314325" y="119247"/>
                    </a:lnTo>
                    <a:cubicBezTo>
                      <a:pt x="314325" y="269587"/>
                      <a:pt x="186970" y="319397"/>
                      <a:pt x="161556" y="327845"/>
                    </a:cubicBezTo>
                    <a:cubicBezTo>
                      <a:pt x="158709" y="328827"/>
                      <a:pt x="155616" y="328827"/>
                      <a:pt x="152769" y="327845"/>
                    </a:cubicBezTo>
                    <a:cubicBezTo>
                      <a:pt x="127355" y="319433"/>
                      <a:pt x="0" y="269677"/>
                      <a:pt x="0" y="119283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300038" y="0"/>
                    </a:lnTo>
                    <a:cubicBezTo>
                      <a:pt x="307928" y="0"/>
                      <a:pt x="314325" y="6397"/>
                      <a:pt x="314325" y="14288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828800" y="5053012"/>
                <a:ext cx="342900" cy="357674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57674">
                    <a:moveTo>
                      <a:pt x="31432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  <a:lnTo>
                      <a:pt x="0" y="133552"/>
                    </a:lnTo>
                    <a:cubicBezTo>
                      <a:pt x="0" y="293590"/>
                      <a:pt x="135410" y="346686"/>
                      <a:pt x="162520" y="355705"/>
                    </a:cubicBezTo>
                    <a:cubicBezTo>
                      <a:pt x="168311" y="357674"/>
                      <a:pt x="174589" y="357674"/>
                      <a:pt x="180380" y="355705"/>
                    </a:cubicBezTo>
                    <a:cubicBezTo>
                      <a:pt x="207526" y="346686"/>
                      <a:pt x="342900" y="293590"/>
                      <a:pt x="342900" y="133552"/>
                    </a:cubicBezTo>
                    <a:lnTo>
                      <a:pt x="342900" y="28575"/>
                    </a:lnTo>
                    <a:cubicBezTo>
                      <a:pt x="342900" y="12793"/>
                      <a:pt x="330107" y="0"/>
                      <a:pt x="314325" y="0"/>
                    </a:cubicBezTo>
                    <a:close/>
                    <a:moveTo>
                      <a:pt x="314325" y="133570"/>
                    </a:moveTo>
                    <a:cubicBezTo>
                      <a:pt x="314325" y="273623"/>
                      <a:pt x="195828" y="320415"/>
                      <a:pt x="171450" y="328559"/>
                    </a:cubicBezTo>
                    <a:cubicBezTo>
                      <a:pt x="147286" y="320504"/>
                      <a:pt x="28575" y="273749"/>
                      <a:pt x="28575" y="133570"/>
                    </a:cubicBezTo>
                    <a:lnTo>
                      <a:pt x="28575" y="28575"/>
                    </a:lnTo>
                    <a:lnTo>
                      <a:pt x="314325" y="28575"/>
                    </a:lnTo>
                    <a:close/>
                    <a:moveTo>
                      <a:pt x="89904" y="181558"/>
                    </a:moveTo>
                    <a:cubicBezTo>
                      <a:pt x="84321" y="175976"/>
                      <a:pt x="84321" y="166924"/>
                      <a:pt x="89904" y="161342"/>
                    </a:cubicBezTo>
                    <a:cubicBezTo>
                      <a:pt x="95487" y="155759"/>
                      <a:pt x="104538" y="155759"/>
                      <a:pt x="110121" y="161342"/>
                    </a:cubicBezTo>
                    <a:lnTo>
                      <a:pt x="142875" y="194096"/>
                    </a:lnTo>
                    <a:lnTo>
                      <a:pt x="232779" y="104192"/>
                    </a:lnTo>
                    <a:cubicBezTo>
                      <a:pt x="238362" y="98609"/>
                      <a:pt x="247413" y="98609"/>
                      <a:pt x="252996" y="104192"/>
                    </a:cubicBezTo>
                    <a:cubicBezTo>
                      <a:pt x="258579" y="109774"/>
                      <a:pt x="258579" y="118826"/>
                      <a:pt x="252996" y="124408"/>
                    </a:cubicBezTo>
                    <a:lnTo>
                      <a:pt x="152983" y="224421"/>
                    </a:lnTo>
                    <a:cubicBezTo>
                      <a:pt x="150304" y="227104"/>
                      <a:pt x="146667" y="228611"/>
                      <a:pt x="142875" y="228611"/>
                    </a:cubicBezTo>
                    <a:cubicBezTo>
                      <a:pt x="139083" y="228611"/>
                      <a:pt x="135446" y="227104"/>
                      <a:pt x="132767" y="22442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2445258" y="4912995"/>
              <a:ext cx="38069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可解释体验 + 可诊断工程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48306" y="531114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同一条任务轨迹同时服务用户信任与开发运维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526542" y="6388418"/>
              <a:ext cx="34303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实现证据：app/api/endpoints/agent.py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724236" cy="1082802"/>
            <a:chOff x="514350" y="251460"/>
            <a:chExt cx="10724236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7242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八维动态画像，是所有智能体的共同状态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62276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既描述“学得怎样”，也描述“如何学得更好”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057650" y="1657350"/>
            <a:ext cx="4076700" cy="4076700"/>
            <a:chOff x="4057650" y="1657350"/>
            <a:chExt cx="4076700" cy="4076700"/>
          </a:xfrm>
        </p:grpSpPr>
        <p:sp>
          <p:nvSpPr>
            <p:cNvPr id="5" name="Ellipse 5"/>
            <p:cNvSpPr/>
            <p:nvPr/>
          </p:nvSpPr>
          <p:spPr>
            <a:xfrm>
              <a:off x="4057650" y="1657350"/>
              <a:ext cx="4076700" cy="4076700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  <a:custDash>
                <a:ds d="400000" sp="300000"/>
              </a:custDash>
            </a:ln>
          </p:spPr>
        </p:sp>
        <p:sp>
          <p:nvSpPr>
            <p:cNvPr id="6" name="Ellipse 6"/>
            <p:cNvSpPr/>
            <p:nvPr/>
          </p:nvSpPr>
          <p:spPr>
            <a:xfrm>
              <a:off x="5029200" y="2628900"/>
              <a:ext cx="2133600" cy="21336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5832871" y="3146474"/>
              <a:ext cx="526262" cy="508879"/>
              <a:chOff x="5832871" y="3146474"/>
              <a:chExt cx="526262" cy="50887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853112" y="3167062"/>
                <a:ext cx="4857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485775" h="161925">
                    <a:moveTo>
                      <a:pt x="485775" y="80962"/>
                    </a:moveTo>
                    <a:lnTo>
                      <a:pt x="242888" y="161925"/>
                    </a:lnTo>
                    <a:lnTo>
                      <a:pt x="0" y="80962"/>
                    </a:lnTo>
                    <a:lnTo>
                      <a:pt x="242888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832871" y="3146474"/>
                <a:ext cx="526262" cy="508879"/>
              </a:xfrm>
              <a:custGeom>
                <a:avLst/>
                <a:gdLst/>
                <a:ahLst/>
                <a:cxnLst/>
                <a:rect l="l" t="t" r="r" b="b"/>
                <a:pathLst>
                  <a:path w="526262" h="508879">
                    <a:moveTo>
                      <a:pt x="512418" y="82348"/>
                    </a:moveTo>
                    <a:lnTo>
                      <a:pt x="269530" y="1385"/>
                    </a:lnTo>
                    <a:cubicBezTo>
                      <a:pt x="265375" y="0"/>
                      <a:pt x="260883" y="0"/>
                      <a:pt x="256728" y="1385"/>
                    </a:cubicBezTo>
                    <a:lnTo>
                      <a:pt x="13840" y="82348"/>
                    </a:lnTo>
                    <a:cubicBezTo>
                      <a:pt x="6338" y="84878"/>
                      <a:pt x="1000" y="91551"/>
                      <a:pt x="178" y="99426"/>
                    </a:cubicBezTo>
                    <a:cubicBezTo>
                      <a:pt x="59" y="100128"/>
                      <a:pt x="0" y="100839"/>
                      <a:pt x="1" y="101551"/>
                    </a:cubicBezTo>
                    <a:lnTo>
                      <a:pt x="1" y="303957"/>
                    </a:lnTo>
                    <a:cubicBezTo>
                      <a:pt x="1" y="315136"/>
                      <a:pt x="9063" y="324198"/>
                      <a:pt x="20242" y="324198"/>
                    </a:cubicBezTo>
                    <a:cubicBezTo>
                      <a:pt x="31420" y="324198"/>
                      <a:pt x="40482" y="315136"/>
                      <a:pt x="40482" y="303957"/>
                    </a:cubicBezTo>
                    <a:lnTo>
                      <a:pt x="40482" y="129635"/>
                    </a:lnTo>
                    <a:lnTo>
                      <a:pt x="125467" y="157946"/>
                    </a:lnTo>
                    <a:cubicBezTo>
                      <a:pt x="78452" y="233903"/>
                      <a:pt x="101830" y="333586"/>
                      <a:pt x="177714" y="380720"/>
                    </a:cubicBezTo>
                    <a:cubicBezTo>
                      <a:pt x="132172" y="398582"/>
                      <a:pt x="92804" y="430891"/>
                      <a:pt x="64012" y="475066"/>
                    </a:cubicBezTo>
                    <a:cubicBezTo>
                      <a:pt x="59937" y="481123"/>
                      <a:pt x="59439" y="488905"/>
                      <a:pt x="62709" y="495432"/>
                    </a:cubicBezTo>
                    <a:cubicBezTo>
                      <a:pt x="65979" y="501959"/>
                      <a:pt x="72511" y="506219"/>
                      <a:pt x="79802" y="506581"/>
                    </a:cubicBezTo>
                    <a:cubicBezTo>
                      <a:pt x="87093" y="506943"/>
                      <a:pt x="94015" y="503350"/>
                      <a:pt x="97915" y="497179"/>
                    </a:cubicBezTo>
                    <a:cubicBezTo>
                      <a:pt x="136043" y="438684"/>
                      <a:pt x="196259" y="405160"/>
                      <a:pt x="263129" y="405160"/>
                    </a:cubicBezTo>
                    <a:cubicBezTo>
                      <a:pt x="329999" y="405160"/>
                      <a:pt x="390215" y="438684"/>
                      <a:pt x="428343" y="497179"/>
                    </a:cubicBezTo>
                    <a:cubicBezTo>
                      <a:pt x="434520" y="506360"/>
                      <a:pt x="446926" y="508879"/>
                      <a:pt x="456194" y="502833"/>
                    </a:cubicBezTo>
                    <a:cubicBezTo>
                      <a:pt x="465462" y="496788"/>
                      <a:pt x="468158" y="484420"/>
                      <a:pt x="462246" y="475066"/>
                    </a:cubicBezTo>
                    <a:cubicBezTo>
                      <a:pt x="433454" y="430891"/>
                      <a:pt x="393934" y="398582"/>
                      <a:pt x="348544" y="380720"/>
                    </a:cubicBezTo>
                    <a:cubicBezTo>
                      <a:pt x="424351" y="333591"/>
                      <a:pt x="447720" y="234003"/>
                      <a:pt x="400791" y="158073"/>
                    </a:cubicBezTo>
                    <a:lnTo>
                      <a:pt x="512418" y="120881"/>
                    </a:lnTo>
                    <a:cubicBezTo>
                      <a:pt x="520685" y="118127"/>
                      <a:pt x="526262" y="110391"/>
                      <a:pt x="526262" y="101677"/>
                    </a:cubicBezTo>
                    <a:cubicBezTo>
                      <a:pt x="526262" y="92964"/>
                      <a:pt x="520685" y="85228"/>
                      <a:pt x="512418" y="82474"/>
                    </a:cubicBezTo>
                    <a:close/>
                    <a:moveTo>
                      <a:pt x="384573" y="243235"/>
                    </a:moveTo>
                    <a:cubicBezTo>
                      <a:pt x="384588" y="295948"/>
                      <a:pt x="350596" y="342652"/>
                      <a:pt x="300431" y="358843"/>
                    </a:cubicBezTo>
                    <a:cubicBezTo>
                      <a:pt x="250266" y="375034"/>
                      <a:pt x="195384" y="357014"/>
                      <a:pt x="164580" y="314239"/>
                    </a:cubicBezTo>
                    <a:cubicBezTo>
                      <a:pt x="133775" y="271463"/>
                      <a:pt x="134083" y="213700"/>
                      <a:pt x="165341" y="171255"/>
                    </a:cubicBezTo>
                    <a:lnTo>
                      <a:pt x="256728" y="201615"/>
                    </a:lnTo>
                    <a:cubicBezTo>
                      <a:pt x="260883" y="203001"/>
                      <a:pt x="265375" y="203001"/>
                      <a:pt x="269530" y="201615"/>
                    </a:cubicBezTo>
                    <a:lnTo>
                      <a:pt x="360917" y="171255"/>
                    </a:lnTo>
                    <a:cubicBezTo>
                      <a:pt x="376294" y="192102"/>
                      <a:pt x="384585" y="217330"/>
                      <a:pt x="384573" y="243235"/>
                    </a:cubicBezTo>
                    <a:close/>
                    <a:moveTo>
                      <a:pt x="263129" y="161185"/>
                    </a:moveTo>
                    <a:lnTo>
                      <a:pt x="84252" y="101551"/>
                    </a:lnTo>
                    <a:lnTo>
                      <a:pt x="263129" y="41917"/>
                    </a:lnTo>
                    <a:lnTo>
                      <a:pt x="442006" y="10155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5509812" y="380428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学习者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59908" y="4244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动态画像快照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57750" y="1466850"/>
            <a:ext cx="2476500" cy="1162050"/>
            <a:chOff x="4857750" y="1466850"/>
            <a:chExt cx="2476500" cy="1162050"/>
          </a:xfrm>
        </p:grpSpPr>
        <p:sp>
          <p:nvSpPr>
            <p:cNvPr id="13" name="Line 13"/>
            <p:cNvSpPr/>
            <p:nvPr/>
          </p:nvSpPr>
          <p:spPr>
            <a:xfrm>
              <a:off x="6096000" y="184785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7810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857750" y="146685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50776" y="16535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知识掌握度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48475" y="1695450"/>
            <a:ext cx="3743325" cy="1247775"/>
            <a:chOff x="6848475" y="1695450"/>
            <a:chExt cx="3743325" cy="1247775"/>
          </a:xfrm>
        </p:grpSpPr>
        <p:sp>
          <p:nvSpPr>
            <p:cNvPr id="17" name="Line 17"/>
            <p:cNvSpPr/>
            <p:nvPr/>
          </p:nvSpPr>
          <p:spPr>
            <a:xfrm>
              <a:off x="6848475" y="2095500"/>
              <a:ext cx="1247775" cy="847725"/>
            </a:xfrm>
            <a:custGeom>
              <a:avLst/>
              <a:gdLst/>
              <a:ahLst/>
              <a:cxnLst/>
              <a:rect l="l" t="t" r="r" b="b"/>
              <a:pathLst>
                <a:path w="1247775" h="847725">
                  <a:moveTo>
                    <a:pt x="0" y="847725"/>
                  </a:moveTo>
                  <a:lnTo>
                    <a:pt x="1247775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020050" y="1695450"/>
              <a:ext cx="257175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7917" y="1882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认知风格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62800" y="3390900"/>
            <a:ext cx="4191000" cy="609600"/>
            <a:chOff x="7162800" y="3390900"/>
            <a:chExt cx="4191000" cy="609600"/>
          </a:xfrm>
        </p:grpSpPr>
        <p:sp>
          <p:nvSpPr>
            <p:cNvPr id="21" name="Line 21"/>
            <p:cNvSpPr/>
            <p:nvPr/>
          </p:nvSpPr>
          <p:spPr>
            <a:xfrm>
              <a:off x="7162800" y="36957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686800" y="3390900"/>
              <a:ext cx="2667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75076" y="3577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易错与偏好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48475" y="4448175"/>
            <a:ext cx="3743325" cy="1247775"/>
            <a:chOff x="6848475" y="4448175"/>
            <a:chExt cx="3743325" cy="1247775"/>
          </a:xfrm>
        </p:grpSpPr>
        <p:sp>
          <p:nvSpPr>
            <p:cNvPr id="25" name="Line 25"/>
            <p:cNvSpPr/>
            <p:nvPr/>
          </p:nvSpPr>
          <p:spPr>
            <a:xfrm>
              <a:off x="6848475" y="4448175"/>
              <a:ext cx="1247775" cy="847725"/>
            </a:xfrm>
            <a:custGeom>
              <a:avLst/>
              <a:gdLst/>
              <a:ahLst/>
              <a:cxnLst/>
              <a:rect l="l" t="t" r="r" b="b"/>
              <a:pathLst>
                <a:path w="1247775" h="847725">
                  <a:moveTo>
                    <a:pt x="0" y="0"/>
                  </a:moveTo>
                  <a:lnTo>
                    <a:pt x="1247775" y="847725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20050" y="5086350"/>
              <a:ext cx="257175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60702" y="52730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多模态偏好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857750" y="4762500"/>
            <a:ext cx="2476500" cy="1238250"/>
            <a:chOff x="4857750" y="4762500"/>
            <a:chExt cx="2476500" cy="1238250"/>
          </a:xfrm>
        </p:grpSpPr>
        <p:sp>
          <p:nvSpPr>
            <p:cNvPr id="29" name="Line 29"/>
            <p:cNvSpPr/>
            <p:nvPr/>
          </p:nvSpPr>
          <p:spPr>
            <a:xfrm>
              <a:off x="6096000" y="47625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57750" y="5391150"/>
              <a:ext cx="24765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77992" y="5577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活跃时段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00200" y="4448175"/>
            <a:ext cx="3743325" cy="1247775"/>
            <a:chOff x="1600200" y="4448175"/>
            <a:chExt cx="3743325" cy="1247775"/>
          </a:xfrm>
        </p:grpSpPr>
        <p:sp>
          <p:nvSpPr>
            <p:cNvPr id="33" name="Line 33"/>
            <p:cNvSpPr/>
            <p:nvPr/>
          </p:nvSpPr>
          <p:spPr>
            <a:xfrm>
              <a:off x="4095750" y="4448175"/>
              <a:ext cx="1247775" cy="847725"/>
            </a:xfrm>
            <a:custGeom>
              <a:avLst/>
              <a:gdLst/>
              <a:ahLst/>
              <a:cxnLst/>
              <a:rect l="l" t="t" r="r" b="b"/>
              <a:pathLst>
                <a:path w="1247775" h="847725">
                  <a:moveTo>
                    <a:pt x="1247775" y="0"/>
                  </a:moveTo>
                  <a:lnTo>
                    <a:pt x="0" y="8477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00200" y="5086350"/>
              <a:ext cx="257175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368067" y="5273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学习节奏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38200" y="3390900"/>
            <a:ext cx="4191000" cy="609600"/>
            <a:chOff x="838200" y="3390900"/>
            <a:chExt cx="4191000" cy="609600"/>
          </a:xfrm>
        </p:grpSpPr>
        <p:sp>
          <p:nvSpPr>
            <p:cNvPr id="37" name="Line 37"/>
            <p:cNvSpPr/>
            <p:nvPr/>
          </p:nvSpPr>
          <p:spPr>
            <a:xfrm>
              <a:off x="3429000" y="36957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16002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8200" y="3390900"/>
              <a:ext cx="266700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26476" y="35775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元认知校准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00200" y="1695450"/>
            <a:ext cx="3743325" cy="1247775"/>
            <a:chOff x="1600200" y="1695450"/>
            <a:chExt cx="3743325" cy="1247775"/>
          </a:xfrm>
        </p:grpSpPr>
        <p:sp>
          <p:nvSpPr>
            <p:cNvPr id="41" name="Line 41"/>
            <p:cNvSpPr/>
            <p:nvPr/>
          </p:nvSpPr>
          <p:spPr>
            <a:xfrm>
              <a:off x="4095750" y="2095500"/>
              <a:ext cx="1247775" cy="847725"/>
            </a:xfrm>
            <a:custGeom>
              <a:avLst/>
              <a:gdLst/>
              <a:ahLst/>
              <a:cxnLst/>
              <a:rect l="l" t="t" r="r" b="b"/>
              <a:pathLst>
                <a:path w="1247775" h="847725">
                  <a:moveTo>
                    <a:pt x="1247775" y="8477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00200" y="1695450"/>
              <a:ext cx="2571750" cy="609600"/>
            </a:xfrm>
            <a:prstGeom prst="roundRect">
              <a:avLst>
                <a:gd name="adj" fmla="val 1562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240851" y="18821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注意力特征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5" name="TextBox 45"/>
            <p:cNvSpPr txBox="1"/>
            <p:nvPr/>
          </p:nvSpPr>
          <p:spPr>
            <a:xfrm>
              <a:off x="526542" y="6388418"/>
              <a:ext cx="3710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画像维度来自项目当前 PRD 与实现数据链路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09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9536887" cy="1082802"/>
            <a:chOff x="514350" y="251460"/>
            <a:chExt cx="9536887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953688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个性化不是一次设置，而是持续更新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132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每次学习行为，都成为下一次生成与推荐的新依据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524250" y="1238250"/>
            <a:ext cx="5143500" cy="5143500"/>
            <a:chOff x="3524250" y="1238250"/>
            <a:chExt cx="5143500" cy="5143500"/>
          </a:xfrm>
        </p:grpSpPr>
        <p:sp>
          <p:nvSpPr>
            <p:cNvPr id="5" name="Ellipse 5"/>
            <p:cNvSpPr/>
            <p:nvPr/>
          </p:nvSpPr>
          <p:spPr>
            <a:xfrm>
              <a:off x="3524250" y="1238250"/>
              <a:ext cx="5143500" cy="5143500"/>
            </a:xfrm>
            <a:prstGeom prst="ellipse">
              <a:avLst/>
            </a:prstGeom>
            <a:gradFill>
              <a:gsLst>
                <a:gs pos="0">
                  <a:schemeClr val="accent1">
                    <a:alpha val="18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4019550" y="1733550"/>
              <a:ext cx="4152900" cy="4152900"/>
            </a:xfrm>
            <a:prstGeom prst="ellipse">
              <a:avLst/>
            </a:prstGeom>
            <a:noFill/>
            <a:ln w="19050">
              <a:solidFill>
                <a:schemeClr val="accent4"/>
              </a:solidFill>
              <a:custDash>
                <a:ds d="500000" sp="400000"/>
              </a:custDash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105150" y="1809750"/>
            <a:ext cx="6057900" cy="4286250"/>
            <a:chOff x="3105150" y="1809750"/>
            <a:chExt cx="6057900" cy="4286250"/>
          </a:xfrm>
        </p:grpSpPr>
        <p:sp>
          <p:nvSpPr>
            <p:cNvPr id="8" name="Freeform 8"/>
            <p:cNvSpPr/>
            <p:nvPr/>
          </p:nvSpPr>
          <p:spPr>
            <a:xfrm>
              <a:off x="6438900" y="1809750"/>
              <a:ext cx="2133600" cy="1009650"/>
            </a:xfrm>
            <a:custGeom>
              <a:avLst/>
              <a:gdLst/>
              <a:ahLst/>
              <a:cxnLst/>
              <a:rect l="l" t="t" r="r" b="b"/>
              <a:pathLst>
                <a:path w="2133600" h="1009650">
                  <a:moveTo>
                    <a:pt x="0" y="0"/>
                  </a:moveTo>
                  <a:cubicBezTo>
                    <a:pt x="895350" y="57150"/>
                    <a:pt x="1562100" y="400050"/>
                    <a:pt x="2133600" y="100965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8134350" y="3257550"/>
              <a:ext cx="1028700" cy="2038350"/>
            </a:xfrm>
            <a:custGeom>
              <a:avLst/>
              <a:gdLst/>
              <a:ahLst/>
              <a:cxnLst/>
              <a:rect l="l" t="t" r="r" b="b"/>
              <a:pathLst>
                <a:path w="1028700" h="2038350">
                  <a:moveTo>
                    <a:pt x="838200" y="0"/>
                  </a:moveTo>
                  <a:cubicBezTo>
                    <a:pt x="1028700" y="838200"/>
                    <a:pt x="723900" y="1524000"/>
                    <a:pt x="0" y="203835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0" name="Freeform 10"/>
            <p:cNvSpPr/>
            <p:nvPr/>
          </p:nvSpPr>
          <p:spPr>
            <a:xfrm>
              <a:off x="4686300" y="5619750"/>
              <a:ext cx="2895600" cy="476250"/>
            </a:xfrm>
            <a:custGeom>
              <a:avLst/>
              <a:gdLst/>
              <a:ahLst/>
              <a:cxnLst/>
              <a:rect l="l" t="t" r="r" b="b"/>
              <a:pathLst>
                <a:path w="2895600" h="476250">
                  <a:moveTo>
                    <a:pt x="2895600" y="38100"/>
                  </a:moveTo>
                  <a:cubicBezTo>
                    <a:pt x="1981200" y="476250"/>
                    <a:pt x="933450" y="457200"/>
                    <a:pt x="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05150" y="3238500"/>
              <a:ext cx="1009650" cy="2000250"/>
            </a:xfrm>
            <a:custGeom>
              <a:avLst/>
              <a:gdLst/>
              <a:ahLst/>
              <a:cxnLst/>
              <a:rect l="l" t="t" r="r" b="b"/>
              <a:pathLst>
                <a:path w="1009650" h="2000250">
                  <a:moveTo>
                    <a:pt x="1009650" y="2000250"/>
                  </a:moveTo>
                  <a:cubicBezTo>
                    <a:pt x="285750" y="1524000"/>
                    <a:pt x="0" y="819150"/>
                    <a:pt x="20955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2" name="Freeform 12"/>
            <p:cNvSpPr/>
            <p:nvPr/>
          </p:nvSpPr>
          <p:spPr>
            <a:xfrm>
              <a:off x="3638550" y="1809750"/>
              <a:ext cx="2152650" cy="914400"/>
            </a:xfrm>
            <a:custGeom>
              <a:avLst/>
              <a:gdLst/>
              <a:ahLst/>
              <a:cxnLst/>
              <a:rect l="l" t="t" r="r" b="b"/>
              <a:pathLst>
                <a:path w="2152650" h="914400">
                  <a:moveTo>
                    <a:pt x="0" y="914400"/>
                  </a:moveTo>
                  <a:cubicBezTo>
                    <a:pt x="666750" y="304800"/>
                    <a:pt x="1409700" y="38100"/>
                    <a:pt x="2152650" y="0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429250" y="1143000"/>
            <a:ext cx="1333500" cy="1333500"/>
            <a:chOff x="5429250" y="1143000"/>
            <a:chExt cx="1333500" cy="1333500"/>
          </a:xfrm>
        </p:grpSpPr>
        <p:sp>
          <p:nvSpPr>
            <p:cNvPr id="14" name="Ellipse 14"/>
            <p:cNvSpPr/>
            <p:nvPr/>
          </p:nvSpPr>
          <p:spPr>
            <a:xfrm>
              <a:off x="5429250" y="11430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897225" y="1493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77992" y="1920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画像理解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0" y="2476500"/>
            <a:ext cx="1333500" cy="1333500"/>
            <a:chOff x="8191500" y="2476500"/>
            <a:chExt cx="1333500" cy="1333500"/>
          </a:xfrm>
        </p:grpSpPr>
        <p:sp>
          <p:nvSpPr>
            <p:cNvPr id="18" name="Ellipse 18"/>
            <p:cNvSpPr/>
            <p:nvPr/>
          </p:nvSpPr>
          <p:spPr>
            <a:xfrm>
              <a:off x="8191500" y="24765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9475" y="28270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0242" y="3253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资源生成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143750" y="4953000"/>
            <a:ext cx="1333500" cy="1333500"/>
            <a:chOff x="7143750" y="4953000"/>
            <a:chExt cx="1333500" cy="1333500"/>
          </a:xfrm>
        </p:grpSpPr>
        <p:sp>
          <p:nvSpPr>
            <p:cNvPr id="22" name="Ellipse 22"/>
            <p:cNvSpPr/>
            <p:nvPr/>
          </p:nvSpPr>
          <p:spPr>
            <a:xfrm>
              <a:off x="7143750" y="49530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11725" y="5303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92492" y="5730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路径学习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14750" y="4953000"/>
            <a:ext cx="1333500" cy="1333500"/>
            <a:chOff x="3714750" y="4953000"/>
            <a:chExt cx="1333500" cy="1333500"/>
          </a:xfrm>
        </p:grpSpPr>
        <p:sp>
          <p:nvSpPr>
            <p:cNvPr id="26" name="Ellipse 26"/>
            <p:cNvSpPr/>
            <p:nvPr/>
          </p:nvSpPr>
          <p:spPr>
            <a:xfrm>
              <a:off x="3714750" y="49530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82725" y="5303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63492" y="5730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效果评价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667000" y="2476500"/>
            <a:ext cx="1333500" cy="1333500"/>
            <a:chOff x="2667000" y="2476500"/>
            <a:chExt cx="1333500" cy="1333500"/>
          </a:xfrm>
        </p:grpSpPr>
        <p:sp>
          <p:nvSpPr>
            <p:cNvPr id="30" name="Ellipse 30"/>
            <p:cNvSpPr/>
            <p:nvPr/>
          </p:nvSpPr>
          <p:spPr>
            <a:xfrm>
              <a:off x="2667000" y="247650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34975" y="28270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05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15742" y="3253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画像更新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933950" y="2647950"/>
            <a:ext cx="2324100" cy="2324100"/>
            <a:chOff x="4933950" y="2647950"/>
            <a:chExt cx="2324100" cy="2324100"/>
          </a:xfrm>
        </p:grpSpPr>
        <p:sp>
          <p:nvSpPr>
            <p:cNvPr id="34" name="Ellipse 34"/>
            <p:cNvSpPr/>
            <p:nvPr/>
          </p:nvSpPr>
          <p:spPr>
            <a:xfrm>
              <a:off x="4933950" y="2647950"/>
              <a:ext cx="2324100" cy="23241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872225" y="3161704"/>
              <a:ext cx="447411" cy="610793"/>
              <a:chOff x="5872225" y="3161704"/>
              <a:chExt cx="447411" cy="61079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893594" y="3183731"/>
                <a:ext cx="404812" cy="566738"/>
              </a:xfrm>
              <a:custGeom>
                <a:avLst/>
                <a:gdLst/>
                <a:ahLst/>
                <a:cxnLst/>
                <a:rect l="l" t="t" r="r" b="b"/>
                <a:pathLst>
                  <a:path w="404812" h="566738">
                    <a:moveTo>
                      <a:pt x="121444" y="566738"/>
                    </a:moveTo>
                    <a:lnTo>
                      <a:pt x="161925" y="364331"/>
                    </a:lnTo>
                    <a:lnTo>
                      <a:pt x="0" y="303609"/>
                    </a:lnTo>
                    <a:lnTo>
                      <a:pt x="283369" y="0"/>
                    </a:lnTo>
                    <a:lnTo>
                      <a:pt x="242888" y="202406"/>
                    </a:lnTo>
                    <a:lnTo>
                      <a:pt x="404812" y="263128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872225" y="3161704"/>
                <a:ext cx="447411" cy="610793"/>
              </a:xfrm>
              <a:custGeom>
                <a:avLst/>
                <a:gdLst/>
                <a:ahLst/>
                <a:cxnLst/>
                <a:rect l="l" t="t" r="r" b="b"/>
                <a:pathLst>
                  <a:path w="447411" h="610793">
                    <a:moveTo>
                      <a:pt x="445891" y="280526"/>
                    </a:moveTo>
                    <a:cubicBezTo>
                      <a:pt x="444334" y="273937"/>
                      <a:pt x="439586" y="268563"/>
                      <a:pt x="433240" y="266205"/>
                    </a:cubicBezTo>
                    <a:lnTo>
                      <a:pt x="287482" y="211530"/>
                    </a:lnTo>
                    <a:lnTo>
                      <a:pt x="324573" y="26000"/>
                    </a:lnTo>
                    <a:cubicBezTo>
                      <a:pt x="326299" y="17144"/>
                      <a:pt x="321954" y="8215"/>
                      <a:pt x="313921" y="4108"/>
                    </a:cubicBezTo>
                    <a:cubicBezTo>
                      <a:pt x="305888" y="0"/>
                      <a:pt x="296106" y="1705"/>
                      <a:pt x="289937" y="8289"/>
                    </a:cubicBezTo>
                    <a:lnTo>
                      <a:pt x="6568" y="311899"/>
                    </a:lnTo>
                    <a:cubicBezTo>
                      <a:pt x="1893" y="316824"/>
                      <a:pt x="0" y="323766"/>
                      <a:pt x="1527" y="330383"/>
                    </a:cubicBezTo>
                    <a:cubicBezTo>
                      <a:pt x="3054" y="337000"/>
                      <a:pt x="7798" y="342410"/>
                      <a:pt x="14158" y="344790"/>
                    </a:cubicBezTo>
                    <a:lnTo>
                      <a:pt x="159966" y="399465"/>
                    </a:lnTo>
                    <a:lnTo>
                      <a:pt x="122977" y="584793"/>
                    </a:lnTo>
                    <a:cubicBezTo>
                      <a:pt x="121251" y="593649"/>
                      <a:pt x="125596" y="602578"/>
                      <a:pt x="133629" y="606685"/>
                    </a:cubicBezTo>
                    <a:cubicBezTo>
                      <a:pt x="141662" y="610793"/>
                      <a:pt x="151444" y="609087"/>
                      <a:pt x="157613" y="602503"/>
                    </a:cubicBezTo>
                    <a:lnTo>
                      <a:pt x="440982" y="298894"/>
                    </a:lnTo>
                    <a:cubicBezTo>
                      <a:pt x="445571" y="293968"/>
                      <a:pt x="447411" y="287084"/>
                      <a:pt x="445891" y="280526"/>
                    </a:cubicBezTo>
                    <a:close/>
                    <a:moveTo>
                      <a:pt x="176640" y="522983"/>
                    </a:moveTo>
                    <a:lnTo>
                      <a:pt x="203130" y="390458"/>
                    </a:lnTo>
                    <a:cubicBezTo>
                      <a:pt x="205087" y="380751"/>
                      <a:pt x="199735" y="371053"/>
                      <a:pt x="190479" y="367535"/>
                    </a:cubicBezTo>
                    <a:lnTo>
                      <a:pt x="56790" y="317313"/>
                    </a:lnTo>
                    <a:lnTo>
                      <a:pt x="270885" y="87936"/>
                    </a:lnTo>
                    <a:lnTo>
                      <a:pt x="244420" y="220462"/>
                    </a:lnTo>
                    <a:cubicBezTo>
                      <a:pt x="242462" y="230168"/>
                      <a:pt x="247815" y="239866"/>
                      <a:pt x="257071" y="243384"/>
                    </a:cubicBezTo>
                    <a:lnTo>
                      <a:pt x="390659" y="29348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4937341" y="38804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可解释个性化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59908" y="4339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状态持续进化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526542" y="638841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闭环价值：行为数据回流画像，画像反向约束生成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10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724236" cy="1082802"/>
            <a:chOff x="514350" y="251460"/>
            <a:chExt cx="10724236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7242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五类资源并发生成，覆盖教、学、练、用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同一知识点一次触发，按画像约束难度、形式与解释方式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676400"/>
            <a:ext cx="2038350" cy="3429000"/>
            <a:chOff x="533400" y="1676400"/>
            <a:chExt cx="2038350" cy="3429000"/>
          </a:xfrm>
        </p:grpSpPr>
        <p:sp>
          <p:nvSpPr>
            <p:cNvPr id="5" name="Rectangle 5"/>
            <p:cNvSpPr/>
            <p:nvPr/>
          </p:nvSpPr>
          <p:spPr>
            <a:xfrm>
              <a:off x="533400" y="1676400"/>
              <a:ext cx="2038350" cy="342900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227534" y="2258021"/>
              <a:ext cx="696517" cy="417910"/>
              <a:chOff x="1227534" y="2258021"/>
              <a:chExt cx="696517" cy="41791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250752" y="2281238"/>
                <a:ext cx="510779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510779" h="371476">
                    <a:moveTo>
                      <a:pt x="510779" y="23217"/>
                    </a:moveTo>
                    <a:lnTo>
                      <a:pt x="510779" y="348258"/>
                    </a:lnTo>
                    <a:cubicBezTo>
                      <a:pt x="510779" y="361081"/>
                      <a:pt x="500384" y="371476"/>
                      <a:pt x="487562" y="371476"/>
                    </a:cubicBezTo>
                    <a:lnTo>
                      <a:pt x="23217" y="371476"/>
                    </a:lnTo>
                    <a:cubicBezTo>
                      <a:pt x="10395" y="371476"/>
                      <a:pt x="0" y="361081"/>
                      <a:pt x="0" y="348258"/>
                    </a:cubicBezTo>
                    <a:lnTo>
                      <a:pt x="0" y="23217"/>
                    </a:lnTo>
                    <a:cubicBezTo>
                      <a:pt x="0" y="10395"/>
                      <a:pt x="10395" y="0"/>
                      <a:pt x="23217" y="0"/>
                    </a:cubicBezTo>
                    <a:lnTo>
                      <a:pt x="487562" y="0"/>
                    </a:lnTo>
                    <a:cubicBezTo>
                      <a:pt x="500384" y="0"/>
                      <a:pt x="510779" y="10395"/>
                      <a:pt x="510779" y="23217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227534" y="2258021"/>
                <a:ext cx="696517" cy="417910"/>
              </a:xfrm>
              <a:custGeom>
                <a:avLst/>
                <a:gdLst/>
                <a:ahLst/>
                <a:cxnLst/>
                <a:rect l="l" t="t" r="r" b="b"/>
                <a:pathLst>
                  <a:path w="696517" h="417910">
                    <a:moveTo>
                      <a:pt x="684241" y="49337"/>
                    </a:moveTo>
                    <a:cubicBezTo>
                      <a:pt x="676697" y="45293"/>
                      <a:pt x="667540" y="45728"/>
                      <a:pt x="660414" y="50468"/>
                    </a:cubicBezTo>
                    <a:lnTo>
                      <a:pt x="557213" y="119133"/>
                    </a:lnTo>
                    <a:lnTo>
                      <a:pt x="557213" y="46434"/>
                    </a:lnTo>
                    <a:cubicBezTo>
                      <a:pt x="557213" y="20789"/>
                      <a:pt x="536424" y="0"/>
                      <a:pt x="510779" y="0"/>
                    </a:cubicBezTo>
                    <a:lnTo>
                      <a:pt x="46434" y="0"/>
                    </a:lnTo>
                    <a:cubicBezTo>
                      <a:pt x="20789" y="0"/>
                      <a:pt x="0" y="20789"/>
                      <a:pt x="0" y="46434"/>
                    </a:cubicBezTo>
                    <a:lnTo>
                      <a:pt x="0" y="371476"/>
                    </a:lnTo>
                    <a:cubicBezTo>
                      <a:pt x="0" y="397121"/>
                      <a:pt x="20789" y="417910"/>
                      <a:pt x="46434" y="417910"/>
                    </a:cubicBezTo>
                    <a:lnTo>
                      <a:pt x="510779" y="417910"/>
                    </a:lnTo>
                    <a:cubicBezTo>
                      <a:pt x="536424" y="417910"/>
                      <a:pt x="557213" y="397121"/>
                      <a:pt x="557213" y="371476"/>
                    </a:cubicBezTo>
                    <a:lnTo>
                      <a:pt x="557213" y="298922"/>
                    </a:lnTo>
                    <a:lnTo>
                      <a:pt x="660414" y="367732"/>
                    </a:lnTo>
                    <a:cubicBezTo>
                      <a:pt x="664247" y="370221"/>
                      <a:pt x="668729" y="371523"/>
                      <a:pt x="673300" y="371476"/>
                    </a:cubicBezTo>
                    <a:cubicBezTo>
                      <a:pt x="686122" y="371476"/>
                      <a:pt x="696517" y="361081"/>
                      <a:pt x="696517" y="348258"/>
                    </a:cubicBezTo>
                    <a:lnTo>
                      <a:pt x="696517" y="69652"/>
                    </a:lnTo>
                    <a:cubicBezTo>
                      <a:pt x="696457" y="61142"/>
                      <a:pt x="691747" y="53347"/>
                      <a:pt x="684241" y="49337"/>
                    </a:cubicBezTo>
                    <a:close/>
                    <a:moveTo>
                      <a:pt x="510779" y="371476"/>
                    </a:moveTo>
                    <a:lnTo>
                      <a:pt x="46434" y="371476"/>
                    </a:lnTo>
                    <a:lnTo>
                      <a:pt x="46434" y="46434"/>
                    </a:lnTo>
                    <a:lnTo>
                      <a:pt x="510779" y="46434"/>
                    </a:lnTo>
                    <a:lnTo>
                      <a:pt x="510779" y="371476"/>
                    </a:lnTo>
                    <a:close/>
                    <a:moveTo>
                      <a:pt x="650082" y="304871"/>
                    </a:moveTo>
                    <a:lnTo>
                      <a:pt x="557213" y="242968"/>
                    </a:lnTo>
                    <a:lnTo>
                      <a:pt x="557213" y="174942"/>
                    </a:lnTo>
                    <a:lnTo>
                      <a:pt x="650082" y="11318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775564" y="3004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视频脚本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8799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讲解结构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641" y="3939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镜头与重点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785" y="4549140"/>
              <a:ext cx="757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LEARN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800350" y="1676400"/>
            <a:ext cx="2038350" cy="3429000"/>
            <a:chOff x="2800350" y="1676400"/>
            <a:chExt cx="2038350" cy="3429000"/>
          </a:xfrm>
        </p:grpSpPr>
        <p:sp>
          <p:nvSpPr>
            <p:cNvPr id="14" name="Rectangle 14"/>
            <p:cNvSpPr/>
            <p:nvPr/>
          </p:nvSpPr>
          <p:spPr>
            <a:xfrm>
              <a:off x="2800350" y="1676400"/>
              <a:ext cx="2038350" cy="342900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471274" y="2187660"/>
              <a:ext cx="696503" cy="557923"/>
              <a:chOff x="3471274" y="2187660"/>
              <a:chExt cx="696503" cy="55792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494484" y="2350889"/>
                <a:ext cx="650082" cy="232172"/>
              </a:xfrm>
              <a:custGeom>
                <a:avLst/>
                <a:gdLst/>
                <a:ahLst/>
                <a:cxnLst/>
                <a:rect l="l" t="t" r="r" b="b"/>
                <a:pathLst>
                  <a:path w="650082" h="232172">
                    <a:moveTo>
                      <a:pt x="650082" y="116086"/>
                    </a:moveTo>
                    <a:lnTo>
                      <a:pt x="510779" y="232172"/>
                    </a:lnTo>
                    <a:lnTo>
                      <a:pt x="139303" y="232172"/>
                    </a:lnTo>
                    <a:lnTo>
                      <a:pt x="0" y="116086"/>
                    </a:lnTo>
                    <a:lnTo>
                      <a:pt x="139303" y="0"/>
                    </a:lnTo>
                    <a:lnTo>
                      <a:pt x="510779" y="0"/>
                    </a:ln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471274" y="2187660"/>
                <a:ext cx="696503" cy="557923"/>
              </a:xfrm>
              <a:custGeom>
                <a:avLst/>
                <a:gdLst/>
                <a:ahLst/>
                <a:cxnLst/>
                <a:rect l="l" t="t" r="r" b="b"/>
                <a:pathLst>
                  <a:path w="696503" h="557923">
                    <a:moveTo>
                      <a:pt x="177373" y="181077"/>
                    </a:moveTo>
                    <a:lnTo>
                      <a:pt x="59487" y="279315"/>
                    </a:lnTo>
                    <a:lnTo>
                      <a:pt x="177373" y="377553"/>
                    </a:lnTo>
                    <a:cubicBezTo>
                      <a:pt x="183933" y="382805"/>
                      <a:pt x="187143" y="391191"/>
                      <a:pt x="185767" y="399481"/>
                    </a:cubicBezTo>
                    <a:cubicBezTo>
                      <a:pt x="184391" y="407770"/>
                      <a:pt x="178642" y="414669"/>
                      <a:pt x="170737" y="417519"/>
                    </a:cubicBezTo>
                    <a:cubicBezTo>
                      <a:pt x="162832" y="420369"/>
                      <a:pt x="154004" y="418725"/>
                      <a:pt x="147655" y="413220"/>
                    </a:cubicBezTo>
                    <a:lnTo>
                      <a:pt x="8351" y="297134"/>
                    </a:lnTo>
                    <a:cubicBezTo>
                      <a:pt x="3059" y="292723"/>
                      <a:pt x="0" y="286190"/>
                      <a:pt x="0" y="279301"/>
                    </a:cubicBezTo>
                    <a:cubicBezTo>
                      <a:pt x="0" y="272411"/>
                      <a:pt x="3059" y="265878"/>
                      <a:pt x="8351" y="261467"/>
                    </a:cubicBezTo>
                    <a:lnTo>
                      <a:pt x="147655" y="145381"/>
                    </a:lnTo>
                    <a:cubicBezTo>
                      <a:pt x="157512" y="137174"/>
                      <a:pt x="172155" y="138513"/>
                      <a:pt x="180362" y="148370"/>
                    </a:cubicBezTo>
                    <a:cubicBezTo>
                      <a:pt x="188568" y="158227"/>
                      <a:pt x="187230" y="172871"/>
                      <a:pt x="177373" y="181077"/>
                    </a:cubicBezTo>
                    <a:close/>
                    <a:moveTo>
                      <a:pt x="688152" y="261467"/>
                    </a:moveTo>
                    <a:lnTo>
                      <a:pt x="548848" y="145381"/>
                    </a:lnTo>
                    <a:cubicBezTo>
                      <a:pt x="538991" y="137174"/>
                      <a:pt x="524347" y="138513"/>
                      <a:pt x="516141" y="148370"/>
                    </a:cubicBezTo>
                    <a:cubicBezTo>
                      <a:pt x="507935" y="158227"/>
                      <a:pt x="509273" y="172871"/>
                      <a:pt x="519130" y="181077"/>
                    </a:cubicBezTo>
                    <a:lnTo>
                      <a:pt x="637016" y="279315"/>
                    </a:lnTo>
                    <a:lnTo>
                      <a:pt x="519130" y="377553"/>
                    </a:lnTo>
                    <a:cubicBezTo>
                      <a:pt x="512570" y="382805"/>
                      <a:pt x="509360" y="391191"/>
                      <a:pt x="510736" y="399481"/>
                    </a:cubicBezTo>
                    <a:cubicBezTo>
                      <a:pt x="512112" y="407770"/>
                      <a:pt x="517861" y="414669"/>
                      <a:pt x="525766" y="417519"/>
                    </a:cubicBezTo>
                    <a:cubicBezTo>
                      <a:pt x="533671" y="420369"/>
                      <a:pt x="542499" y="418725"/>
                      <a:pt x="548848" y="413220"/>
                    </a:cubicBezTo>
                    <a:lnTo>
                      <a:pt x="688152" y="297134"/>
                    </a:lnTo>
                    <a:cubicBezTo>
                      <a:pt x="693443" y="292723"/>
                      <a:pt x="696503" y="286190"/>
                      <a:pt x="696503" y="279301"/>
                    </a:cubicBezTo>
                    <a:cubicBezTo>
                      <a:pt x="696503" y="272411"/>
                      <a:pt x="693443" y="265878"/>
                      <a:pt x="688152" y="261467"/>
                    </a:cubicBezTo>
                    <a:close/>
                    <a:moveTo>
                      <a:pt x="449043" y="2101"/>
                    </a:moveTo>
                    <a:cubicBezTo>
                      <a:pt x="443255" y="0"/>
                      <a:pt x="436869" y="284"/>
                      <a:pt x="431291" y="2891"/>
                    </a:cubicBezTo>
                    <a:cubicBezTo>
                      <a:pt x="425712" y="5498"/>
                      <a:pt x="421397" y="10215"/>
                      <a:pt x="419296" y="16003"/>
                    </a:cubicBezTo>
                    <a:lnTo>
                      <a:pt x="233558" y="526782"/>
                    </a:lnTo>
                    <a:cubicBezTo>
                      <a:pt x="231448" y="532573"/>
                      <a:pt x="231727" y="538967"/>
                      <a:pt x="234335" y="544552"/>
                    </a:cubicBezTo>
                    <a:cubicBezTo>
                      <a:pt x="236943" y="550138"/>
                      <a:pt x="241664" y="554457"/>
                      <a:pt x="247460" y="556558"/>
                    </a:cubicBezTo>
                    <a:cubicBezTo>
                      <a:pt x="250003" y="557462"/>
                      <a:pt x="252683" y="557923"/>
                      <a:pt x="255383" y="557922"/>
                    </a:cubicBezTo>
                    <a:cubicBezTo>
                      <a:pt x="265150" y="557922"/>
                      <a:pt x="273873" y="551809"/>
                      <a:pt x="277207" y="542627"/>
                    </a:cubicBezTo>
                    <a:lnTo>
                      <a:pt x="462945" y="31849"/>
                    </a:lnTo>
                    <a:cubicBezTo>
                      <a:pt x="465046" y="26060"/>
                      <a:pt x="464762" y="19675"/>
                      <a:pt x="462155" y="14096"/>
                    </a:cubicBezTo>
                    <a:cubicBezTo>
                      <a:pt x="459548" y="8517"/>
                      <a:pt x="454831" y="4203"/>
                      <a:pt x="449043" y="210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042514" y="3004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代码案例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25749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示例实现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04591" y="3939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运行与解释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40735" y="4549140"/>
              <a:ext cx="757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APPLY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067300" y="1676400"/>
            <a:ext cx="2038350" cy="3429000"/>
            <a:chOff x="5067300" y="1676400"/>
            <a:chExt cx="2038350" cy="3429000"/>
          </a:xfrm>
        </p:grpSpPr>
        <p:sp>
          <p:nvSpPr>
            <p:cNvPr id="23" name="Rectangle 23"/>
            <p:cNvSpPr/>
            <p:nvPr/>
          </p:nvSpPr>
          <p:spPr>
            <a:xfrm>
              <a:off x="5067300" y="1676400"/>
              <a:ext cx="2038350" cy="342900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784652" y="2165152"/>
              <a:ext cx="603648" cy="603648"/>
              <a:chOff x="5784652" y="2165152"/>
              <a:chExt cx="603648" cy="60364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807869" y="2188369"/>
                <a:ext cx="557213" cy="557213"/>
              </a:xfrm>
              <a:custGeom>
                <a:avLst/>
                <a:gdLst/>
                <a:ahLst/>
                <a:cxnLst/>
                <a:rect l="l" t="t" r="r" b="b"/>
                <a:pathLst>
                  <a:path w="557213" h="557213">
                    <a:moveTo>
                      <a:pt x="557213" y="278607"/>
                    </a:moveTo>
                    <a:cubicBezTo>
                      <a:pt x="557213" y="432477"/>
                      <a:pt x="432477" y="557213"/>
                      <a:pt x="278607" y="557213"/>
                    </a:cubicBezTo>
                    <a:cubicBezTo>
                      <a:pt x="124736" y="557213"/>
                      <a:pt x="0" y="432477"/>
                      <a:pt x="0" y="278607"/>
                    </a:cubicBezTo>
                    <a:cubicBezTo>
                      <a:pt x="0" y="124736"/>
                      <a:pt x="124736" y="0"/>
                      <a:pt x="278607" y="0"/>
                    </a:cubicBezTo>
                    <a:cubicBezTo>
                      <a:pt x="432477" y="0"/>
                      <a:pt x="557213" y="124736"/>
                      <a:pt x="557213" y="278607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784652" y="2165152"/>
                <a:ext cx="603648" cy="603648"/>
              </a:xfrm>
              <a:custGeom>
                <a:avLst/>
                <a:gdLst/>
                <a:ahLst/>
                <a:cxnLst/>
                <a:rect l="l" t="t" r="r" b="b"/>
                <a:pathLst>
                  <a:path w="603648" h="603648">
                    <a:moveTo>
                      <a:pt x="336650" y="452736"/>
                    </a:moveTo>
                    <a:cubicBezTo>
                      <a:pt x="336650" y="471970"/>
                      <a:pt x="321058" y="487562"/>
                      <a:pt x="301824" y="487562"/>
                    </a:cubicBezTo>
                    <a:cubicBezTo>
                      <a:pt x="282590" y="487562"/>
                      <a:pt x="266998" y="471970"/>
                      <a:pt x="266998" y="452736"/>
                    </a:cubicBezTo>
                    <a:cubicBezTo>
                      <a:pt x="266998" y="433502"/>
                      <a:pt x="282590" y="417910"/>
                      <a:pt x="301824" y="417910"/>
                    </a:cubicBezTo>
                    <a:cubicBezTo>
                      <a:pt x="321058" y="417910"/>
                      <a:pt x="336650" y="433502"/>
                      <a:pt x="336650" y="452736"/>
                    </a:cubicBezTo>
                    <a:close/>
                    <a:moveTo>
                      <a:pt x="301824" y="139303"/>
                    </a:moveTo>
                    <a:cubicBezTo>
                      <a:pt x="237802" y="139303"/>
                      <a:pt x="185738" y="186173"/>
                      <a:pt x="185738" y="243781"/>
                    </a:cubicBezTo>
                    <a:lnTo>
                      <a:pt x="185738" y="255389"/>
                    </a:lnTo>
                    <a:cubicBezTo>
                      <a:pt x="185738" y="268212"/>
                      <a:pt x="196133" y="278607"/>
                      <a:pt x="208955" y="278607"/>
                    </a:cubicBezTo>
                    <a:cubicBezTo>
                      <a:pt x="221778" y="278607"/>
                      <a:pt x="232172" y="268212"/>
                      <a:pt x="232172" y="255389"/>
                    </a:cubicBezTo>
                    <a:lnTo>
                      <a:pt x="232172" y="243781"/>
                    </a:lnTo>
                    <a:cubicBezTo>
                      <a:pt x="232172" y="211857"/>
                      <a:pt x="263428" y="185738"/>
                      <a:pt x="301824" y="185738"/>
                    </a:cubicBezTo>
                    <a:cubicBezTo>
                      <a:pt x="340219" y="185738"/>
                      <a:pt x="371476" y="211857"/>
                      <a:pt x="371476" y="243781"/>
                    </a:cubicBezTo>
                    <a:cubicBezTo>
                      <a:pt x="371476" y="275705"/>
                      <a:pt x="340219" y="301824"/>
                      <a:pt x="301824" y="301824"/>
                    </a:cubicBezTo>
                    <a:cubicBezTo>
                      <a:pt x="289001" y="301824"/>
                      <a:pt x="278607" y="312219"/>
                      <a:pt x="278607" y="325041"/>
                    </a:cubicBezTo>
                    <a:lnTo>
                      <a:pt x="278607" y="348258"/>
                    </a:lnTo>
                    <a:cubicBezTo>
                      <a:pt x="278607" y="361081"/>
                      <a:pt x="289001" y="371476"/>
                      <a:pt x="301824" y="371476"/>
                    </a:cubicBezTo>
                    <a:cubicBezTo>
                      <a:pt x="314646" y="371476"/>
                      <a:pt x="325041" y="361081"/>
                      <a:pt x="325041" y="348258"/>
                    </a:cubicBezTo>
                    <a:lnTo>
                      <a:pt x="325041" y="346169"/>
                    </a:lnTo>
                    <a:cubicBezTo>
                      <a:pt x="377976" y="336447"/>
                      <a:pt x="417910" y="294220"/>
                      <a:pt x="417910" y="243781"/>
                    </a:cubicBezTo>
                    <a:cubicBezTo>
                      <a:pt x="417910" y="186173"/>
                      <a:pt x="365845" y="139303"/>
                      <a:pt x="301824" y="139303"/>
                    </a:cubicBezTo>
                    <a:close/>
                    <a:moveTo>
                      <a:pt x="603648" y="301824"/>
                    </a:moveTo>
                    <a:cubicBezTo>
                      <a:pt x="603648" y="468517"/>
                      <a:pt x="468517" y="603648"/>
                      <a:pt x="301824" y="603648"/>
                    </a:cubicBezTo>
                    <a:cubicBezTo>
                      <a:pt x="135131" y="603648"/>
                      <a:pt x="0" y="468517"/>
                      <a:pt x="0" y="301824"/>
                    </a:cubicBezTo>
                    <a:cubicBezTo>
                      <a:pt x="0" y="135131"/>
                      <a:pt x="135131" y="0"/>
                      <a:pt x="301824" y="0"/>
                    </a:cubicBezTo>
                    <a:cubicBezTo>
                      <a:pt x="468444" y="176"/>
                      <a:pt x="603472" y="135204"/>
                      <a:pt x="603648" y="301824"/>
                    </a:cubicBezTo>
                    <a:close/>
                    <a:moveTo>
                      <a:pt x="557213" y="301824"/>
                    </a:moveTo>
                    <a:cubicBezTo>
                      <a:pt x="557213" y="160776"/>
                      <a:pt x="442872" y="46434"/>
                      <a:pt x="301824" y="46434"/>
                    </a:cubicBezTo>
                    <a:cubicBezTo>
                      <a:pt x="160776" y="46434"/>
                      <a:pt x="46434" y="160776"/>
                      <a:pt x="46434" y="301824"/>
                    </a:cubicBezTo>
                    <a:cubicBezTo>
                      <a:pt x="46434" y="442872"/>
                      <a:pt x="160776" y="557213"/>
                      <a:pt x="301824" y="557213"/>
                    </a:cubicBezTo>
                    <a:cubicBezTo>
                      <a:pt x="442805" y="557053"/>
                      <a:pt x="557053" y="442805"/>
                      <a:pt x="557213" y="3018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500287" y="300418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592699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分层难度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71541" y="3939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答案与解析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19501" y="4549140"/>
              <a:ext cx="1133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PRACTICE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34250" y="1676400"/>
            <a:ext cx="2038350" cy="3429000"/>
            <a:chOff x="7334250" y="1676400"/>
            <a:chExt cx="2038350" cy="3429000"/>
          </a:xfrm>
        </p:grpSpPr>
        <p:sp>
          <p:nvSpPr>
            <p:cNvPr id="32" name="Rectangle 32"/>
            <p:cNvSpPr/>
            <p:nvPr/>
          </p:nvSpPr>
          <p:spPr>
            <a:xfrm>
              <a:off x="7334250" y="1676400"/>
              <a:ext cx="2038350" cy="342900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063210" y="2165147"/>
              <a:ext cx="571242" cy="557218"/>
              <a:chOff x="8063210" y="2165147"/>
              <a:chExt cx="571242" cy="55721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423077" y="2188369"/>
                <a:ext cx="162521" cy="162521"/>
              </a:xfrm>
              <a:custGeom>
                <a:avLst/>
                <a:gdLst/>
                <a:ahLst/>
                <a:cxnLst/>
                <a:rect l="l" t="t" r="r" b="b"/>
                <a:pathLst>
                  <a:path w="162521" h="162521">
                    <a:moveTo>
                      <a:pt x="162521" y="162521"/>
                    </a:moveTo>
                    <a:lnTo>
                      <a:pt x="0" y="1625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063210" y="2165147"/>
                <a:ext cx="571242" cy="557218"/>
              </a:xfrm>
              <a:custGeom>
                <a:avLst/>
                <a:gdLst/>
                <a:ahLst/>
                <a:cxnLst/>
                <a:rect l="l" t="t" r="r" b="b"/>
                <a:pathLst>
                  <a:path w="571242" h="557218">
                    <a:moveTo>
                      <a:pt x="69652" y="348263"/>
                    </a:moveTo>
                    <a:lnTo>
                      <a:pt x="23217" y="348263"/>
                    </a:lnTo>
                    <a:cubicBezTo>
                      <a:pt x="10395" y="348263"/>
                      <a:pt x="0" y="358658"/>
                      <a:pt x="0" y="371480"/>
                    </a:cubicBezTo>
                    <a:lnTo>
                      <a:pt x="0" y="534001"/>
                    </a:lnTo>
                    <a:cubicBezTo>
                      <a:pt x="0" y="546824"/>
                      <a:pt x="10395" y="557218"/>
                      <a:pt x="23217" y="557218"/>
                    </a:cubicBezTo>
                    <a:lnTo>
                      <a:pt x="69652" y="557218"/>
                    </a:lnTo>
                    <a:cubicBezTo>
                      <a:pt x="127353" y="557218"/>
                      <a:pt x="174129" y="510442"/>
                      <a:pt x="174129" y="452741"/>
                    </a:cubicBezTo>
                    <a:cubicBezTo>
                      <a:pt x="174129" y="395039"/>
                      <a:pt x="127353" y="348263"/>
                      <a:pt x="69652" y="348263"/>
                    </a:cubicBezTo>
                    <a:close/>
                    <a:moveTo>
                      <a:pt x="69652" y="510784"/>
                    </a:moveTo>
                    <a:lnTo>
                      <a:pt x="46434" y="510784"/>
                    </a:lnTo>
                    <a:lnTo>
                      <a:pt x="46434" y="394698"/>
                    </a:lnTo>
                    <a:lnTo>
                      <a:pt x="69652" y="394698"/>
                    </a:lnTo>
                    <a:cubicBezTo>
                      <a:pt x="101708" y="394698"/>
                      <a:pt x="127695" y="420684"/>
                      <a:pt x="127695" y="452741"/>
                    </a:cubicBezTo>
                    <a:cubicBezTo>
                      <a:pt x="127695" y="484797"/>
                      <a:pt x="101708" y="510784"/>
                      <a:pt x="69652" y="510784"/>
                    </a:cubicBezTo>
                    <a:close/>
                    <a:moveTo>
                      <a:pt x="561654" y="496534"/>
                    </a:moveTo>
                    <a:cubicBezTo>
                      <a:pt x="570917" y="505398"/>
                      <a:pt x="571242" y="520093"/>
                      <a:pt x="562379" y="529358"/>
                    </a:cubicBezTo>
                    <a:cubicBezTo>
                      <a:pt x="546040" y="546946"/>
                      <a:pt x="523176" y="557024"/>
                      <a:pt x="499170" y="557218"/>
                    </a:cubicBezTo>
                    <a:cubicBezTo>
                      <a:pt x="447947" y="557218"/>
                      <a:pt x="406301" y="510348"/>
                      <a:pt x="406301" y="452741"/>
                    </a:cubicBezTo>
                    <a:cubicBezTo>
                      <a:pt x="406301" y="395133"/>
                      <a:pt x="447947" y="348263"/>
                      <a:pt x="499170" y="348263"/>
                    </a:cubicBezTo>
                    <a:cubicBezTo>
                      <a:pt x="523176" y="348458"/>
                      <a:pt x="546040" y="358536"/>
                      <a:pt x="562379" y="376124"/>
                    </a:cubicBezTo>
                    <a:cubicBezTo>
                      <a:pt x="571043" y="385417"/>
                      <a:pt x="570628" y="399948"/>
                      <a:pt x="561448" y="408732"/>
                    </a:cubicBezTo>
                    <a:cubicBezTo>
                      <a:pt x="552267" y="417515"/>
                      <a:pt x="537732" y="417288"/>
                      <a:pt x="528830" y="408222"/>
                    </a:cubicBezTo>
                    <a:cubicBezTo>
                      <a:pt x="521214" y="399840"/>
                      <a:pt x="510492" y="394951"/>
                      <a:pt x="499170" y="394698"/>
                    </a:cubicBezTo>
                    <a:cubicBezTo>
                      <a:pt x="473573" y="394698"/>
                      <a:pt x="452736" y="420817"/>
                      <a:pt x="452736" y="452741"/>
                    </a:cubicBezTo>
                    <a:cubicBezTo>
                      <a:pt x="452736" y="484664"/>
                      <a:pt x="473573" y="510784"/>
                      <a:pt x="499170" y="510784"/>
                    </a:cubicBezTo>
                    <a:cubicBezTo>
                      <a:pt x="510497" y="510551"/>
                      <a:pt x="521227" y="505658"/>
                      <a:pt x="528830" y="497260"/>
                    </a:cubicBezTo>
                    <a:cubicBezTo>
                      <a:pt x="537694" y="487997"/>
                      <a:pt x="552389" y="487672"/>
                      <a:pt x="561654" y="496534"/>
                    </a:cubicBezTo>
                    <a:close/>
                    <a:moveTo>
                      <a:pt x="290215" y="348263"/>
                    </a:moveTo>
                    <a:cubicBezTo>
                      <a:pt x="239021" y="348263"/>
                      <a:pt x="197346" y="395133"/>
                      <a:pt x="197346" y="452741"/>
                    </a:cubicBezTo>
                    <a:cubicBezTo>
                      <a:pt x="197346" y="510348"/>
                      <a:pt x="239021" y="557218"/>
                      <a:pt x="290215" y="557218"/>
                    </a:cubicBezTo>
                    <a:cubicBezTo>
                      <a:pt x="341409" y="557218"/>
                      <a:pt x="383084" y="510348"/>
                      <a:pt x="383084" y="452741"/>
                    </a:cubicBezTo>
                    <a:cubicBezTo>
                      <a:pt x="383084" y="395133"/>
                      <a:pt x="341409" y="348263"/>
                      <a:pt x="290215" y="348263"/>
                    </a:cubicBezTo>
                    <a:close/>
                    <a:moveTo>
                      <a:pt x="290215" y="510784"/>
                    </a:moveTo>
                    <a:cubicBezTo>
                      <a:pt x="264618" y="510784"/>
                      <a:pt x="243781" y="484664"/>
                      <a:pt x="243781" y="452741"/>
                    </a:cubicBezTo>
                    <a:cubicBezTo>
                      <a:pt x="243781" y="420817"/>
                      <a:pt x="264618" y="394698"/>
                      <a:pt x="290215" y="394698"/>
                    </a:cubicBezTo>
                    <a:cubicBezTo>
                      <a:pt x="315812" y="394698"/>
                      <a:pt x="336650" y="420817"/>
                      <a:pt x="336650" y="452741"/>
                    </a:cubicBezTo>
                    <a:cubicBezTo>
                      <a:pt x="336650" y="484664"/>
                      <a:pt x="315812" y="510784"/>
                      <a:pt x="290215" y="510784"/>
                    </a:cubicBezTo>
                    <a:close/>
                    <a:moveTo>
                      <a:pt x="58043" y="278612"/>
                    </a:moveTo>
                    <a:cubicBezTo>
                      <a:pt x="70866" y="278612"/>
                      <a:pt x="81260" y="268217"/>
                      <a:pt x="81260" y="255394"/>
                    </a:cubicBezTo>
                    <a:lnTo>
                      <a:pt x="81260" y="46439"/>
                    </a:lnTo>
                    <a:lnTo>
                      <a:pt x="336650" y="46439"/>
                    </a:lnTo>
                    <a:lnTo>
                      <a:pt x="336650" y="185743"/>
                    </a:lnTo>
                    <a:cubicBezTo>
                      <a:pt x="336650" y="198565"/>
                      <a:pt x="347044" y="208960"/>
                      <a:pt x="359867" y="208960"/>
                    </a:cubicBezTo>
                    <a:lnTo>
                      <a:pt x="499170" y="208960"/>
                    </a:lnTo>
                    <a:lnTo>
                      <a:pt x="499170" y="255394"/>
                    </a:lnTo>
                    <a:cubicBezTo>
                      <a:pt x="499170" y="268217"/>
                      <a:pt x="509565" y="278612"/>
                      <a:pt x="522388" y="278612"/>
                    </a:cubicBezTo>
                    <a:cubicBezTo>
                      <a:pt x="535210" y="278612"/>
                      <a:pt x="545605" y="268217"/>
                      <a:pt x="545605" y="255394"/>
                    </a:cubicBezTo>
                    <a:lnTo>
                      <a:pt x="545605" y="185743"/>
                    </a:lnTo>
                    <a:cubicBezTo>
                      <a:pt x="545610" y="179583"/>
                      <a:pt x="543167" y="173674"/>
                      <a:pt x="538814" y="169316"/>
                    </a:cubicBezTo>
                    <a:lnTo>
                      <a:pt x="376293" y="6796"/>
                    </a:lnTo>
                    <a:cubicBezTo>
                      <a:pt x="371935" y="2443"/>
                      <a:pt x="366026" y="0"/>
                      <a:pt x="359867" y="5"/>
                    </a:cubicBezTo>
                    <a:lnTo>
                      <a:pt x="81260" y="5"/>
                    </a:lnTo>
                    <a:cubicBezTo>
                      <a:pt x="55615" y="5"/>
                      <a:pt x="34826" y="20794"/>
                      <a:pt x="34826" y="46439"/>
                    </a:cubicBezTo>
                    <a:lnTo>
                      <a:pt x="34826" y="255394"/>
                    </a:lnTo>
                    <a:cubicBezTo>
                      <a:pt x="34826" y="268217"/>
                      <a:pt x="45221" y="278612"/>
                      <a:pt x="58043" y="278612"/>
                    </a:cubicBezTo>
                    <a:close/>
                    <a:moveTo>
                      <a:pt x="383084" y="79263"/>
                    </a:moveTo>
                    <a:lnTo>
                      <a:pt x="466347" y="162525"/>
                    </a:lnTo>
                    <a:lnTo>
                      <a:pt x="383084" y="16252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7576414" y="3004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讲义文档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59649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概念梳理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38491" y="3939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例题与小结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74635" y="4549140"/>
              <a:ext cx="7575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TEACH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601200" y="1676400"/>
            <a:ext cx="2057400" cy="3429000"/>
            <a:chOff x="9601200" y="1676400"/>
            <a:chExt cx="2057400" cy="3429000"/>
          </a:xfrm>
        </p:grpSpPr>
        <p:sp>
          <p:nvSpPr>
            <p:cNvPr id="41" name="Rectangle 41"/>
            <p:cNvSpPr/>
            <p:nvPr/>
          </p:nvSpPr>
          <p:spPr>
            <a:xfrm>
              <a:off x="9601200" y="1676400"/>
              <a:ext cx="2057400" cy="3429000"/>
            </a:xfrm>
            <a:prstGeom prst="roundRect">
              <a:avLst>
                <a:gd name="adj" fmla="val 6481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304859" y="2188369"/>
              <a:ext cx="626865" cy="557213"/>
              <a:chOff x="10304859" y="2188369"/>
              <a:chExt cx="626865" cy="55721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0328077" y="2211586"/>
                <a:ext cx="580431" cy="510779"/>
              </a:xfrm>
              <a:custGeom>
                <a:avLst/>
                <a:gdLst/>
                <a:ahLst/>
                <a:cxnLst/>
                <a:rect l="l" t="t" r="r" b="b"/>
                <a:pathLst>
                  <a:path w="580431" h="510779">
                    <a:moveTo>
                      <a:pt x="139303" y="208955"/>
                    </a:moveTo>
                    <a:lnTo>
                      <a:pt x="139303" y="301824"/>
                    </a:lnTo>
                    <a:cubicBezTo>
                      <a:pt x="139303" y="314646"/>
                      <a:pt x="128909" y="325041"/>
                      <a:pt x="116086" y="325041"/>
                    </a:cubicBezTo>
                    <a:lnTo>
                      <a:pt x="23217" y="325041"/>
                    </a:lnTo>
                    <a:cubicBezTo>
                      <a:pt x="10395" y="325041"/>
                      <a:pt x="0" y="314646"/>
                      <a:pt x="0" y="301824"/>
                    </a:cubicBezTo>
                    <a:lnTo>
                      <a:pt x="0" y="208955"/>
                    </a:lnTo>
                    <a:cubicBezTo>
                      <a:pt x="0" y="196133"/>
                      <a:pt x="10395" y="185738"/>
                      <a:pt x="23217" y="185738"/>
                    </a:cubicBezTo>
                    <a:lnTo>
                      <a:pt x="116086" y="185738"/>
                    </a:lnTo>
                    <a:cubicBezTo>
                      <a:pt x="128909" y="185738"/>
                      <a:pt x="139303" y="196133"/>
                      <a:pt x="139303" y="208955"/>
                    </a:cubicBezTo>
                    <a:close/>
                    <a:moveTo>
                      <a:pt x="557213" y="0"/>
                    </a:moveTo>
                    <a:lnTo>
                      <a:pt x="417910" y="0"/>
                    </a:lnTo>
                    <a:cubicBezTo>
                      <a:pt x="405088" y="0"/>
                      <a:pt x="394693" y="10395"/>
                      <a:pt x="394693" y="23217"/>
                    </a:cubicBezTo>
                    <a:lnTo>
                      <a:pt x="394693" y="162521"/>
                    </a:lnTo>
                    <a:cubicBezTo>
                      <a:pt x="394693" y="175343"/>
                      <a:pt x="405088" y="185738"/>
                      <a:pt x="417910" y="185738"/>
                    </a:cubicBezTo>
                    <a:lnTo>
                      <a:pt x="557213" y="185738"/>
                    </a:lnTo>
                    <a:cubicBezTo>
                      <a:pt x="570036" y="185738"/>
                      <a:pt x="580431" y="175343"/>
                      <a:pt x="580431" y="162521"/>
                    </a:cubicBezTo>
                    <a:lnTo>
                      <a:pt x="580431" y="23217"/>
                    </a:lnTo>
                    <a:cubicBezTo>
                      <a:pt x="580431" y="10395"/>
                      <a:pt x="570036" y="0"/>
                      <a:pt x="557213" y="0"/>
                    </a:cubicBezTo>
                    <a:close/>
                    <a:moveTo>
                      <a:pt x="557213" y="325041"/>
                    </a:moveTo>
                    <a:lnTo>
                      <a:pt x="417910" y="325041"/>
                    </a:lnTo>
                    <a:cubicBezTo>
                      <a:pt x="405088" y="325041"/>
                      <a:pt x="394693" y="335436"/>
                      <a:pt x="394693" y="348258"/>
                    </a:cubicBezTo>
                    <a:lnTo>
                      <a:pt x="394693" y="487562"/>
                    </a:lnTo>
                    <a:cubicBezTo>
                      <a:pt x="394693" y="500384"/>
                      <a:pt x="405088" y="510779"/>
                      <a:pt x="417910" y="510779"/>
                    </a:cubicBezTo>
                    <a:lnTo>
                      <a:pt x="557213" y="510779"/>
                    </a:lnTo>
                    <a:cubicBezTo>
                      <a:pt x="570036" y="510779"/>
                      <a:pt x="580431" y="500384"/>
                      <a:pt x="580431" y="487562"/>
                    </a:cubicBezTo>
                    <a:lnTo>
                      <a:pt x="580431" y="348258"/>
                    </a:lnTo>
                    <a:cubicBezTo>
                      <a:pt x="580431" y="335436"/>
                      <a:pt x="570036" y="325041"/>
                      <a:pt x="557213" y="325041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304859" y="2188369"/>
                <a:ext cx="626865" cy="557213"/>
              </a:xfrm>
              <a:custGeom>
                <a:avLst/>
                <a:gdLst/>
                <a:ahLst/>
                <a:cxnLst/>
                <a:rect l="l" t="t" r="r" b="b"/>
                <a:pathLst>
                  <a:path w="626865" h="557213">
                    <a:moveTo>
                      <a:pt x="441127" y="232172"/>
                    </a:moveTo>
                    <a:lnTo>
                      <a:pt x="580431" y="232172"/>
                    </a:lnTo>
                    <a:cubicBezTo>
                      <a:pt x="606076" y="232172"/>
                      <a:pt x="626865" y="211383"/>
                      <a:pt x="626865" y="185738"/>
                    </a:cubicBezTo>
                    <a:lnTo>
                      <a:pt x="626865" y="46434"/>
                    </a:lnTo>
                    <a:cubicBezTo>
                      <a:pt x="626865" y="20789"/>
                      <a:pt x="606076" y="0"/>
                      <a:pt x="580431" y="0"/>
                    </a:cubicBezTo>
                    <a:lnTo>
                      <a:pt x="441127" y="0"/>
                    </a:lnTo>
                    <a:cubicBezTo>
                      <a:pt x="415482" y="0"/>
                      <a:pt x="394693" y="20789"/>
                      <a:pt x="394693" y="46434"/>
                    </a:cubicBezTo>
                    <a:lnTo>
                      <a:pt x="394693" y="92869"/>
                    </a:lnTo>
                    <a:lnTo>
                      <a:pt x="371476" y="92869"/>
                    </a:lnTo>
                    <a:cubicBezTo>
                      <a:pt x="320186" y="92869"/>
                      <a:pt x="278607" y="134448"/>
                      <a:pt x="278607" y="185738"/>
                    </a:cubicBezTo>
                    <a:lnTo>
                      <a:pt x="278607" y="255389"/>
                    </a:lnTo>
                    <a:lnTo>
                      <a:pt x="185738" y="255389"/>
                    </a:lnTo>
                    <a:lnTo>
                      <a:pt x="185738" y="232172"/>
                    </a:lnTo>
                    <a:cubicBezTo>
                      <a:pt x="185738" y="206527"/>
                      <a:pt x="164948" y="185738"/>
                      <a:pt x="139303" y="185738"/>
                    </a:cubicBezTo>
                    <a:lnTo>
                      <a:pt x="46434" y="185738"/>
                    </a:lnTo>
                    <a:cubicBezTo>
                      <a:pt x="20789" y="185738"/>
                      <a:pt x="0" y="206527"/>
                      <a:pt x="0" y="232172"/>
                    </a:cubicBezTo>
                    <a:lnTo>
                      <a:pt x="0" y="325041"/>
                    </a:lnTo>
                    <a:cubicBezTo>
                      <a:pt x="0" y="350686"/>
                      <a:pt x="20789" y="371476"/>
                      <a:pt x="46434" y="371476"/>
                    </a:cubicBezTo>
                    <a:lnTo>
                      <a:pt x="139303" y="371476"/>
                    </a:lnTo>
                    <a:cubicBezTo>
                      <a:pt x="164948" y="371476"/>
                      <a:pt x="185738" y="350686"/>
                      <a:pt x="185738" y="325041"/>
                    </a:cubicBezTo>
                    <a:lnTo>
                      <a:pt x="185738" y="301824"/>
                    </a:lnTo>
                    <a:lnTo>
                      <a:pt x="278607" y="301824"/>
                    </a:lnTo>
                    <a:lnTo>
                      <a:pt x="278607" y="371476"/>
                    </a:lnTo>
                    <a:cubicBezTo>
                      <a:pt x="278607" y="422766"/>
                      <a:pt x="320186" y="464345"/>
                      <a:pt x="371476" y="464345"/>
                    </a:cubicBezTo>
                    <a:lnTo>
                      <a:pt x="394693" y="464345"/>
                    </a:lnTo>
                    <a:lnTo>
                      <a:pt x="394693" y="510779"/>
                    </a:lnTo>
                    <a:cubicBezTo>
                      <a:pt x="394693" y="536424"/>
                      <a:pt x="415482" y="557213"/>
                      <a:pt x="441127" y="557213"/>
                    </a:cubicBezTo>
                    <a:lnTo>
                      <a:pt x="580431" y="557213"/>
                    </a:lnTo>
                    <a:cubicBezTo>
                      <a:pt x="606076" y="557213"/>
                      <a:pt x="626865" y="536424"/>
                      <a:pt x="626865" y="510779"/>
                    </a:cubicBezTo>
                    <a:lnTo>
                      <a:pt x="626865" y="371476"/>
                    </a:lnTo>
                    <a:cubicBezTo>
                      <a:pt x="626865" y="345831"/>
                      <a:pt x="606076" y="325041"/>
                      <a:pt x="580431" y="325041"/>
                    </a:cubicBezTo>
                    <a:lnTo>
                      <a:pt x="441127" y="325041"/>
                    </a:lnTo>
                    <a:cubicBezTo>
                      <a:pt x="415482" y="325041"/>
                      <a:pt x="394693" y="345831"/>
                      <a:pt x="394693" y="371476"/>
                    </a:cubicBezTo>
                    <a:lnTo>
                      <a:pt x="394693" y="417910"/>
                    </a:lnTo>
                    <a:lnTo>
                      <a:pt x="371476" y="417910"/>
                    </a:lnTo>
                    <a:cubicBezTo>
                      <a:pt x="345831" y="417910"/>
                      <a:pt x="325041" y="397121"/>
                      <a:pt x="325041" y="371476"/>
                    </a:cubicBezTo>
                    <a:lnTo>
                      <a:pt x="325041" y="185738"/>
                    </a:lnTo>
                    <a:cubicBezTo>
                      <a:pt x="325041" y="160093"/>
                      <a:pt x="345831" y="139303"/>
                      <a:pt x="371476" y="139303"/>
                    </a:cubicBezTo>
                    <a:lnTo>
                      <a:pt x="394693" y="139303"/>
                    </a:lnTo>
                    <a:lnTo>
                      <a:pt x="394693" y="185738"/>
                    </a:lnTo>
                    <a:cubicBezTo>
                      <a:pt x="394693" y="211383"/>
                      <a:pt x="415482" y="232172"/>
                      <a:pt x="441127" y="232172"/>
                    </a:cubicBezTo>
                    <a:close/>
                    <a:moveTo>
                      <a:pt x="139303" y="325041"/>
                    </a:moveTo>
                    <a:lnTo>
                      <a:pt x="46434" y="325041"/>
                    </a:lnTo>
                    <a:lnTo>
                      <a:pt x="46434" y="232172"/>
                    </a:lnTo>
                    <a:lnTo>
                      <a:pt x="139303" y="232172"/>
                    </a:lnTo>
                    <a:lnTo>
                      <a:pt x="139303" y="325041"/>
                    </a:lnTo>
                    <a:close/>
                    <a:moveTo>
                      <a:pt x="441127" y="371476"/>
                    </a:moveTo>
                    <a:lnTo>
                      <a:pt x="580431" y="371476"/>
                    </a:lnTo>
                    <a:lnTo>
                      <a:pt x="580431" y="510779"/>
                    </a:lnTo>
                    <a:lnTo>
                      <a:pt x="441127" y="510779"/>
                    </a:lnTo>
                    <a:close/>
                    <a:moveTo>
                      <a:pt x="441127" y="46434"/>
                    </a:moveTo>
                    <a:lnTo>
                      <a:pt x="580431" y="46434"/>
                    </a:lnTo>
                    <a:lnTo>
                      <a:pt x="580431" y="185738"/>
                    </a:lnTo>
                    <a:lnTo>
                      <a:pt x="441127" y="1857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852889" y="300418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思维导图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36124" y="3615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结构关系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36124" y="3939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复习导航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83901" y="4549140"/>
              <a:ext cx="8919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REVIEW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333750" y="5467350"/>
            <a:ext cx="5524500" cy="581787"/>
            <a:chOff x="3333750" y="5467350"/>
            <a:chExt cx="5524500" cy="581787"/>
          </a:xfrm>
        </p:grpSpPr>
        <p:sp>
          <p:nvSpPr>
            <p:cNvPr id="50" name="Rectangle 50"/>
            <p:cNvSpPr/>
            <p:nvPr/>
          </p:nvSpPr>
          <p:spPr>
            <a:xfrm>
              <a:off x="3333750" y="5467350"/>
              <a:ext cx="5524500" cy="5524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89761" y="5579745"/>
              <a:ext cx="461247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ASYNCIO.GATHER · 五类并发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3" name="TextBox 53"/>
            <p:cNvSpPr txBox="1"/>
            <p:nvPr/>
          </p:nvSpPr>
          <p:spPr>
            <a:xfrm>
              <a:off x="526542" y="6388418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当前实现边界：固定生成 5 类资源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11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1893662" cy="1082802"/>
            <a:chOff x="514350" y="251460"/>
            <a:chExt cx="11893662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1893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知识图谱 + RAG，让生成“有依据、有顺序”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85417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RAG 提供证据，图谱提供关系，两者共同支撑资源与路径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38400" y="2228850"/>
            <a:ext cx="7324725" cy="2533650"/>
            <a:chOff x="2438400" y="2228850"/>
            <a:chExt cx="7324725" cy="2533650"/>
          </a:xfrm>
        </p:grpSpPr>
        <p:sp>
          <p:nvSpPr>
            <p:cNvPr id="5" name="Line 5"/>
            <p:cNvSpPr/>
            <p:nvPr/>
          </p:nvSpPr>
          <p:spPr>
            <a:xfrm>
              <a:off x="6096000" y="222885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438400" y="2609850"/>
              <a:ext cx="7315200" cy="9525"/>
            </a:xfrm>
            <a:custGeom>
              <a:avLst/>
              <a:gdLst/>
              <a:ahLst/>
              <a:cxnLst/>
              <a:rect l="l" t="t" r="r" b="b"/>
              <a:pathLst>
                <a:path w="7315200" h="9525">
                  <a:moveTo>
                    <a:pt x="0" y="0"/>
                  </a:moveTo>
                  <a:lnTo>
                    <a:pt x="731520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2438400" y="26098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26098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753600" y="26098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438400" y="43434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43434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9753600" y="434340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267200" y="1466850"/>
            <a:ext cx="3780404" cy="762000"/>
            <a:chOff x="4267200" y="1466850"/>
            <a:chExt cx="3780404" cy="762000"/>
          </a:xfrm>
        </p:grpSpPr>
        <p:sp>
          <p:nvSpPr>
            <p:cNvPr id="14" name="Rectangle 14"/>
            <p:cNvSpPr/>
            <p:nvPr/>
          </p:nvSpPr>
          <p:spPr>
            <a:xfrm>
              <a:off x="4267200" y="1466850"/>
              <a:ext cx="3657600" cy="762000"/>
            </a:xfrm>
            <a:prstGeom prst="roundRect">
              <a:avLst>
                <a:gd name="adj" fmla="val 15000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4583906" y="1662110"/>
              <a:ext cx="351533" cy="342903"/>
              <a:chOff x="4583906" y="1662110"/>
              <a:chExt cx="351533" cy="34290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805362" y="1676400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100012" y="100012"/>
                    </a:moveTo>
                    <a:lnTo>
                      <a:pt x="0" y="1000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583906" y="1662110"/>
                <a:ext cx="351533" cy="342903"/>
              </a:xfrm>
              <a:custGeom>
                <a:avLst/>
                <a:gdLst/>
                <a:ahLst/>
                <a:cxnLst/>
                <a:rect l="l" t="t" r="r" b="b"/>
                <a:pathLst>
                  <a:path w="351533" h="342903">
                    <a:moveTo>
                      <a:pt x="42862" y="214315"/>
                    </a:moveTo>
                    <a:lnTo>
                      <a:pt x="14288" y="214315"/>
                    </a:lnTo>
                    <a:cubicBezTo>
                      <a:pt x="6397" y="214315"/>
                      <a:pt x="0" y="220712"/>
                      <a:pt x="0" y="228603"/>
                    </a:cubicBezTo>
                    <a:lnTo>
                      <a:pt x="0" y="328615"/>
                    </a:lnTo>
                    <a:cubicBezTo>
                      <a:pt x="0" y="336506"/>
                      <a:pt x="6397" y="342903"/>
                      <a:pt x="14288" y="342903"/>
                    </a:cubicBezTo>
                    <a:lnTo>
                      <a:pt x="42862" y="342903"/>
                    </a:lnTo>
                    <a:cubicBezTo>
                      <a:pt x="78371" y="342903"/>
                      <a:pt x="107156" y="314118"/>
                      <a:pt x="107156" y="278609"/>
                    </a:cubicBezTo>
                    <a:cubicBezTo>
                      <a:pt x="107156" y="243101"/>
                      <a:pt x="78371" y="214315"/>
                      <a:pt x="42862" y="214315"/>
                    </a:cubicBezTo>
                    <a:close/>
                    <a:moveTo>
                      <a:pt x="42862" y="314328"/>
                    </a:moveTo>
                    <a:lnTo>
                      <a:pt x="28575" y="314328"/>
                    </a:lnTo>
                    <a:lnTo>
                      <a:pt x="28575" y="242890"/>
                    </a:lnTo>
                    <a:lnTo>
                      <a:pt x="42862" y="242890"/>
                    </a:lnTo>
                    <a:cubicBezTo>
                      <a:pt x="62589" y="242890"/>
                      <a:pt x="78581" y="258882"/>
                      <a:pt x="78581" y="278609"/>
                    </a:cubicBezTo>
                    <a:cubicBezTo>
                      <a:pt x="78581" y="298336"/>
                      <a:pt x="62589" y="314328"/>
                      <a:pt x="42862" y="314328"/>
                    </a:cubicBezTo>
                    <a:close/>
                    <a:moveTo>
                      <a:pt x="345632" y="305559"/>
                    </a:moveTo>
                    <a:cubicBezTo>
                      <a:pt x="351333" y="311014"/>
                      <a:pt x="351533" y="320057"/>
                      <a:pt x="346079" y="325758"/>
                    </a:cubicBezTo>
                    <a:cubicBezTo>
                      <a:pt x="336024" y="336581"/>
                      <a:pt x="321954" y="342783"/>
                      <a:pt x="307181" y="342903"/>
                    </a:cubicBezTo>
                    <a:cubicBezTo>
                      <a:pt x="275659" y="342903"/>
                      <a:pt x="250031" y="314060"/>
                      <a:pt x="250031" y="278609"/>
                    </a:cubicBezTo>
                    <a:cubicBezTo>
                      <a:pt x="250031" y="243158"/>
                      <a:pt x="275659" y="214315"/>
                      <a:pt x="307181" y="214315"/>
                    </a:cubicBezTo>
                    <a:cubicBezTo>
                      <a:pt x="321954" y="214435"/>
                      <a:pt x="336024" y="220637"/>
                      <a:pt x="346079" y="231460"/>
                    </a:cubicBezTo>
                    <a:cubicBezTo>
                      <a:pt x="351411" y="237179"/>
                      <a:pt x="351155" y="246122"/>
                      <a:pt x="345506" y="251527"/>
                    </a:cubicBezTo>
                    <a:cubicBezTo>
                      <a:pt x="339856" y="256932"/>
                      <a:pt x="330911" y="256792"/>
                      <a:pt x="325434" y="251213"/>
                    </a:cubicBezTo>
                    <a:cubicBezTo>
                      <a:pt x="320747" y="246055"/>
                      <a:pt x="314149" y="243047"/>
                      <a:pt x="307181" y="242890"/>
                    </a:cubicBezTo>
                    <a:cubicBezTo>
                      <a:pt x="291429" y="242890"/>
                      <a:pt x="278606" y="258964"/>
                      <a:pt x="278606" y="278609"/>
                    </a:cubicBezTo>
                    <a:cubicBezTo>
                      <a:pt x="278606" y="298255"/>
                      <a:pt x="291429" y="314328"/>
                      <a:pt x="307181" y="314328"/>
                    </a:cubicBezTo>
                    <a:cubicBezTo>
                      <a:pt x="314152" y="314184"/>
                      <a:pt x="320754" y="311174"/>
                      <a:pt x="325434" y="306006"/>
                    </a:cubicBezTo>
                    <a:cubicBezTo>
                      <a:pt x="330888" y="300305"/>
                      <a:pt x="339931" y="300105"/>
                      <a:pt x="345632" y="305559"/>
                    </a:cubicBezTo>
                    <a:close/>
                    <a:moveTo>
                      <a:pt x="178594" y="214315"/>
                    </a:moveTo>
                    <a:cubicBezTo>
                      <a:pt x="147090" y="214315"/>
                      <a:pt x="121444" y="243158"/>
                      <a:pt x="121444" y="278609"/>
                    </a:cubicBezTo>
                    <a:cubicBezTo>
                      <a:pt x="121444" y="314060"/>
                      <a:pt x="147090" y="342903"/>
                      <a:pt x="178594" y="342903"/>
                    </a:cubicBezTo>
                    <a:cubicBezTo>
                      <a:pt x="210098" y="342903"/>
                      <a:pt x="235744" y="314060"/>
                      <a:pt x="235744" y="278609"/>
                    </a:cubicBezTo>
                    <a:cubicBezTo>
                      <a:pt x="235744" y="243158"/>
                      <a:pt x="210098" y="214315"/>
                      <a:pt x="178594" y="214315"/>
                    </a:cubicBezTo>
                    <a:close/>
                    <a:moveTo>
                      <a:pt x="178594" y="314328"/>
                    </a:moveTo>
                    <a:cubicBezTo>
                      <a:pt x="162842" y="314328"/>
                      <a:pt x="150019" y="298255"/>
                      <a:pt x="150019" y="278609"/>
                    </a:cubicBezTo>
                    <a:cubicBezTo>
                      <a:pt x="150019" y="258964"/>
                      <a:pt x="162842" y="242890"/>
                      <a:pt x="178594" y="242890"/>
                    </a:cubicBezTo>
                    <a:cubicBezTo>
                      <a:pt x="194346" y="242890"/>
                      <a:pt x="207169" y="258964"/>
                      <a:pt x="207169" y="278609"/>
                    </a:cubicBezTo>
                    <a:cubicBezTo>
                      <a:pt x="207169" y="298255"/>
                      <a:pt x="194346" y="314328"/>
                      <a:pt x="178594" y="314328"/>
                    </a:cubicBezTo>
                    <a:close/>
                    <a:moveTo>
                      <a:pt x="35719" y="171453"/>
                    </a:moveTo>
                    <a:cubicBezTo>
                      <a:pt x="43610" y="171453"/>
                      <a:pt x="50006" y="165056"/>
                      <a:pt x="50006" y="157165"/>
                    </a:cubicBezTo>
                    <a:lnTo>
                      <a:pt x="50006" y="28578"/>
                    </a:lnTo>
                    <a:lnTo>
                      <a:pt x="207169" y="28578"/>
                    </a:lnTo>
                    <a:lnTo>
                      <a:pt x="207169" y="114303"/>
                    </a:lnTo>
                    <a:cubicBezTo>
                      <a:pt x="207169" y="122194"/>
                      <a:pt x="213565" y="128590"/>
                      <a:pt x="221456" y="128590"/>
                    </a:cubicBezTo>
                    <a:lnTo>
                      <a:pt x="307181" y="128590"/>
                    </a:lnTo>
                    <a:lnTo>
                      <a:pt x="307181" y="157165"/>
                    </a:lnTo>
                    <a:cubicBezTo>
                      <a:pt x="307181" y="165056"/>
                      <a:pt x="313578" y="171453"/>
                      <a:pt x="321469" y="171453"/>
                    </a:cubicBezTo>
                    <a:cubicBezTo>
                      <a:pt x="329360" y="171453"/>
                      <a:pt x="335756" y="165056"/>
                      <a:pt x="335756" y="157165"/>
                    </a:cubicBezTo>
                    <a:lnTo>
                      <a:pt x="335756" y="114303"/>
                    </a:lnTo>
                    <a:cubicBezTo>
                      <a:pt x="335759" y="110513"/>
                      <a:pt x="334256" y="106876"/>
                      <a:pt x="331577" y="104195"/>
                    </a:cubicBezTo>
                    <a:lnTo>
                      <a:pt x="231565" y="4182"/>
                    </a:lnTo>
                    <a:cubicBezTo>
                      <a:pt x="228883" y="1503"/>
                      <a:pt x="225247" y="0"/>
                      <a:pt x="221456" y="3"/>
                    </a:cubicBezTo>
                    <a:lnTo>
                      <a:pt x="50006" y="3"/>
                    </a:lnTo>
                    <a:cubicBezTo>
                      <a:pt x="34225" y="3"/>
                      <a:pt x="21431" y="12796"/>
                      <a:pt x="21431" y="28578"/>
                    </a:cubicBezTo>
                    <a:lnTo>
                      <a:pt x="21431" y="157165"/>
                    </a:lnTo>
                    <a:cubicBezTo>
                      <a:pt x="21431" y="165056"/>
                      <a:pt x="27828" y="171453"/>
                      <a:pt x="35719" y="171453"/>
                    </a:cubicBezTo>
                    <a:close/>
                    <a:moveTo>
                      <a:pt x="235744" y="48777"/>
                    </a:moveTo>
                    <a:lnTo>
                      <a:pt x="286982" y="100015"/>
                    </a:lnTo>
                    <a:lnTo>
                      <a:pt x="235744" y="1000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207508" y="1684020"/>
              <a:ext cx="28400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教材 / 文档 / 讲义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" y="3009900"/>
            <a:ext cx="3200400" cy="1333500"/>
            <a:chOff x="838200" y="3009900"/>
            <a:chExt cx="3200400" cy="1333500"/>
          </a:xfrm>
        </p:grpSpPr>
        <p:sp>
          <p:nvSpPr>
            <p:cNvPr id="20" name="Rectangle 20"/>
            <p:cNvSpPr/>
            <p:nvPr/>
          </p:nvSpPr>
          <p:spPr>
            <a:xfrm>
              <a:off x="838200" y="3009900"/>
              <a:ext cx="32004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30808" y="3169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知识抽取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3856" y="36537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概念、定义、例题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3856" y="39776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形成知识点节点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95800" y="3009900"/>
            <a:ext cx="3200400" cy="1333500"/>
            <a:chOff x="4495800" y="3009900"/>
            <a:chExt cx="3200400" cy="1333500"/>
          </a:xfrm>
        </p:grpSpPr>
        <p:sp>
          <p:nvSpPr>
            <p:cNvPr id="25" name="Rectangle 25"/>
            <p:cNvSpPr/>
            <p:nvPr/>
          </p:nvSpPr>
          <p:spPr>
            <a:xfrm>
              <a:off x="4495800" y="3009900"/>
              <a:ext cx="32004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88408" y="3169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向量证据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91456" y="3653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语义切片与召回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91456" y="39776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回答引用相关上下文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53400" y="3009900"/>
            <a:ext cx="3200400" cy="1333500"/>
            <a:chOff x="8153400" y="3009900"/>
            <a:chExt cx="32004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8153400" y="3009900"/>
              <a:ext cx="3200400" cy="133350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46008" y="3169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关系图谱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9056" y="36537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前置、包含、关联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49056" y="3977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支撑学习顺序推理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38200" y="4762500"/>
            <a:ext cx="3200400" cy="1009650"/>
            <a:chOff x="838200" y="4762500"/>
            <a:chExt cx="3200400" cy="1009650"/>
          </a:xfrm>
        </p:grpSpPr>
        <p:sp>
          <p:nvSpPr>
            <p:cNvPr id="35" name="Rectangle 35"/>
            <p:cNvSpPr/>
            <p:nvPr/>
          </p:nvSpPr>
          <p:spPr>
            <a:xfrm>
              <a:off x="838200" y="4762500"/>
              <a:ext cx="3200400" cy="1009650"/>
            </a:xfrm>
            <a:prstGeom prst="roundRect">
              <a:avLst>
                <a:gd name="adj" fmla="val 1132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178719" y="5097661"/>
              <a:ext cx="328613" cy="342772"/>
              <a:chOff x="1178719" y="5097661"/>
              <a:chExt cx="328613" cy="34277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192411" y="5111353"/>
                <a:ext cx="301229" cy="315127"/>
              </a:xfrm>
              <a:custGeom>
                <a:avLst/>
                <a:gdLst/>
                <a:ahLst/>
                <a:cxnLst/>
                <a:rect l="l" t="t" r="r" b="b"/>
                <a:pathLst>
                  <a:path w="301229" h="315127">
                    <a:moveTo>
                      <a:pt x="301229" y="13692"/>
                    </a:moveTo>
                    <a:lnTo>
                      <a:pt x="301229" y="114279"/>
                    </a:lnTo>
                    <a:cubicBezTo>
                      <a:pt x="301229" y="258355"/>
                      <a:pt x="179180" y="306090"/>
                      <a:pt x="154825" y="314185"/>
                    </a:cubicBezTo>
                    <a:cubicBezTo>
                      <a:pt x="152097" y="315127"/>
                      <a:pt x="149132" y="315127"/>
                      <a:pt x="146404" y="314185"/>
                    </a:cubicBezTo>
                    <a:cubicBezTo>
                      <a:pt x="122049" y="306124"/>
                      <a:pt x="0" y="258441"/>
                      <a:pt x="0" y="114313"/>
                    </a:cubicBezTo>
                    <a:lnTo>
                      <a:pt x="0" y="13692"/>
                    </a:lnTo>
                    <a:cubicBezTo>
                      <a:pt x="0" y="6130"/>
                      <a:pt x="6130" y="0"/>
                      <a:pt x="13692" y="0"/>
                    </a:cubicBezTo>
                    <a:lnTo>
                      <a:pt x="287537" y="0"/>
                    </a:lnTo>
                    <a:cubicBezTo>
                      <a:pt x="295099" y="0"/>
                      <a:pt x="301229" y="6130"/>
                      <a:pt x="301229" y="13692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78719" y="5097661"/>
                <a:ext cx="328613" cy="342772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42772">
                    <a:moveTo>
                      <a:pt x="301229" y="0"/>
                    </a:moveTo>
                    <a:lnTo>
                      <a:pt x="27384" y="0"/>
                    </a:lnTo>
                    <a:cubicBezTo>
                      <a:pt x="12260" y="0"/>
                      <a:pt x="0" y="12260"/>
                      <a:pt x="0" y="27384"/>
                    </a:cubicBezTo>
                    <a:lnTo>
                      <a:pt x="0" y="127988"/>
                    </a:lnTo>
                    <a:cubicBezTo>
                      <a:pt x="0" y="281358"/>
                      <a:pt x="129768" y="332242"/>
                      <a:pt x="155749" y="340885"/>
                    </a:cubicBezTo>
                    <a:cubicBezTo>
                      <a:pt x="161298" y="342772"/>
                      <a:pt x="167315" y="342772"/>
                      <a:pt x="172864" y="340885"/>
                    </a:cubicBezTo>
                    <a:cubicBezTo>
                      <a:pt x="198880" y="332242"/>
                      <a:pt x="328613" y="281358"/>
                      <a:pt x="328613" y="127988"/>
                    </a:cubicBezTo>
                    <a:lnTo>
                      <a:pt x="328613" y="27384"/>
                    </a:lnTo>
                    <a:cubicBezTo>
                      <a:pt x="328613" y="12260"/>
                      <a:pt x="316353" y="0"/>
                      <a:pt x="301229" y="0"/>
                    </a:cubicBezTo>
                    <a:close/>
                    <a:moveTo>
                      <a:pt x="301229" y="128005"/>
                    </a:moveTo>
                    <a:cubicBezTo>
                      <a:pt x="301229" y="262223"/>
                      <a:pt x="187669" y="307065"/>
                      <a:pt x="164307" y="314870"/>
                    </a:cubicBezTo>
                    <a:cubicBezTo>
                      <a:pt x="141150" y="307151"/>
                      <a:pt x="27384" y="262343"/>
                      <a:pt x="27384" y="128005"/>
                    </a:cubicBezTo>
                    <a:lnTo>
                      <a:pt x="27384" y="27384"/>
                    </a:lnTo>
                    <a:lnTo>
                      <a:pt x="301229" y="27384"/>
                    </a:lnTo>
                    <a:close/>
                    <a:moveTo>
                      <a:pt x="86158" y="173994"/>
                    </a:moveTo>
                    <a:cubicBezTo>
                      <a:pt x="80808" y="168644"/>
                      <a:pt x="80808" y="159970"/>
                      <a:pt x="86158" y="154619"/>
                    </a:cubicBezTo>
                    <a:cubicBezTo>
                      <a:pt x="91508" y="149269"/>
                      <a:pt x="100183" y="149269"/>
                      <a:pt x="105533" y="154619"/>
                    </a:cubicBezTo>
                    <a:lnTo>
                      <a:pt x="136922" y="186009"/>
                    </a:lnTo>
                    <a:lnTo>
                      <a:pt x="223081" y="99851"/>
                    </a:lnTo>
                    <a:cubicBezTo>
                      <a:pt x="228431" y="94500"/>
                      <a:pt x="237105" y="94500"/>
                      <a:pt x="242455" y="99851"/>
                    </a:cubicBezTo>
                    <a:cubicBezTo>
                      <a:pt x="247805" y="105201"/>
                      <a:pt x="247805" y="113875"/>
                      <a:pt x="242455" y="119225"/>
                    </a:cubicBezTo>
                    <a:lnTo>
                      <a:pt x="146610" y="215071"/>
                    </a:lnTo>
                    <a:cubicBezTo>
                      <a:pt x="144041" y="217642"/>
                      <a:pt x="140556" y="219086"/>
                      <a:pt x="136922" y="219086"/>
                    </a:cubicBezTo>
                    <a:cubicBezTo>
                      <a:pt x="133288" y="219086"/>
                      <a:pt x="129803" y="217642"/>
                      <a:pt x="127235" y="21507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743456" y="50253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生成更可信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43456" y="53397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降低无依据输出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95800" y="4762500"/>
            <a:ext cx="3200400" cy="1009650"/>
            <a:chOff x="4495800" y="4762500"/>
            <a:chExt cx="3200400" cy="1009650"/>
          </a:xfrm>
        </p:grpSpPr>
        <p:sp>
          <p:nvSpPr>
            <p:cNvPr id="42" name="Rectangle 42"/>
            <p:cNvSpPr/>
            <p:nvPr/>
          </p:nvSpPr>
          <p:spPr>
            <a:xfrm>
              <a:off x="4495800" y="4762500"/>
              <a:ext cx="3200400" cy="1009650"/>
            </a:xfrm>
            <a:prstGeom prst="roundRect">
              <a:avLst>
                <a:gd name="adj" fmla="val 1132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4807051" y="5054636"/>
              <a:ext cx="372918" cy="372984"/>
              <a:chOff x="4807051" y="5054636"/>
              <a:chExt cx="372918" cy="37298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836319" y="5083969"/>
                <a:ext cx="273845" cy="273845"/>
              </a:xfrm>
              <a:custGeom>
                <a:avLst/>
                <a:gdLst/>
                <a:ahLst/>
                <a:cxnLst/>
                <a:rect l="l" t="t" r="r" b="b"/>
                <a:pathLst>
                  <a:path w="273845" h="273845">
                    <a:moveTo>
                      <a:pt x="273845" y="136922"/>
                    </a:moveTo>
                    <a:cubicBezTo>
                      <a:pt x="273845" y="212542"/>
                      <a:pt x="212542" y="273845"/>
                      <a:pt x="136922" y="273845"/>
                    </a:cubicBezTo>
                    <a:cubicBezTo>
                      <a:pt x="61302" y="273845"/>
                      <a:pt x="0" y="212542"/>
                      <a:pt x="0" y="136922"/>
                    </a:cubicBezTo>
                    <a:cubicBezTo>
                      <a:pt x="0" y="61302"/>
                      <a:pt x="61302" y="0"/>
                      <a:pt x="136922" y="0"/>
                    </a:cubicBezTo>
                    <a:cubicBezTo>
                      <a:pt x="212542" y="0"/>
                      <a:pt x="273845" y="61302"/>
                      <a:pt x="273845" y="136922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807051" y="5054636"/>
                <a:ext cx="372918" cy="372984"/>
              </a:xfrm>
              <a:custGeom>
                <a:avLst/>
                <a:gdLst/>
                <a:ahLst/>
                <a:cxnLst/>
                <a:rect l="l" t="t" r="r" b="b"/>
                <a:pathLst>
                  <a:path w="372918" h="372984">
                    <a:moveTo>
                      <a:pt x="367568" y="348259"/>
                    </a:moveTo>
                    <a:lnTo>
                      <a:pt x="281889" y="262580"/>
                    </a:lnTo>
                    <a:cubicBezTo>
                      <a:pt x="333579" y="200587"/>
                      <a:pt x="327364" y="108902"/>
                      <a:pt x="267782" y="54451"/>
                    </a:cubicBezTo>
                    <a:cubicBezTo>
                      <a:pt x="208199" y="0"/>
                      <a:pt x="116326" y="2046"/>
                      <a:pt x="59227" y="59095"/>
                    </a:cubicBezTo>
                    <a:cubicBezTo>
                      <a:pt x="2127" y="116144"/>
                      <a:pt x="0" y="208015"/>
                      <a:pt x="54398" y="267646"/>
                    </a:cubicBezTo>
                    <a:cubicBezTo>
                      <a:pt x="108796" y="327276"/>
                      <a:pt x="200476" y="333572"/>
                      <a:pt x="262515" y="281937"/>
                    </a:cubicBezTo>
                    <a:lnTo>
                      <a:pt x="348194" y="367633"/>
                    </a:lnTo>
                    <a:cubicBezTo>
                      <a:pt x="353544" y="372984"/>
                      <a:pt x="362218" y="372984"/>
                      <a:pt x="367568" y="367633"/>
                    </a:cubicBezTo>
                    <a:cubicBezTo>
                      <a:pt x="372918" y="362283"/>
                      <a:pt x="372918" y="353609"/>
                      <a:pt x="367568" y="348259"/>
                    </a:cubicBezTo>
                    <a:close/>
                    <a:moveTo>
                      <a:pt x="42960" y="166255"/>
                    </a:moveTo>
                    <a:cubicBezTo>
                      <a:pt x="42960" y="98197"/>
                      <a:pt x="98132" y="43025"/>
                      <a:pt x="166190" y="43025"/>
                    </a:cubicBezTo>
                    <a:cubicBezTo>
                      <a:pt x="234248" y="43025"/>
                      <a:pt x="289420" y="98197"/>
                      <a:pt x="289420" y="166255"/>
                    </a:cubicBezTo>
                    <a:cubicBezTo>
                      <a:pt x="289420" y="234313"/>
                      <a:pt x="234248" y="289485"/>
                      <a:pt x="166190" y="289485"/>
                    </a:cubicBezTo>
                    <a:cubicBezTo>
                      <a:pt x="98163" y="289410"/>
                      <a:pt x="43035" y="234282"/>
                      <a:pt x="42960" y="16625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5401056" y="50253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回答可追溯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01056" y="53397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召回证据可核验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53400" y="4762500"/>
            <a:ext cx="3200400" cy="1009650"/>
            <a:chOff x="8153400" y="4762500"/>
            <a:chExt cx="3200400" cy="1009650"/>
          </a:xfrm>
        </p:grpSpPr>
        <p:sp>
          <p:nvSpPr>
            <p:cNvPr id="49" name="Rectangle 49"/>
            <p:cNvSpPr/>
            <p:nvPr/>
          </p:nvSpPr>
          <p:spPr>
            <a:xfrm>
              <a:off x="8153400" y="4762500"/>
              <a:ext cx="3200400" cy="1009650"/>
            </a:xfrm>
            <a:prstGeom prst="roundRect">
              <a:avLst>
                <a:gd name="adj" fmla="val 11321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480227" y="5111353"/>
              <a:ext cx="358162" cy="318914"/>
              <a:chOff x="8480227" y="5111353"/>
              <a:chExt cx="358162" cy="31891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740379" y="5330429"/>
                <a:ext cx="82153" cy="82153"/>
              </a:xfrm>
              <a:custGeom>
                <a:avLst/>
                <a:gdLst/>
                <a:ahLst/>
                <a:cxnLst/>
                <a:rect l="l" t="t" r="r" b="b"/>
                <a:pathLst>
                  <a:path w="82153" h="82153">
                    <a:moveTo>
                      <a:pt x="82153" y="41077"/>
                    </a:moveTo>
                    <a:cubicBezTo>
                      <a:pt x="82153" y="63763"/>
                      <a:pt x="63763" y="82153"/>
                      <a:pt x="41077" y="82153"/>
                    </a:cubicBezTo>
                    <a:cubicBezTo>
                      <a:pt x="18391" y="82153"/>
                      <a:pt x="0" y="63763"/>
                      <a:pt x="0" y="41077"/>
                    </a:cubicBezTo>
                    <a:cubicBezTo>
                      <a:pt x="0" y="18391"/>
                      <a:pt x="18391" y="0"/>
                      <a:pt x="41077" y="0"/>
                    </a:cubicBezTo>
                    <a:cubicBezTo>
                      <a:pt x="63763" y="0"/>
                      <a:pt x="82153" y="18391"/>
                      <a:pt x="82153" y="41077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480227" y="5111353"/>
                <a:ext cx="358162" cy="318914"/>
              </a:xfrm>
              <a:custGeom>
                <a:avLst/>
                <a:gdLst/>
                <a:ahLst/>
                <a:cxnLst/>
                <a:rect l="l" t="t" r="r" b="b"/>
                <a:pathLst>
                  <a:path w="358162" h="318914">
                    <a:moveTo>
                      <a:pt x="301229" y="205383"/>
                    </a:moveTo>
                    <a:cubicBezTo>
                      <a:pt x="276257" y="205407"/>
                      <a:pt x="254450" y="222290"/>
                      <a:pt x="248172" y="246460"/>
                    </a:cubicBezTo>
                    <a:lnTo>
                      <a:pt x="82153" y="246460"/>
                    </a:lnTo>
                    <a:cubicBezTo>
                      <a:pt x="51905" y="246460"/>
                      <a:pt x="27384" y="221939"/>
                      <a:pt x="27384" y="191691"/>
                    </a:cubicBezTo>
                    <a:cubicBezTo>
                      <a:pt x="27384" y="161443"/>
                      <a:pt x="51905" y="136922"/>
                      <a:pt x="82153" y="136922"/>
                    </a:cubicBezTo>
                    <a:lnTo>
                      <a:pt x="246460" y="136922"/>
                    </a:lnTo>
                    <a:cubicBezTo>
                      <a:pt x="284270" y="136922"/>
                      <a:pt x="314921" y="106271"/>
                      <a:pt x="314921" y="68461"/>
                    </a:cubicBezTo>
                    <a:cubicBezTo>
                      <a:pt x="314921" y="30651"/>
                      <a:pt x="284270" y="0"/>
                      <a:pt x="246460" y="0"/>
                    </a:cubicBezTo>
                    <a:lnTo>
                      <a:pt x="82153" y="0"/>
                    </a:lnTo>
                    <a:cubicBezTo>
                      <a:pt x="74591" y="0"/>
                      <a:pt x="68461" y="6130"/>
                      <a:pt x="68461" y="13692"/>
                    </a:cubicBezTo>
                    <a:cubicBezTo>
                      <a:pt x="68461" y="21254"/>
                      <a:pt x="74591" y="27384"/>
                      <a:pt x="82153" y="27384"/>
                    </a:cubicBezTo>
                    <a:lnTo>
                      <a:pt x="246460" y="27384"/>
                    </a:lnTo>
                    <a:cubicBezTo>
                      <a:pt x="269146" y="27384"/>
                      <a:pt x="287537" y="45775"/>
                      <a:pt x="287537" y="68461"/>
                    </a:cubicBezTo>
                    <a:cubicBezTo>
                      <a:pt x="287537" y="91147"/>
                      <a:pt x="269146" y="109538"/>
                      <a:pt x="246460" y="109538"/>
                    </a:cubicBezTo>
                    <a:lnTo>
                      <a:pt x="82153" y="109538"/>
                    </a:lnTo>
                    <a:cubicBezTo>
                      <a:pt x="36781" y="109538"/>
                      <a:pt x="0" y="146319"/>
                      <a:pt x="0" y="191691"/>
                    </a:cubicBezTo>
                    <a:cubicBezTo>
                      <a:pt x="0" y="237063"/>
                      <a:pt x="36781" y="273845"/>
                      <a:pt x="82153" y="273845"/>
                    </a:cubicBezTo>
                    <a:lnTo>
                      <a:pt x="248172" y="273845"/>
                    </a:lnTo>
                    <a:cubicBezTo>
                      <a:pt x="255286" y="301399"/>
                      <a:pt x="282318" y="318914"/>
                      <a:pt x="310375" y="314147"/>
                    </a:cubicBezTo>
                    <a:cubicBezTo>
                      <a:pt x="338431" y="309381"/>
                      <a:pt x="358162" y="283921"/>
                      <a:pt x="355778" y="255563"/>
                    </a:cubicBezTo>
                    <a:cubicBezTo>
                      <a:pt x="353393" y="227205"/>
                      <a:pt x="329687" y="205398"/>
                      <a:pt x="301229" y="205383"/>
                    </a:cubicBezTo>
                    <a:close/>
                    <a:moveTo>
                      <a:pt x="301229" y="287537"/>
                    </a:moveTo>
                    <a:cubicBezTo>
                      <a:pt x="286105" y="287537"/>
                      <a:pt x="273845" y="275276"/>
                      <a:pt x="273845" y="260152"/>
                    </a:cubicBezTo>
                    <a:cubicBezTo>
                      <a:pt x="273845" y="245028"/>
                      <a:pt x="286105" y="232768"/>
                      <a:pt x="301229" y="232768"/>
                    </a:cubicBezTo>
                    <a:cubicBezTo>
                      <a:pt x="316353" y="232768"/>
                      <a:pt x="328613" y="245028"/>
                      <a:pt x="328613" y="260152"/>
                    </a:cubicBezTo>
                    <a:cubicBezTo>
                      <a:pt x="328613" y="275276"/>
                      <a:pt x="316353" y="287537"/>
                      <a:pt x="301229" y="28753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9058656" y="50253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路径有顺序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58656" y="53397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尊重前置依赖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526542" y="6388418"/>
              <a:ext cx="3109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数据基础：pgvector / FAISS + Neo4j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12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130561" cy="1082802"/>
            <a:chOff x="514350" y="251460"/>
            <a:chExt cx="10130561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13056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从学习目标到阶段路径，再到精准资源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90708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路径不是目录排序，而是由知识差距、前置关系和画像共同决定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00150" y="1962150"/>
            <a:ext cx="9525" cy="3505200"/>
            <a:chOff x="1200150" y="1962150"/>
            <a:chExt cx="9525" cy="3505200"/>
          </a:xfrm>
        </p:grpSpPr>
        <p:sp>
          <p:nvSpPr>
            <p:cNvPr id="5" name="Line 5"/>
            <p:cNvSpPr/>
            <p:nvPr/>
          </p:nvSpPr>
          <p:spPr>
            <a:xfrm>
              <a:off x="1200150" y="1962150"/>
              <a:ext cx="9525" cy="3505200"/>
            </a:xfrm>
            <a:custGeom>
              <a:avLst/>
              <a:gdLst/>
              <a:ahLst/>
              <a:cxnLst/>
              <a:rect l="l" t="t" r="r" b="b"/>
              <a:pathLst>
                <a:path w="9525" h="3505200">
                  <a:moveTo>
                    <a:pt x="0" y="0"/>
                  </a:moveTo>
                  <a:lnTo>
                    <a:pt x="0" y="3505200"/>
                  </a:lnTo>
                </a:path>
              </a:pathLst>
            </a:custGeom>
            <a:noFill/>
            <a:ln w="76200" cap="rnd">
              <a:solidFill>
                <a:schemeClr val="accent4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33450" y="1817370"/>
            <a:ext cx="3213354" cy="759714"/>
            <a:chOff x="933450" y="1817370"/>
            <a:chExt cx="3213354" cy="759714"/>
          </a:xfrm>
        </p:grpSpPr>
        <p:sp>
          <p:nvSpPr>
            <p:cNvPr id="7" name="Ellipse 7"/>
            <p:cNvSpPr/>
            <p:nvPr/>
          </p:nvSpPr>
          <p:spPr>
            <a:xfrm>
              <a:off x="933450" y="188595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1037" y="20440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02308" y="18173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明确目标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5356" y="22250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学科、分数、截止日期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3450" y="3284220"/>
            <a:ext cx="2765069" cy="759714"/>
            <a:chOff x="933450" y="3284220"/>
            <a:chExt cx="2765069" cy="759714"/>
          </a:xfrm>
        </p:grpSpPr>
        <p:sp>
          <p:nvSpPr>
            <p:cNvPr id="12" name="Ellipse 12"/>
            <p:cNvSpPr/>
            <p:nvPr/>
          </p:nvSpPr>
          <p:spPr>
            <a:xfrm>
              <a:off x="933450" y="335280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21037" y="35109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2308" y="32842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诊断差距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5356" y="369189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掌握度 + 知识依赖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3450" y="4751070"/>
            <a:ext cx="3455670" cy="759714"/>
            <a:chOff x="933450" y="4751070"/>
            <a:chExt cx="3455670" cy="759714"/>
          </a:xfrm>
        </p:grpSpPr>
        <p:sp>
          <p:nvSpPr>
            <p:cNvPr id="17" name="Ellipse 17"/>
            <p:cNvSpPr/>
            <p:nvPr/>
          </p:nvSpPr>
          <p:spPr>
            <a:xfrm>
              <a:off x="933450" y="4819650"/>
              <a:ext cx="533400" cy="533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21037" y="49777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02308" y="47510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阶段推送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05356" y="51587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知识点、资源、完成状态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29100" y="1581150"/>
            <a:ext cx="7429500" cy="4400550"/>
            <a:chOff x="4229100" y="1581150"/>
            <a:chExt cx="7429500" cy="4400550"/>
          </a:xfrm>
        </p:grpSpPr>
        <p:sp>
          <p:nvSpPr>
            <p:cNvPr id="22" name="Rectangle 22"/>
            <p:cNvSpPr/>
            <p:nvPr/>
          </p:nvSpPr>
          <p:spPr>
            <a:xfrm>
              <a:off x="4229100" y="1581150"/>
              <a:ext cx="7429500" cy="4400550"/>
            </a:xfrm>
            <a:prstGeom prst="roundRect">
              <a:avLst>
                <a:gd name="adj" fmla="val 2597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0550" y="1754981"/>
              <a:ext cx="7086600" cy="3986212"/>
            </a:xfrm>
            <a:prstGeom prst="rect">
              <a:avLst/>
            </a:prstGeom>
          </p:spPr>
        </p:pic>
        <p:sp>
          <p:nvSpPr>
            <p:cNvPr id="24" name="Rectangle 24"/>
            <p:cNvSpPr/>
            <p:nvPr/>
          </p:nvSpPr>
          <p:spPr>
            <a:xfrm>
              <a:off x="4514850" y="5410200"/>
              <a:ext cx="2419350" cy="285750"/>
            </a:xfrm>
            <a:prstGeom prst="roundRect">
              <a:avLst>
                <a:gd name="adj" fmla="val 16667"/>
              </a:avLst>
            </a:prstGeom>
            <a:solidFill>
              <a:schemeClr val="lt1">
                <a:alpha val="92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60392" y="5474018"/>
              <a:ext cx="2130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REAL UI · 学习路径页面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526542" y="6388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真实产品页面：学习路径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13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7153275"/>
            <a:chOff x="0" y="0"/>
            <a:chExt cx="12192000" cy="715327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066800"/>
              <a:ext cx="10820400" cy="6086475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2019300"/>
            </a:xfrm>
            <a:prstGeom prst="rect">
              <a:avLst/>
            </a:prstGeom>
            <a:gradFill>
              <a:gsLst>
                <a:gs pos="0">
                  <a:schemeClr val="lt1">
                    <a:alpha val="98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4350" y="213360"/>
            <a:ext cx="9061948" cy="1101852"/>
            <a:chOff x="514350" y="213360"/>
            <a:chExt cx="9061948" cy="1101852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213360"/>
              <a:ext cx="9061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智能辅导把“问”与“学”接成一条链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0258" y="845820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对话不仅回答问题，还能识别缺口并触发下一步学习资源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95600" y="2609850"/>
            <a:ext cx="3867150" cy="689801"/>
            <a:chOff x="2895600" y="2609850"/>
            <a:chExt cx="3867150" cy="689801"/>
          </a:xfrm>
        </p:grpSpPr>
        <p:sp>
          <p:nvSpPr>
            <p:cNvPr id="8" name="Ellipse 8"/>
            <p:cNvSpPr/>
            <p:nvPr/>
          </p:nvSpPr>
          <p:spPr>
            <a:xfrm>
              <a:off x="2895600" y="270510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064137" y="28441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3390900" y="295275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286250" y="2609850"/>
              <a:ext cx="2476500" cy="685800"/>
            </a:xfrm>
            <a:prstGeom prst="roundRect">
              <a:avLst>
                <a:gd name="adj" fmla="val 13889"/>
              </a:avLst>
            </a:prstGeom>
            <a:solidFill>
              <a:schemeClr val="lt1">
                <a:alpha val="94000"/>
              </a:schemeClr>
            </a:solidFill>
            <a:ln w="9525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05706" y="2720340"/>
              <a:ext cx="1837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流式 Markdown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07992" y="3035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边生成边阅读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857750" y="3505200"/>
            <a:ext cx="3962400" cy="689801"/>
            <a:chOff x="4857750" y="3505200"/>
            <a:chExt cx="3962400" cy="689801"/>
          </a:xfrm>
        </p:grpSpPr>
        <p:sp>
          <p:nvSpPr>
            <p:cNvPr id="15" name="Ellipse 15"/>
            <p:cNvSpPr/>
            <p:nvPr/>
          </p:nvSpPr>
          <p:spPr>
            <a:xfrm>
              <a:off x="8324850" y="36004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93387" y="37395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334250" y="3848100"/>
              <a:ext cx="990600" cy="9525"/>
            </a:xfrm>
            <a:custGeom>
              <a:avLst/>
              <a:gdLst/>
              <a:ahLst/>
              <a:cxnLst/>
              <a:rect l="l" t="t" r="r" b="b"/>
              <a:pathLst>
                <a:path w="990600" h="9525">
                  <a:moveTo>
                    <a:pt x="9906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857750" y="3505200"/>
              <a:ext cx="2476500" cy="685800"/>
            </a:xfrm>
            <a:prstGeom prst="roundRect">
              <a:avLst>
                <a:gd name="adj" fmla="val 13889"/>
              </a:avLst>
            </a:prstGeom>
            <a:solidFill>
              <a:schemeClr val="lt1">
                <a:alpha val="94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77206" y="36156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知识缺口识别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79492" y="3930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从回答转向诊断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57850" y="4991100"/>
            <a:ext cx="4286250" cy="689801"/>
            <a:chOff x="5657850" y="4991100"/>
            <a:chExt cx="4286250" cy="689801"/>
          </a:xfrm>
        </p:grpSpPr>
        <p:sp>
          <p:nvSpPr>
            <p:cNvPr id="22" name="Ellipse 22"/>
            <p:cNvSpPr/>
            <p:nvPr/>
          </p:nvSpPr>
          <p:spPr>
            <a:xfrm>
              <a:off x="9448800" y="5086350"/>
              <a:ext cx="495300" cy="495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17337" y="52254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286750" y="533400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657850" y="4991100"/>
              <a:ext cx="2628900" cy="685800"/>
            </a:xfrm>
            <a:prstGeom prst="roundRect">
              <a:avLst>
                <a:gd name="adj" fmla="val 13889"/>
              </a:avLst>
            </a:prstGeom>
            <a:solidFill>
              <a:schemeClr val="lt1">
                <a:alpha val="94000"/>
              </a:schemeClr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77306" y="51015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一键生成资源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79592" y="5416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把理解转成行动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26542" y="6445568"/>
            <a:ext cx="11138916" cy="264033"/>
            <a:chOff x="526542" y="6445568"/>
            <a:chExt cx="11138916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526542" y="6445568"/>
              <a:ext cx="1962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真实产品页面：AI 对话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42923" y="64455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14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7804404" cy="1082802"/>
            <a:chOff x="514350" y="251460"/>
            <a:chExt cx="7804404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每次练习，都反哺下一次推荐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7784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评价不止给分，更要更新掌握度、易错标签与学习策略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38350" y="1581150"/>
            <a:ext cx="7486650" cy="4038600"/>
            <a:chOff x="2038350" y="1581150"/>
            <a:chExt cx="7486650" cy="4038600"/>
          </a:xfrm>
        </p:grpSpPr>
        <p:sp>
          <p:nvSpPr>
            <p:cNvPr id="5" name="Freeform 5"/>
            <p:cNvSpPr/>
            <p:nvPr/>
          </p:nvSpPr>
          <p:spPr>
            <a:xfrm>
              <a:off x="2647950" y="1600200"/>
              <a:ext cx="2743200" cy="838200"/>
            </a:xfrm>
            <a:custGeom>
              <a:avLst/>
              <a:gdLst/>
              <a:ahLst/>
              <a:cxnLst/>
              <a:rect l="l" t="t" r="r" b="b"/>
              <a:pathLst>
                <a:path w="2743200" h="838200">
                  <a:moveTo>
                    <a:pt x="0" y="838200"/>
                  </a:moveTo>
                  <a:cubicBezTo>
                    <a:pt x="781050" y="114300"/>
                    <a:pt x="2000250" y="0"/>
                    <a:pt x="2743200" y="57150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705600" y="1581150"/>
              <a:ext cx="2647950" cy="1009650"/>
            </a:xfrm>
            <a:custGeom>
              <a:avLst/>
              <a:gdLst/>
              <a:ahLst/>
              <a:cxnLst/>
              <a:rect l="l" t="t" r="r" b="b"/>
              <a:pathLst>
                <a:path w="2647950" h="1009650">
                  <a:moveTo>
                    <a:pt x="0" y="590550"/>
                  </a:moveTo>
                  <a:cubicBezTo>
                    <a:pt x="895350" y="0"/>
                    <a:pt x="2057400" y="266700"/>
                    <a:pt x="2647950" y="100965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7" name="Freeform 7"/>
            <p:cNvSpPr/>
            <p:nvPr/>
          </p:nvSpPr>
          <p:spPr>
            <a:xfrm>
              <a:off x="7334250" y="3714750"/>
              <a:ext cx="2190750" cy="1638300"/>
            </a:xfrm>
            <a:custGeom>
              <a:avLst/>
              <a:gdLst/>
              <a:ahLst/>
              <a:cxnLst/>
              <a:rect l="l" t="t" r="r" b="b"/>
              <a:pathLst>
                <a:path w="2190750" h="1638300">
                  <a:moveTo>
                    <a:pt x="2190750" y="0"/>
                  </a:moveTo>
                  <a:cubicBezTo>
                    <a:pt x="1943100" y="1047750"/>
                    <a:pt x="1028700" y="1638300"/>
                    <a:pt x="0" y="160020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8" name="Freeform 8"/>
            <p:cNvSpPr/>
            <p:nvPr/>
          </p:nvSpPr>
          <p:spPr>
            <a:xfrm>
              <a:off x="3143250" y="4305300"/>
              <a:ext cx="2952750" cy="1314450"/>
            </a:xfrm>
            <a:custGeom>
              <a:avLst/>
              <a:gdLst/>
              <a:ahLst/>
              <a:cxnLst/>
              <a:rect l="l" t="t" r="r" b="b"/>
              <a:pathLst>
                <a:path w="2952750" h="1314450">
                  <a:moveTo>
                    <a:pt x="2952750" y="1162050"/>
                  </a:moveTo>
                  <a:cubicBezTo>
                    <a:pt x="1714500" y="1314450"/>
                    <a:pt x="609600" y="857250"/>
                    <a:pt x="0" y="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038350" y="2609850"/>
              <a:ext cx="323850" cy="1104900"/>
            </a:xfrm>
            <a:custGeom>
              <a:avLst/>
              <a:gdLst/>
              <a:ahLst/>
              <a:cxnLst/>
              <a:rect l="l" t="t" r="r" b="b"/>
              <a:pathLst>
                <a:path w="323850" h="1104900">
                  <a:moveTo>
                    <a:pt x="323850" y="1104900"/>
                  </a:moveTo>
                  <a:cubicBezTo>
                    <a:pt x="0" y="685800"/>
                    <a:pt x="0" y="285750"/>
                    <a:pt x="228600" y="0"/>
                  </a:cubicBezTo>
                </a:path>
              </a:pathLst>
            </a:custGeom>
            <a:noFill/>
            <a:ln w="28575">
              <a:solidFill>
                <a:schemeClr val="accent3"/>
              </a:solidFill>
              <a:tailEnd type="triangle" w="lg" len="lg"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400259" y="2305050"/>
            <a:ext cx="1771482" cy="1676400"/>
            <a:chOff x="1400259" y="2305050"/>
            <a:chExt cx="1771482" cy="1676400"/>
          </a:xfrm>
        </p:grpSpPr>
        <p:sp>
          <p:nvSpPr>
            <p:cNvPr id="11" name="Ellipse 11"/>
            <p:cNvSpPr/>
            <p:nvPr/>
          </p:nvSpPr>
          <p:spPr>
            <a:xfrm>
              <a:off x="1447800" y="23050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038350" y="2609850"/>
              <a:ext cx="495300" cy="495300"/>
              <a:chOff x="2038350" y="2609850"/>
              <a:chExt cx="495300" cy="4953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057400" y="26289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457200" y="228600"/>
                    </a:moveTo>
                    <a:cubicBezTo>
                      <a:pt x="457200" y="354852"/>
                      <a:pt x="354852" y="457200"/>
                      <a:pt x="228600" y="457200"/>
                    </a:cubicBezTo>
                    <a:cubicBezTo>
                      <a:pt x="102348" y="457200"/>
                      <a:pt x="0" y="354852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ubicBezTo>
                      <a:pt x="354852" y="0"/>
                      <a:pt x="457200" y="102348"/>
                      <a:pt x="457200" y="228600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038350" y="260985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>
                    <a:moveTo>
                      <a:pt x="276225" y="371475"/>
                    </a:moveTo>
                    <a:cubicBezTo>
                      <a:pt x="276225" y="387257"/>
                      <a:pt x="263432" y="400050"/>
                      <a:pt x="247650" y="400050"/>
                    </a:cubicBezTo>
                    <a:cubicBezTo>
                      <a:pt x="231868" y="400050"/>
                      <a:pt x="219075" y="387257"/>
                      <a:pt x="219075" y="371475"/>
                    </a:cubicBezTo>
                    <a:cubicBezTo>
                      <a:pt x="219075" y="355693"/>
                      <a:pt x="231868" y="342900"/>
                      <a:pt x="247650" y="342900"/>
                    </a:cubicBezTo>
                    <a:cubicBezTo>
                      <a:pt x="263432" y="342900"/>
                      <a:pt x="276225" y="355693"/>
                      <a:pt x="276225" y="371475"/>
                    </a:cubicBezTo>
                    <a:close/>
                    <a:moveTo>
                      <a:pt x="247650" y="114300"/>
                    </a:moveTo>
                    <a:cubicBezTo>
                      <a:pt x="195120" y="114300"/>
                      <a:pt x="152400" y="152757"/>
                      <a:pt x="152400" y="200025"/>
                    </a:cubicBezTo>
                    <a:lnTo>
                      <a:pt x="152400" y="209550"/>
                    </a:lnTo>
                    <a:cubicBezTo>
                      <a:pt x="152400" y="220071"/>
                      <a:pt x="160929" y="228600"/>
                      <a:pt x="171450" y="228600"/>
                    </a:cubicBezTo>
                    <a:cubicBezTo>
                      <a:pt x="181971" y="228600"/>
                      <a:pt x="190500" y="220071"/>
                      <a:pt x="190500" y="209550"/>
                    </a:cubicBezTo>
                    <a:lnTo>
                      <a:pt x="190500" y="200025"/>
                    </a:lnTo>
                    <a:cubicBezTo>
                      <a:pt x="190500" y="173831"/>
                      <a:pt x="216146" y="152400"/>
                      <a:pt x="247650" y="152400"/>
                    </a:cubicBezTo>
                    <a:cubicBezTo>
                      <a:pt x="279154" y="152400"/>
                      <a:pt x="304800" y="173831"/>
                      <a:pt x="304800" y="200025"/>
                    </a:cubicBezTo>
                    <a:cubicBezTo>
                      <a:pt x="304800" y="226219"/>
                      <a:pt x="279154" y="247650"/>
                      <a:pt x="247650" y="247650"/>
                    </a:cubicBezTo>
                    <a:cubicBezTo>
                      <a:pt x="237129" y="247650"/>
                      <a:pt x="228600" y="256179"/>
                      <a:pt x="228600" y="266700"/>
                    </a:cubicBezTo>
                    <a:lnTo>
                      <a:pt x="228600" y="285750"/>
                    </a:lnTo>
                    <a:cubicBezTo>
                      <a:pt x="228600" y="296271"/>
                      <a:pt x="237129" y="304800"/>
                      <a:pt x="247650" y="304800"/>
                    </a:cubicBezTo>
                    <a:cubicBezTo>
                      <a:pt x="258171" y="304800"/>
                      <a:pt x="266700" y="296271"/>
                      <a:pt x="266700" y="285750"/>
                    </a:cubicBezTo>
                    <a:lnTo>
                      <a:pt x="266700" y="284035"/>
                    </a:lnTo>
                    <a:cubicBezTo>
                      <a:pt x="310134" y="276058"/>
                      <a:pt x="342900" y="241411"/>
                      <a:pt x="342900" y="200025"/>
                    </a:cubicBezTo>
                    <a:cubicBezTo>
                      <a:pt x="342900" y="152757"/>
                      <a:pt x="300180" y="114300"/>
                      <a:pt x="247650" y="114300"/>
                    </a:cubicBezTo>
                    <a:close/>
                    <a:moveTo>
                      <a:pt x="495300" y="247650"/>
                    </a:moveTo>
                    <a:cubicBezTo>
                      <a:pt x="495300" y="384423"/>
                      <a:pt x="384423" y="495300"/>
                      <a:pt x="247650" y="495300"/>
                    </a:cubicBezTo>
                    <a:cubicBezTo>
                      <a:pt x="110877" y="495300"/>
                      <a:pt x="0" y="384423"/>
                      <a:pt x="0" y="247650"/>
                    </a:cubicBezTo>
                    <a:cubicBezTo>
                      <a:pt x="0" y="110877"/>
                      <a:pt x="110877" y="0"/>
                      <a:pt x="247650" y="0"/>
                    </a:cubicBezTo>
                    <a:cubicBezTo>
                      <a:pt x="384363" y="144"/>
                      <a:pt x="495156" y="110937"/>
                      <a:pt x="495300" y="247650"/>
                    </a:cubicBezTo>
                    <a:close/>
                    <a:moveTo>
                      <a:pt x="457200" y="247650"/>
                    </a:moveTo>
                    <a:cubicBezTo>
                      <a:pt x="457200" y="131919"/>
                      <a:pt x="363381" y="38100"/>
                      <a:pt x="247650" y="38100"/>
                    </a:cubicBezTo>
                    <a:cubicBezTo>
                      <a:pt x="131919" y="38100"/>
                      <a:pt x="38100" y="131919"/>
                      <a:pt x="38100" y="247650"/>
                    </a:cubicBezTo>
                    <a:cubicBezTo>
                      <a:pt x="38100" y="363381"/>
                      <a:pt x="131919" y="457200"/>
                      <a:pt x="247650" y="457200"/>
                    </a:cubicBezTo>
                    <a:cubicBezTo>
                      <a:pt x="363327" y="457069"/>
                      <a:pt x="457069" y="363327"/>
                      <a:pt x="457200" y="2476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00259" y="3284220"/>
              <a:ext cx="17714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练习 / 判题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57800" y="1428750"/>
            <a:ext cx="1676400" cy="1676400"/>
            <a:chOff x="5257800" y="1428750"/>
            <a:chExt cx="1676400" cy="1676400"/>
          </a:xfrm>
        </p:grpSpPr>
        <p:sp>
          <p:nvSpPr>
            <p:cNvPr id="17" name="Ellipse 17"/>
            <p:cNvSpPr/>
            <p:nvPr/>
          </p:nvSpPr>
          <p:spPr>
            <a:xfrm>
              <a:off x="5257800" y="14287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826680" y="1711789"/>
              <a:ext cx="518841" cy="518932"/>
              <a:chOff x="5826680" y="1711789"/>
              <a:chExt cx="518841" cy="51893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867400" y="17526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381000" y="190500"/>
                    </a:moveTo>
                    <a:cubicBezTo>
                      <a:pt x="381000" y="295710"/>
                      <a:pt x="295710" y="381000"/>
                      <a:pt x="190500" y="381000"/>
                    </a:cubicBezTo>
                    <a:cubicBezTo>
                      <a:pt x="85290" y="381000"/>
                      <a:pt x="0" y="295710"/>
                      <a:pt x="0" y="190500"/>
                    </a:cubicBezTo>
                    <a:cubicBezTo>
                      <a:pt x="0" y="85290"/>
                      <a:pt x="85290" y="0"/>
                      <a:pt x="190500" y="0"/>
                    </a:cubicBezTo>
                    <a:cubicBezTo>
                      <a:pt x="295710" y="0"/>
                      <a:pt x="381000" y="85290"/>
                      <a:pt x="381000" y="19050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5826680" y="1711789"/>
                <a:ext cx="518841" cy="518932"/>
              </a:xfrm>
              <a:custGeom>
                <a:avLst/>
                <a:gdLst/>
                <a:ahLst/>
                <a:cxnLst/>
                <a:rect l="l" t="t" r="r" b="b"/>
                <a:pathLst>
                  <a:path w="518841" h="518932">
                    <a:moveTo>
                      <a:pt x="511398" y="484533"/>
                    </a:moveTo>
                    <a:lnTo>
                      <a:pt x="392192" y="365327"/>
                    </a:lnTo>
                    <a:cubicBezTo>
                      <a:pt x="464108" y="279076"/>
                      <a:pt x="455462" y="151515"/>
                      <a:pt x="372565" y="75757"/>
                    </a:cubicBezTo>
                    <a:cubicBezTo>
                      <a:pt x="289667" y="0"/>
                      <a:pt x="161845" y="2846"/>
                      <a:pt x="82402" y="82219"/>
                    </a:cubicBezTo>
                    <a:cubicBezTo>
                      <a:pt x="2959" y="161592"/>
                      <a:pt x="0" y="289411"/>
                      <a:pt x="75684" y="372376"/>
                    </a:cubicBezTo>
                    <a:cubicBezTo>
                      <a:pt x="151368" y="455340"/>
                      <a:pt x="278922" y="464099"/>
                      <a:pt x="365237" y="392259"/>
                    </a:cubicBezTo>
                    <a:lnTo>
                      <a:pt x="484442" y="511489"/>
                    </a:lnTo>
                    <a:cubicBezTo>
                      <a:pt x="491886" y="518932"/>
                      <a:pt x="503954" y="518932"/>
                      <a:pt x="511398" y="511489"/>
                    </a:cubicBezTo>
                    <a:cubicBezTo>
                      <a:pt x="518841" y="504045"/>
                      <a:pt x="518841" y="491976"/>
                      <a:pt x="511398" y="484533"/>
                    </a:cubicBezTo>
                    <a:close/>
                    <a:moveTo>
                      <a:pt x="59770" y="231311"/>
                    </a:moveTo>
                    <a:cubicBezTo>
                      <a:pt x="59770" y="136621"/>
                      <a:pt x="136531" y="59861"/>
                      <a:pt x="231220" y="59861"/>
                    </a:cubicBezTo>
                    <a:cubicBezTo>
                      <a:pt x="325909" y="59861"/>
                      <a:pt x="402670" y="136621"/>
                      <a:pt x="402670" y="231311"/>
                    </a:cubicBezTo>
                    <a:cubicBezTo>
                      <a:pt x="402670" y="326000"/>
                      <a:pt x="325909" y="402761"/>
                      <a:pt x="231220" y="402761"/>
                    </a:cubicBezTo>
                    <a:cubicBezTo>
                      <a:pt x="136574" y="402656"/>
                      <a:pt x="59875" y="325956"/>
                      <a:pt x="59770" y="2313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5405323" y="2407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错因分析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50452" y="2305050"/>
            <a:ext cx="1720596" cy="1676400"/>
            <a:chOff x="8950452" y="2305050"/>
            <a:chExt cx="1720596" cy="1676400"/>
          </a:xfrm>
        </p:grpSpPr>
        <p:sp>
          <p:nvSpPr>
            <p:cNvPr id="23" name="Ellipse 23"/>
            <p:cNvSpPr/>
            <p:nvPr/>
          </p:nvSpPr>
          <p:spPr>
            <a:xfrm>
              <a:off x="8972550" y="23050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563100" y="2647950"/>
              <a:ext cx="495300" cy="419100"/>
              <a:chOff x="9563100" y="2647950"/>
              <a:chExt cx="495300" cy="4191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582150" y="2667000"/>
                <a:ext cx="4572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381000">
                    <a:moveTo>
                      <a:pt x="457200" y="19050"/>
                    </a:moveTo>
                    <a:lnTo>
                      <a:pt x="457200" y="381000"/>
                    </a:lnTo>
                    <a:lnTo>
                      <a:pt x="0" y="381000"/>
                    </a:lnTo>
                    <a:lnTo>
                      <a:pt x="0" y="0"/>
                    </a:lnTo>
                    <a:lnTo>
                      <a:pt x="438150" y="0"/>
                    </a:lnTo>
                    <a:cubicBezTo>
                      <a:pt x="448671" y="0"/>
                      <a:pt x="457200" y="8529"/>
                      <a:pt x="457200" y="19050"/>
                    </a:cubicBezTo>
                    <a:close/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563100" y="2647950"/>
                <a:ext cx="4953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19100">
                    <a:moveTo>
                      <a:pt x="495300" y="400050"/>
                    </a:moveTo>
                    <a:cubicBezTo>
                      <a:pt x="495300" y="410571"/>
                      <a:pt x="486771" y="419100"/>
                      <a:pt x="476250" y="419100"/>
                    </a:cubicBezTo>
                    <a:lnTo>
                      <a:pt x="19050" y="419100"/>
                    </a:lnTo>
                    <a:cubicBezTo>
                      <a:pt x="8529" y="419100"/>
                      <a:pt x="0" y="410571"/>
                      <a:pt x="0" y="400050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lnTo>
                      <a:pt x="38100" y="277868"/>
                    </a:lnTo>
                    <a:lnTo>
                      <a:pt x="157972" y="157972"/>
                    </a:lnTo>
                    <a:cubicBezTo>
                      <a:pt x="161545" y="154395"/>
                      <a:pt x="166394" y="152385"/>
                      <a:pt x="171450" y="152385"/>
                    </a:cubicBezTo>
                    <a:cubicBezTo>
                      <a:pt x="176506" y="152385"/>
                      <a:pt x="181355" y="154395"/>
                      <a:pt x="184928" y="157972"/>
                    </a:cubicBezTo>
                    <a:lnTo>
                      <a:pt x="247650" y="220718"/>
                    </a:lnTo>
                    <a:lnTo>
                      <a:pt x="373118" y="95250"/>
                    </a:lnTo>
                    <a:lnTo>
                      <a:pt x="323850" y="95250"/>
                    </a:lnTo>
                    <a:cubicBezTo>
                      <a:pt x="313329" y="95250"/>
                      <a:pt x="304800" y="86721"/>
                      <a:pt x="304800" y="76200"/>
                    </a:cubicBezTo>
                    <a:cubicBezTo>
                      <a:pt x="304800" y="65679"/>
                      <a:pt x="313329" y="57150"/>
                      <a:pt x="323850" y="57150"/>
                    </a:cubicBezTo>
                    <a:lnTo>
                      <a:pt x="419100" y="57150"/>
                    </a:lnTo>
                    <a:cubicBezTo>
                      <a:pt x="429621" y="57150"/>
                      <a:pt x="438150" y="65679"/>
                      <a:pt x="438150" y="76200"/>
                    </a:cubicBezTo>
                    <a:lnTo>
                      <a:pt x="438150" y="171450"/>
                    </a:lnTo>
                    <a:cubicBezTo>
                      <a:pt x="438150" y="181971"/>
                      <a:pt x="429621" y="190500"/>
                      <a:pt x="419100" y="190500"/>
                    </a:cubicBezTo>
                    <a:cubicBezTo>
                      <a:pt x="408579" y="190500"/>
                      <a:pt x="400050" y="181971"/>
                      <a:pt x="400050" y="171450"/>
                    </a:cubicBezTo>
                    <a:lnTo>
                      <a:pt x="400050" y="122182"/>
                    </a:lnTo>
                    <a:lnTo>
                      <a:pt x="261128" y="261128"/>
                    </a:lnTo>
                    <a:cubicBezTo>
                      <a:pt x="257555" y="264705"/>
                      <a:pt x="252706" y="266715"/>
                      <a:pt x="247650" y="266715"/>
                    </a:cubicBezTo>
                    <a:cubicBezTo>
                      <a:pt x="242594" y="266715"/>
                      <a:pt x="237745" y="264705"/>
                      <a:pt x="234172" y="261128"/>
                    </a:cubicBezTo>
                    <a:lnTo>
                      <a:pt x="171450" y="198382"/>
                    </a:lnTo>
                    <a:lnTo>
                      <a:pt x="38100" y="331732"/>
                    </a:lnTo>
                    <a:lnTo>
                      <a:pt x="38100" y="381000"/>
                    </a:lnTo>
                    <a:lnTo>
                      <a:pt x="476250" y="381000"/>
                    </a:lnTo>
                    <a:cubicBezTo>
                      <a:pt x="486771" y="381000"/>
                      <a:pt x="495300" y="389529"/>
                      <a:pt x="495300" y="40005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8950452" y="32842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掌握度更新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86550" y="4476750"/>
            <a:ext cx="1676400" cy="1676400"/>
            <a:chOff x="6686550" y="4476750"/>
            <a:chExt cx="1676400" cy="1676400"/>
          </a:xfrm>
        </p:grpSpPr>
        <p:sp>
          <p:nvSpPr>
            <p:cNvPr id="29" name="Ellipse 29"/>
            <p:cNvSpPr/>
            <p:nvPr/>
          </p:nvSpPr>
          <p:spPr>
            <a:xfrm>
              <a:off x="6686550" y="44767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38982" y="4771977"/>
              <a:ext cx="571518" cy="495397"/>
              <a:chOff x="7238982" y="4771977"/>
              <a:chExt cx="571518" cy="49539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257948" y="4800600"/>
                <a:ext cx="533518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533518" h="438150">
                    <a:moveTo>
                      <a:pt x="533502" y="219075"/>
                    </a:moveTo>
                    <a:cubicBezTo>
                      <a:pt x="533518" y="267527"/>
                      <a:pt x="502983" y="310724"/>
                      <a:pt x="457302" y="326874"/>
                    </a:cubicBezTo>
                    <a:lnTo>
                      <a:pt x="457302" y="326874"/>
                    </a:lnTo>
                    <a:lnTo>
                      <a:pt x="457302" y="342900"/>
                    </a:lnTo>
                    <a:cubicBezTo>
                      <a:pt x="457302" y="395505"/>
                      <a:pt x="414657" y="438150"/>
                      <a:pt x="362052" y="438150"/>
                    </a:cubicBezTo>
                    <a:cubicBezTo>
                      <a:pt x="309447" y="438150"/>
                      <a:pt x="266802" y="395505"/>
                      <a:pt x="266802" y="342900"/>
                    </a:cubicBezTo>
                    <a:cubicBezTo>
                      <a:pt x="266802" y="395505"/>
                      <a:pt x="224157" y="438150"/>
                      <a:pt x="171552" y="438150"/>
                    </a:cubicBezTo>
                    <a:cubicBezTo>
                      <a:pt x="118947" y="438150"/>
                      <a:pt x="76302" y="395505"/>
                      <a:pt x="76302" y="342900"/>
                    </a:cubicBezTo>
                    <a:lnTo>
                      <a:pt x="76302" y="326874"/>
                    </a:lnTo>
                    <a:lnTo>
                      <a:pt x="76302" y="326874"/>
                    </a:lnTo>
                    <a:cubicBezTo>
                      <a:pt x="30581" y="310758"/>
                      <a:pt x="0" y="267553"/>
                      <a:pt x="0" y="219075"/>
                    </a:cubicBezTo>
                    <a:cubicBezTo>
                      <a:pt x="0" y="170597"/>
                      <a:pt x="30581" y="127392"/>
                      <a:pt x="76302" y="111276"/>
                    </a:cubicBezTo>
                    <a:lnTo>
                      <a:pt x="76302" y="95250"/>
                    </a:lnTo>
                    <a:cubicBezTo>
                      <a:pt x="76302" y="42645"/>
                      <a:pt x="118947" y="0"/>
                      <a:pt x="171552" y="0"/>
                    </a:cubicBezTo>
                    <a:cubicBezTo>
                      <a:pt x="224157" y="0"/>
                      <a:pt x="266802" y="42645"/>
                      <a:pt x="266802" y="95250"/>
                    </a:cubicBezTo>
                    <a:cubicBezTo>
                      <a:pt x="266802" y="42645"/>
                      <a:pt x="309447" y="0"/>
                      <a:pt x="362052" y="0"/>
                    </a:cubicBezTo>
                    <a:cubicBezTo>
                      <a:pt x="414657" y="0"/>
                      <a:pt x="457302" y="42645"/>
                      <a:pt x="457302" y="95250"/>
                    </a:cubicBezTo>
                    <a:lnTo>
                      <a:pt x="457302" y="111276"/>
                    </a:lnTo>
                    <a:cubicBezTo>
                      <a:pt x="502983" y="127426"/>
                      <a:pt x="533518" y="170623"/>
                      <a:pt x="533502" y="219075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238982" y="4771977"/>
                <a:ext cx="571518" cy="495397"/>
              </a:xfrm>
              <a:custGeom>
                <a:avLst/>
                <a:gdLst/>
                <a:ahLst/>
                <a:cxnLst/>
                <a:rect l="l" t="t" r="r" b="b"/>
                <a:pathLst>
                  <a:path w="571518" h="495397">
                    <a:moveTo>
                      <a:pt x="571518" y="247698"/>
                    </a:moveTo>
                    <a:cubicBezTo>
                      <a:pt x="571466" y="196198"/>
                      <a:pt x="541821" y="149313"/>
                      <a:pt x="495318" y="127183"/>
                    </a:cubicBezTo>
                    <a:lnTo>
                      <a:pt x="495318" y="123873"/>
                    </a:lnTo>
                    <a:cubicBezTo>
                      <a:pt x="495273" y="73475"/>
                      <a:pt x="462224" y="29054"/>
                      <a:pt x="413964" y="14527"/>
                    </a:cubicBezTo>
                    <a:cubicBezTo>
                      <a:pt x="365705" y="0"/>
                      <a:pt x="313627" y="18796"/>
                      <a:pt x="285768" y="60794"/>
                    </a:cubicBezTo>
                    <a:cubicBezTo>
                      <a:pt x="257909" y="18796"/>
                      <a:pt x="205831" y="0"/>
                      <a:pt x="157571" y="14527"/>
                    </a:cubicBezTo>
                    <a:cubicBezTo>
                      <a:pt x="109312" y="29054"/>
                      <a:pt x="76263" y="73475"/>
                      <a:pt x="76218" y="123873"/>
                    </a:cubicBezTo>
                    <a:lnTo>
                      <a:pt x="76218" y="127183"/>
                    </a:lnTo>
                    <a:cubicBezTo>
                      <a:pt x="29671" y="149254"/>
                      <a:pt x="0" y="196161"/>
                      <a:pt x="0" y="247675"/>
                    </a:cubicBezTo>
                    <a:cubicBezTo>
                      <a:pt x="0" y="299189"/>
                      <a:pt x="29671" y="346095"/>
                      <a:pt x="76218" y="368166"/>
                    </a:cubicBezTo>
                    <a:lnTo>
                      <a:pt x="76218" y="371523"/>
                    </a:lnTo>
                    <a:cubicBezTo>
                      <a:pt x="76263" y="421922"/>
                      <a:pt x="109312" y="466343"/>
                      <a:pt x="157571" y="480870"/>
                    </a:cubicBezTo>
                    <a:cubicBezTo>
                      <a:pt x="205831" y="495397"/>
                      <a:pt x="257909" y="476601"/>
                      <a:pt x="285768" y="434603"/>
                    </a:cubicBezTo>
                    <a:cubicBezTo>
                      <a:pt x="313627" y="476601"/>
                      <a:pt x="365705" y="495397"/>
                      <a:pt x="413964" y="480870"/>
                    </a:cubicBezTo>
                    <a:cubicBezTo>
                      <a:pt x="462224" y="466343"/>
                      <a:pt x="495273" y="421922"/>
                      <a:pt x="495318" y="371523"/>
                    </a:cubicBezTo>
                    <a:lnTo>
                      <a:pt x="495318" y="368166"/>
                    </a:lnTo>
                    <a:cubicBezTo>
                      <a:pt x="541814" y="346053"/>
                      <a:pt x="571460" y="299185"/>
                      <a:pt x="571518" y="247698"/>
                    </a:cubicBezTo>
                    <a:close/>
                    <a:moveTo>
                      <a:pt x="190518" y="447723"/>
                    </a:moveTo>
                    <a:cubicBezTo>
                      <a:pt x="151608" y="447718"/>
                      <a:pt x="118953" y="418399"/>
                      <a:pt x="114770" y="379715"/>
                    </a:cubicBezTo>
                    <a:cubicBezTo>
                      <a:pt x="120931" y="380594"/>
                      <a:pt x="127145" y="381039"/>
                      <a:pt x="133368" y="381048"/>
                    </a:cubicBezTo>
                    <a:lnTo>
                      <a:pt x="152418" y="381048"/>
                    </a:lnTo>
                    <a:cubicBezTo>
                      <a:pt x="162939" y="381048"/>
                      <a:pt x="171468" y="372520"/>
                      <a:pt x="171468" y="361998"/>
                    </a:cubicBezTo>
                    <a:cubicBezTo>
                      <a:pt x="171468" y="351477"/>
                      <a:pt x="162939" y="342948"/>
                      <a:pt x="152418" y="342948"/>
                    </a:cubicBezTo>
                    <a:lnTo>
                      <a:pt x="133368" y="342948"/>
                    </a:lnTo>
                    <a:cubicBezTo>
                      <a:pt x="86933" y="343003"/>
                      <a:pt x="47226" y="309565"/>
                      <a:pt x="39377" y="263798"/>
                    </a:cubicBezTo>
                    <a:cubicBezTo>
                      <a:pt x="31528" y="218031"/>
                      <a:pt x="57826" y="173274"/>
                      <a:pt x="101626" y="157854"/>
                    </a:cubicBezTo>
                    <a:cubicBezTo>
                      <a:pt x="109232" y="155161"/>
                      <a:pt x="114317" y="147968"/>
                      <a:pt x="114318" y="139899"/>
                    </a:cubicBezTo>
                    <a:lnTo>
                      <a:pt x="114318" y="123873"/>
                    </a:lnTo>
                    <a:cubicBezTo>
                      <a:pt x="114318" y="81789"/>
                      <a:pt x="148434" y="47673"/>
                      <a:pt x="190518" y="47673"/>
                    </a:cubicBezTo>
                    <a:cubicBezTo>
                      <a:pt x="232602" y="47673"/>
                      <a:pt x="266718" y="81789"/>
                      <a:pt x="266718" y="123873"/>
                    </a:cubicBezTo>
                    <a:lnTo>
                      <a:pt x="266718" y="286418"/>
                    </a:lnTo>
                    <a:cubicBezTo>
                      <a:pt x="245799" y="267603"/>
                      <a:pt x="218653" y="257203"/>
                      <a:pt x="190518" y="257223"/>
                    </a:cubicBezTo>
                    <a:cubicBezTo>
                      <a:pt x="179997" y="257223"/>
                      <a:pt x="171468" y="265752"/>
                      <a:pt x="171468" y="276273"/>
                    </a:cubicBezTo>
                    <a:cubicBezTo>
                      <a:pt x="171468" y="286795"/>
                      <a:pt x="179997" y="295323"/>
                      <a:pt x="190518" y="295323"/>
                    </a:cubicBezTo>
                    <a:cubicBezTo>
                      <a:pt x="232602" y="295323"/>
                      <a:pt x="266718" y="329439"/>
                      <a:pt x="266718" y="371523"/>
                    </a:cubicBezTo>
                    <a:cubicBezTo>
                      <a:pt x="266718" y="413608"/>
                      <a:pt x="232602" y="447723"/>
                      <a:pt x="190518" y="447723"/>
                    </a:cubicBezTo>
                    <a:close/>
                    <a:moveTo>
                      <a:pt x="438168" y="342948"/>
                    </a:moveTo>
                    <a:lnTo>
                      <a:pt x="419118" y="342948"/>
                    </a:lnTo>
                    <a:cubicBezTo>
                      <a:pt x="408597" y="342948"/>
                      <a:pt x="400068" y="351477"/>
                      <a:pt x="400068" y="361998"/>
                    </a:cubicBezTo>
                    <a:cubicBezTo>
                      <a:pt x="400068" y="372520"/>
                      <a:pt x="408597" y="381048"/>
                      <a:pt x="419118" y="381048"/>
                    </a:cubicBezTo>
                    <a:lnTo>
                      <a:pt x="438168" y="381048"/>
                    </a:lnTo>
                    <a:cubicBezTo>
                      <a:pt x="444391" y="381039"/>
                      <a:pt x="450605" y="380594"/>
                      <a:pt x="456765" y="379715"/>
                    </a:cubicBezTo>
                    <a:cubicBezTo>
                      <a:pt x="452356" y="420498"/>
                      <a:pt x="416452" y="450472"/>
                      <a:pt x="375537" y="447527"/>
                    </a:cubicBezTo>
                    <a:cubicBezTo>
                      <a:pt x="334621" y="444582"/>
                      <a:pt x="303380" y="409776"/>
                      <a:pt x="304856" y="368781"/>
                    </a:cubicBezTo>
                    <a:cubicBezTo>
                      <a:pt x="306333" y="327787"/>
                      <a:pt x="339997" y="295318"/>
                      <a:pt x="381018" y="295323"/>
                    </a:cubicBezTo>
                    <a:cubicBezTo>
                      <a:pt x="391539" y="295323"/>
                      <a:pt x="400068" y="286795"/>
                      <a:pt x="400068" y="276273"/>
                    </a:cubicBezTo>
                    <a:cubicBezTo>
                      <a:pt x="400068" y="265752"/>
                      <a:pt x="391539" y="257223"/>
                      <a:pt x="381018" y="257223"/>
                    </a:cubicBezTo>
                    <a:cubicBezTo>
                      <a:pt x="352883" y="257203"/>
                      <a:pt x="325737" y="267603"/>
                      <a:pt x="304818" y="286418"/>
                    </a:cubicBezTo>
                    <a:lnTo>
                      <a:pt x="304818" y="123873"/>
                    </a:lnTo>
                    <a:cubicBezTo>
                      <a:pt x="304818" y="81789"/>
                      <a:pt x="338934" y="47673"/>
                      <a:pt x="381018" y="47673"/>
                    </a:cubicBezTo>
                    <a:cubicBezTo>
                      <a:pt x="423102" y="47673"/>
                      <a:pt x="457218" y="81789"/>
                      <a:pt x="457218" y="123873"/>
                    </a:cubicBezTo>
                    <a:lnTo>
                      <a:pt x="457218" y="139899"/>
                    </a:lnTo>
                    <a:cubicBezTo>
                      <a:pt x="457219" y="147968"/>
                      <a:pt x="462304" y="155161"/>
                      <a:pt x="469910" y="157854"/>
                    </a:cubicBezTo>
                    <a:cubicBezTo>
                      <a:pt x="513710" y="173274"/>
                      <a:pt x="540007" y="218031"/>
                      <a:pt x="532159" y="263798"/>
                    </a:cubicBezTo>
                    <a:cubicBezTo>
                      <a:pt x="524310" y="309565"/>
                      <a:pt x="484603" y="343003"/>
                      <a:pt x="438168" y="342948"/>
                    </a:cubicBezTo>
                    <a:close/>
                    <a:moveTo>
                      <a:pt x="476268" y="219123"/>
                    </a:moveTo>
                    <a:cubicBezTo>
                      <a:pt x="476268" y="229645"/>
                      <a:pt x="467739" y="238173"/>
                      <a:pt x="457218" y="238173"/>
                    </a:cubicBezTo>
                    <a:lnTo>
                      <a:pt x="447693" y="238173"/>
                    </a:lnTo>
                    <a:cubicBezTo>
                      <a:pt x="400348" y="238173"/>
                      <a:pt x="361968" y="199793"/>
                      <a:pt x="361968" y="152448"/>
                    </a:cubicBezTo>
                    <a:lnTo>
                      <a:pt x="361968" y="142923"/>
                    </a:lnTo>
                    <a:cubicBezTo>
                      <a:pt x="361968" y="132402"/>
                      <a:pt x="370497" y="123873"/>
                      <a:pt x="381018" y="123873"/>
                    </a:cubicBezTo>
                    <a:cubicBezTo>
                      <a:pt x="391539" y="123873"/>
                      <a:pt x="400068" y="132402"/>
                      <a:pt x="400068" y="142923"/>
                    </a:cubicBezTo>
                    <a:lnTo>
                      <a:pt x="400068" y="152448"/>
                    </a:lnTo>
                    <a:cubicBezTo>
                      <a:pt x="400068" y="178751"/>
                      <a:pt x="421390" y="200073"/>
                      <a:pt x="447693" y="200073"/>
                    </a:cubicBezTo>
                    <a:lnTo>
                      <a:pt x="457218" y="200073"/>
                    </a:lnTo>
                    <a:cubicBezTo>
                      <a:pt x="467739" y="200073"/>
                      <a:pt x="476268" y="208602"/>
                      <a:pt x="476268" y="219123"/>
                    </a:cubicBezTo>
                    <a:close/>
                    <a:moveTo>
                      <a:pt x="123843" y="238173"/>
                    </a:moveTo>
                    <a:lnTo>
                      <a:pt x="114318" y="238173"/>
                    </a:lnTo>
                    <a:cubicBezTo>
                      <a:pt x="103797" y="238173"/>
                      <a:pt x="95268" y="229645"/>
                      <a:pt x="95268" y="219123"/>
                    </a:cubicBezTo>
                    <a:cubicBezTo>
                      <a:pt x="95268" y="208602"/>
                      <a:pt x="103797" y="200073"/>
                      <a:pt x="114318" y="200073"/>
                    </a:cubicBezTo>
                    <a:lnTo>
                      <a:pt x="123843" y="200073"/>
                    </a:lnTo>
                    <a:cubicBezTo>
                      <a:pt x="150145" y="200073"/>
                      <a:pt x="171468" y="178751"/>
                      <a:pt x="171468" y="152448"/>
                    </a:cubicBezTo>
                    <a:lnTo>
                      <a:pt x="171468" y="142923"/>
                    </a:lnTo>
                    <a:cubicBezTo>
                      <a:pt x="171468" y="132402"/>
                      <a:pt x="179997" y="123873"/>
                      <a:pt x="190518" y="123873"/>
                    </a:cubicBezTo>
                    <a:cubicBezTo>
                      <a:pt x="201039" y="123873"/>
                      <a:pt x="209568" y="132402"/>
                      <a:pt x="209568" y="142923"/>
                    </a:cubicBezTo>
                    <a:lnTo>
                      <a:pt x="209568" y="152448"/>
                    </a:lnTo>
                    <a:cubicBezTo>
                      <a:pt x="209568" y="199793"/>
                      <a:pt x="171187" y="238173"/>
                      <a:pt x="123843" y="23817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834073" y="545592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画像更新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806952" y="4476750"/>
            <a:ext cx="1720596" cy="1676400"/>
            <a:chOff x="3806952" y="4476750"/>
            <a:chExt cx="1720596" cy="1676400"/>
          </a:xfrm>
        </p:grpSpPr>
        <p:sp>
          <p:nvSpPr>
            <p:cNvPr id="35" name="Ellipse 35"/>
            <p:cNvSpPr/>
            <p:nvPr/>
          </p:nvSpPr>
          <p:spPr>
            <a:xfrm>
              <a:off x="3829050" y="4476750"/>
              <a:ext cx="1676400" cy="1676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419600" y="4838700"/>
              <a:ext cx="498311" cy="443705"/>
              <a:chOff x="4419600" y="4838700"/>
              <a:chExt cx="498311" cy="44370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781550" y="51435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57150"/>
                    </a:moveTo>
                    <a:cubicBezTo>
                      <a:pt x="114300" y="88713"/>
                      <a:pt x="88713" y="114300"/>
                      <a:pt x="57150" y="114300"/>
                    </a:cubicBezTo>
                    <a:cubicBezTo>
                      <a:pt x="25587" y="114300"/>
                      <a:pt x="0" y="88713"/>
                      <a:pt x="0" y="57150"/>
                    </a:cubicBez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close/>
                  </a:path>
                </a:pathLst>
              </a:custGeom>
              <a:solidFill>
                <a:srgbClr val="FF7A9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419600" y="4838700"/>
                <a:ext cx="498311" cy="443705"/>
              </a:xfrm>
              <a:custGeom>
                <a:avLst/>
                <a:gdLst/>
                <a:ahLst/>
                <a:cxnLst/>
                <a:rect l="l" t="t" r="r" b="b"/>
                <a:pathLst>
                  <a:path w="498311" h="443705">
                    <a:moveTo>
                      <a:pt x="419100" y="285750"/>
                    </a:moveTo>
                    <a:cubicBezTo>
                      <a:pt x="384356" y="285783"/>
                      <a:pt x="354016" y="309272"/>
                      <a:pt x="345281" y="342900"/>
                    </a:cubicBezTo>
                    <a:lnTo>
                      <a:pt x="114300" y="342900"/>
                    </a:lnTo>
                    <a:cubicBezTo>
                      <a:pt x="72216" y="342900"/>
                      <a:pt x="38100" y="308784"/>
                      <a:pt x="38100" y="266700"/>
                    </a:cubicBezTo>
                    <a:cubicBezTo>
                      <a:pt x="38100" y="224616"/>
                      <a:pt x="72216" y="190500"/>
                      <a:pt x="114300" y="190500"/>
                    </a:cubicBezTo>
                    <a:lnTo>
                      <a:pt x="342900" y="190500"/>
                    </a:lnTo>
                    <a:cubicBezTo>
                      <a:pt x="395505" y="190500"/>
                      <a:pt x="438150" y="147855"/>
                      <a:pt x="438150" y="95250"/>
                    </a:cubicBezTo>
                    <a:cubicBezTo>
                      <a:pt x="438150" y="42645"/>
                      <a:pt x="395505" y="0"/>
                      <a:pt x="342900" y="0"/>
                    </a:cubicBezTo>
                    <a:lnTo>
                      <a:pt x="114300" y="0"/>
                    </a:lnTo>
                    <a:cubicBezTo>
                      <a:pt x="103779" y="0"/>
                      <a:pt x="95250" y="8529"/>
                      <a:pt x="95250" y="19050"/>
                    </a:cubicBezTo>
                    <a:cubicBezTo>
                      <a:pt x="95250" y="29571"/>
                      <a:pt x="103779" y="38100"/>
                      <a:pt x="114300" y="38100"/>
                    </a:cubicBezTo>
                    <a:lnTo>
                      <a:pt x="342900" y="38100"/>
                    </a:lnTo>
                    <a:cubicBezTo>
                      <a:pt x="374463" y="38100"/>
                      <a:pt x="400050" y="63687"/>
                      <a:pt x="400050" y="95250"/>
                    </a:cubicBezTo>
                    <a:cubicBezTo>
                      <a:pt x="400050" y="126813"/>
                      <a:pt x="374463" y="152400"/>
                      <a:pt x="342900" y="152400"/>
                    </a:cubicBezTo>
                    <a:lnTo>
                      <a:pt x="114300" y="152400"/>
                    </a:lnTo>
                    <a:cubicBezTo>
                      <a:pt x="51174" y="152400"/>
                      <a:pt x="0" y="203574"/>
                      <a:pt x="0" y="266700"/>
                    </a:cubicBezTo>
                    <a:cubicBezTo>
                      <a:pt x="0" y="329826"/>
                      <a:pt x="51174" y="381000"/>
                      <a:pt x="114300" y="381000"/>
                    </a:cubicBezTo>
                    <a:lnTo>
                      <a:pt x="345281" y="381000"/>
                    </a:lnTo>
                    <a:cubicBezTo>
                      <a:pt x="355180" y="419337"/>
                      <a:pt x="392790" y="443705"/>
                      <a:pt x="431824" y="437074"/>
                    </a:cubicBezTo>
                    <a:cubicBezTo>
                      <a:pt x="470859" y="430442"/>
                      <a:pt x="498311" y="395020"/>
                      <a:pt x="494994" y="355565"/>
                    </a:cubicBezTo>
                    <a:cubicBezTo>
                      <a:pt x="491676" y="316110"/>
                      <a:pt x="458694" y="285770"/>
                      <a:pt x="419100" y="285750"/>
                    </a:cubicBezTo>
                    <a:close/>
                    <a:moveTo>
                      <a:pt x="419100" y="400050"/>
                    </a:moveTo>
                    <a:cubicBezTo>
                      <a:pt x="398058" y="400050"/>
                      <a:pt x="381000" y="382992"/>
                      <a:pt x="381000" y="361950"/>
                    </a:cubicBezTo>
                    <a:cubicBezTo>
                      <a:pt x="381000" y="340908"/>
                      <a:pt x="398058" y="323850"/>
                      <a:pt x="419100" y="323850"/>
                    </a:cubicBezTo>
                    <a:cubicBezTo>
                      <a:pt x="440142" y="323850"/>
                      <a:pt x="457200" y="340908"/>
                      <a:pt x="457200" y="361950"/>
                    </a:cubicBezTo>
                    <a:cubicBezTo>
                      <a:pt x="457200" y="382992"/>
                      <a:pt x="440142" y="400050"/>
                      <a:pt x="419100" y="400050"/>
                    </a:cubicBezTo>
                    <a:close/>
                  </a:path>
                </a:pathLst>
              </a:custGeom>
              <a:solidFill>
                <a:srgbClr val="FF7A90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806952" y="54559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下一步推荐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19700" y="2933700"/>
            <a:ext cx="1752600" cy="1752600"/>
            <a:chOff x="5219700" y="2933700"/>
            <a:chExt cx="1752600" cy="1752600"/>
          </a:xfrm>
        </p:grpSpPr>
        <p:sp>
          <p:nvSpPr>
            <p:cNvPr id="41" name="Ellipse 41"/>
            <p:cNvSpPr/>
            <p:nvPr/>
          </p:nvSpPr>
          <p:spPr>
            <a:xfrm>
              <a:off x="5219700" y="2933700"/>
              <a:ext cx="1752600" cy="17526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27815" y="3423285"/>
              <a:ext cx="11363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LEARN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59908" y="39204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结果驱动策略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5" name="TextBox 45"/>
            <p:cNvSpPr txBox="1"/>
            <p:nvPr/>
          </p:nvSpPr>
          <p:spPr>
            <a:xfrm>
              <a:off x="526542" y="638841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实现基础：答题提交更新掌握度、易错标签与行为时间线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15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32410"/>
            <a:ext cx="9032138" cy="1082802"/>
            <a:chOff x="514350" y="232410"/>
            <a:chExt cx="9032138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32410"/>
              <a:ext cx="89432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完整用户旅程，已经落到真实页面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45820"/>
              <a:ext cx="90062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以下 10 张截图全部来自用户指定的 2026-07-15 产品截图目录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466850"/>
            <a:ext cx="2057400" cy="1451801"/>
            <a:chOff x="533400" y="1466850"/>
            <a:chExt cx="2057400" cy="1451801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1545431"/>
              <a:ext cx="1905000" cy="1071562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78942" y="2654618"/>
              <a:ext cx="824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01 · 首页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800350" y="1466850"/>
            <a:ext cx="2057400" cy="1451801"/>
            <a:chOff x="2800350" y="1466850"/>
            <a:chExt cx="2057400" cy="1451801"/>
          </a:xfrm>
        </p:grpSpPr>
        <p:sp>
          <p:nvSpPr>
            <p:cNvPr id="9" name="Rectangle 9"/>
            <p:cNvSpPr/>
            <p:nvPr/>
          </p:nvSpPr>
          <p:spPr>
            <a:xfrm>
              <a:off x="280035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6550" y="1545431"/>
              <a:ext cx="1905000" cy="1071562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2945892" y="2654618"/>
              <a:ext cx="11024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02 · AI 对话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067300" y="1466850"/>
            <a:ext cx="2057400" cy="1451801"/>
            <a:chOff x="5067300" y="1466850"/>
            <a:chExt cx="2057400" cy="1451801"/>
          </a:xfrm>
        </p:grpSpPr>
        <p:sp>
          <p:nvSpPr>
            <p:cNvPr id="13" name="Rectangle 13"/>
            <p:cNvSpPr/>
            <p:nvPr/>
          </p:nvSpPr>
          <p:spPr>
            <a:xfrm>
              <a:off x="506730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43500" y="1545431"/>
              <a:ext cx="1905000" cy="1071562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5212842" y="26546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03 · 学习路径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334250" y="1466850"/>
            <a:ext cx="2057400" cy="1451801"/>
            <a:chOff x="7334250" y="1466850"/>
            <a:chExt cx="2057400" cy="1451801"/>
          </a:xfrm>
        </p:grpSpPr>
        <p:sp>
          <p:nvSpPr>
            <p:cNvPr id="17" name="Rectangle 17"/>
            <p:cNvSpPr/>
            <p:nvPr/>
          </p:nvSpPr>
          <p:spPr>
            <a:xfrm>
              <a:off x="733425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10450" y="1562100"/>
              <a:ext cx="1905000" cy="100965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479792" y="26546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04 · 产品页面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01200" y="1466850"/>
            <a:ext cx="2057400" cy="1451801"/>
            <a:chOff x="9601200" y="1466850"/>
            <a:chExt cx="2057400" cy="1451801"/>
          </a:xfrm>
        </p:grpSpPr>
        <p:sp>
          <p:nvSpPr>
            <p:cNvPr id="21" name="Rectangle 21"/>
            <p:cNvSpPr/>
            <p:nvPr/>
          </p:nvSpPr>
          <p:spPr>
            <a:xfrm>
              <a:off x="9601200" y="14668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77400" y="1562100"/>
              <a:ext cx="1905000" cy="10096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9746742" y="26546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05 · 产品页面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33400" y="3105150"/>
            <a:ext cx="2057400" cy="1451801"/>
            <a:chOff x="533400" y="3105150"/>
            <a:chExt cx="2057400" cy="1451801"/>
          </a:xfrm>
        </p:grpSpPr>
        <p:sp>
          <p:nvSpPr>
            <p:cNvPr id="25" name="Rectangle 25"/>
            <p:cNvSpPr/>
            <p:nvPr/>
          </p:nvSpPr>
          <p:spPr>
            <a:xfrm>
              <a:off x="53340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09600" y="3200400"/>
              <a:ext cx="1905000" cy="1019175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67894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06 · 产品页面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800350" y="3105150"/>
            <a:ext cx="2057400" cy="1451801"/>
            <a:chOff x="2800350" y="3105150"/>
            <a:chExt cx="2057400" cy="1451801"/>
          </a:xfrm>
        </p:grpSpPr>
        <p:sp>
          <p:nvSpPr>
            <p:cNvPr id="29" name="Rectangle 29"/>
            <p:cNvSpPr/>
            <p:nvPr/>
          </p:nvSpPr>
          <p:spPr>
            <a:xfrm>
              <a:off x="280035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76550" y="3200400"/>
              <a:ext cx="1905000" cy="1019175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294589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07 · 产品页面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67300" y="3105150"/>
            <a:ext cx="2057400" cy="1451801"/>
            <a:chOff x="5067300" y="3105150"/>
            <a:chExt cx="2057400" cy="1451801"/>
          </a:xfrm>
        </p:grpSpPr>
        <p:sp>
          <p:nvSpPr>
            <p:cNvPr id="33" name="Rectangle 33"/>
            <p:cNvSpPr/>
            <p:nvPr/>
          </p:nvSpPr>
          <p:spPr>
            <a:xfrm>
              <a:off x="506730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43500" y="3200400"/>
              <a:ext cx="1905000" cy="1019175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521284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08 · 产品页面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334250" y="3105150"/>
            <a:ext cx="2057400" cy="1451801"/>
            <a:chOff x="7334250" y="3105150"/>
            <a:chExt cx="2057400" cy="1451801"/>
          </a:xfrm>
        </p:grpSpPr>
        <p:sp>
          <p:nvSpPr>
            <p:cNvPr id="37" name="Rectangle 37"/>
            <p:cNvSpPr/>
            <p:nvPr/>
          </p:nvSpPr>
          <p:spPr>
            <a:xfrm>
              <a:off x="733425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10450" y="3200400"/>
              <a:ext cx="1905000" cy="1019175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47979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09 · 产品页面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01200" y="3105150"/>
            <a:ext cx="2057400" cy="1451801"/>
            <a:chOff x="9601200" y="3105150"/>
            <a:chExt cx="2057400" cy="1451801"/>
          </a:xfrm>
        </p:grpSpPr>
        <p:sp>
          <p:nvSpPr>
            <p:cNvPr id="41" name="Rectangle 41"/>
            <p:cNvSpPr/>
            <p:nvPr/>
          </p:nvSpPr>
          <p:spPr>
            <a:xfrm>
              <a:off x="9601200" y="3105150"/>
              <a:ext cx="2057400" cy="1409700"/>
            </a:xfrm>
            <a:prstGeom prst="roundRect">
              <a:avLst>
                <a:gd name="adj" fmla="val 5405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677400" y="3200400"/>
              <a:ext cx="1905000" cy="100965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746742" y="4292918"/>
              <a:ext cx="1206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10 · 产品页面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2950" y="4911090"/>
            <a:ext cx="10712478" cy="1133094"/>
            <a:chOff x="742950" y="4911090"/>
            <a:chExt cx="10712478" cy="1133094"/>
          </a:xfrm>
        </p:grpSpPr>
        <p:sp>
          <p:nvSpPr>
            <p:cNvPr id="45" name="Freeform 45"/>
            <p:cNvSpPr/>
            <p:nvPr/>
          </p:nvSpPr>
          <p:spPr>
            <a:xfrm>
              <a:off x="742950" y="5410200"/>
              <a:ext cx="10687050" cy="9525"/>
            </a:xfrm>
            <a:custGeom>
              <a:avLst/>
              <a:gdLst/>
              <a:ahLst/>
              <a:cxnLst/>
              <a:rect l="l" t="t" r="r" b="b"/>
              <a:pathLst>
                <a:path w="10687050" h="9525">
                  <a:moveTo>
                    <a:pt x="0" y="0"/>
                  </a:moveTo>
                  <a:lnTo>
                    <a:pt x="10687050" y="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856" y="4911090"/>
              <a:ext cx="132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登录 / 首页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62606" y="56921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画像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86606" y="49110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对话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24856" y="56921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知识图谱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29856" y="4911090"/>
              <a:ext cx="132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资源 / 路径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25356" y="5692140"/>
              <a:ext cx="21300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 / 统计 / 任务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53" name="TextBox 53"/>
            <p:cNvSpPr txBox="1"/>
            <p:nvPr/>
          </p:nvSpPr>
          <p:spPr>
            <a:xfrm>
              <a:off x="526542" y="6388418"/>
              <a:ext cx="5966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素材来源：C:\Users\daiyu\Desktop\教育智能体项目截图_2026-07-15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16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984108" cy="1082802"/>
            <a:chOff x="514350" y="251460"/>
            <a:chExt cx="10984108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9841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前沿 AI 的价值，在于围绕同一状态协同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97170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模型负责生成，编排负责协作，证据与关系负责约束，工程负责可用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19450" y="1962150"/>
            <a:ext cx="5753100" cy="3657600"/>
            <a:chOff x="3219450" y="1962150"/>
            <a:chExt cx="5753100" cy="3657600"/>
          </a:xfrm>
        </p:grpSpPr>
        <p:sp>
          <p:nvSpPr>
            <p:cNvPr id="5" name="Line 5"/>
            <p:cNvSpPr/>
            <p:nvPr/>
          </p:nvSpPr>
          <p:spPr>
            <a:xfrm>
              <a:off x="6096000" y="196215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1809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2438400"/>
              <a:ext cx="2876550" cy="1333500"/>
            </a:xfrm>
            <a:custGeom>
              <a:avLst/>
              <a:gdLst/>
              <a:ahLst/>
              <a:cxnLst/>
              <a:rect l="l" t="t" r="r" b="b"/>
              <a:pathLst>
                <a:path w="2876550" h="1333500">
                  <a:moveTo>
                    <a:pt x="0" y="1333500"/>
                  </a:moveTo>
                  <a:lnTo>
                    <a:pt x="287655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3771900"/>
              <a:ext cx="2876550" cy="1295400"/>
            </a:xfrm>
            <a:custGeom>
              <a:avLst/>
              <a:gdLst/>
              <a:ahLst/>
              <a:cxnLst/>
              <a:rect l="l" t="t" r="r" b="b"/>
              <a:pathLst>
                <a:path w="2876550" h="1295400">
                  <a:moveTo>
                    <a:pt x="0" y="0"/>
                  </a:moveTo>
                  <a:lnTo>
                    <a:pt x="2876550" y="12954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3771900"/>
              <a:ext cx="9525" cy="1847850"/>
            </a:xfrm>
            <a:custGeom>
              <a:avLst/>
              <a:gdLst/>
              <a:ahLst/>
              <a:cxnLst/>
              <a:rect l="l" t="t" r="r" b="b"/>
              <a:pathLst>
                <a:path w="9525" h="1847850">
                  <a:moveTo>
                    <a:pt x="0" y="0"/>
                  </a:moveTo>
                  <a:lnTo>
                    <a:pt x="0" y="184785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219450" y="3771900"/>
              <a:ext cx="2876550" cy="1295400"/>
            </a:xfrm>
            <a:custGeom>
              <a:avLst/>
              <a:gdLst/>
              <a:ahLst/>
              <a:cxnLst/>
              <a:rect l="l" t="t" r="r" b="b"/>
              <a:pathLst>
                <a:path w="2876550" h="1295400">
                  <a:moveTo>
                    <a:pt x="2876550" y="0"/>
                  </a:moveTo>
                  <a:lnTo>
                    <a:pt x="0" y="129540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219450" y="2438400"/>
              <a:ext cx="2876550" cy="1333500"/>
            </a:xfrm>
            <a:custGeom>
              <a:avLst/>
              <a:gdLst/>
              <a:ahLst/>
              <a:cxnLst/>
              <a:rect l="l" t="t" r="r" b="b"/>
              <a:pathLst>
                <a:path w="2876550" h="1333500">
                  <a:moveTo>
                    <a:pt x="2876550" y="13335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4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572000" y="2247900"/>
            <a:ext cx="3048000" cy="3048000"/>
            <a:chOff x="4572000" y="2247900"/>
            <a:chExt cx="3048000" cy="3048000"/>
          </a:xfrm>
        </p:grpSpPr>
        <p:sp>
          <p:nvSpPr>
            <p:cNvPr id="12" name="Ellipse 12"/>
            <p:cNvSpPr/>
            <p:nvPr/>
          </p:nvSpPr>
          <p:spPr>
            <a:xfrm>
              <a:off x="4572000" y="2247900"/>
              <a:ext cx="3048000" cy="3048000"/>
            </a:xfrm>
            <a:prstGeom prst="ellipse">
              <a:avLst/>
            </a:prstGeom>
            <a:gradFill>
              <a:gsLst>
                <a:gs pos="0">
                  <a:schemeClr val="accent3">
                    <a:alpha val="24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029200" y="2705100"/>
              <a:ext cx="2133600" cy="21336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832872" y="3068241"/>
              <a:ext cx="526256" cy="546497"/>
              <a:chOff x="5832872" y="3068241"/>
              <a:chExt cx="526256" cy="54649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5853112" y="3189684"/>
                <a:ext cx="485775" cy="404812"/>
              </a:xfrm>
              <a:custGeom>
                <a:avLst/>
                <a:gdLst/>
                <a:ahLst/>
                <a:cxnLst/>
                <a:rect l="l" t="t" r="r" b="b"/>
                <a:pathLst>
                  <a:path w="485775" h="404812">
                    <a:moveTo>
                      <a:pt x="425053" y="0"/>
                    </a:moveTo>
                    <a:lnTo>
                      <a:pt x="60722" y="0"/>
                    </a:lnTo>
                    <a:cubicBezTo>
                      <a:pt x="27186" y="0"/>
                      <a:pt x="0" y="27186"/>
                      <a:pt x="0" y="60722"/>
                    </a:cubicBezTo>
                    <a:lnTo>
                      <a:pt x="0" y="344091"/>
                    </a:lnTo>
                    <a:cubicBezTo>
                      <a:pt x="0" y="377626"/>
                      <a:pt x="27186" y="404812"/>
                      <a:pt x="60722" y="404812"/>
                    </a:cubicBezTo>
                    <a:lnTo>
                      <a:pt x="425053" y="404812"/>
                    </a:lnTo>
                    <a:cubicBezTo>
                      <a:pt x="458589" y="404812"/>
                      <a:pt x="485775" y="377626"/>
                      <a:pt x="485775" y="344091"/>
                    </a:cubicBezTo>
                    <a:lnTo>
                      <a:pt x="485775" y="60722"/>
                    </a:lnTo>
                    <a:cubicBezTo>
                      <a:pt x="485775" y="27186"/>
                      <a:pt x="458589" y="0"/>
                      <a:pt x="425053" y="0"/>
                    </a:cubicBezTo>
                    <a:close/>
                    <a:moveTo>
                      <a:pt x="333970" y="323850"/>
                    </a:moveTo>
                    <a:lnTo>
                      <a:pt x="151805" y="323850"/>
                    </a:lnTo>
                    <a:cubicBezTo>
                      <a:pt x="123858" y="323850"/>
                      <a:pt x="101203" y="301195"/>
                      <a:pt x="101203" y="273248"/>
                    </a:cubicBezTo>
                    <a:cubicBezTo>
                      <a:pt x="101203" y="245302"/>
                      <a:pt x="123858" y="222647"/>
                      <a:pt x="151805" y="222647"/>
                    </a:cubicBezTo>
                    <a:lnTo>
                      <a:pt x="333970" y="222647"/>
                    </a:lnTo>
                    <a:cubicBezTo>
                      <a:pt x="361917" y="222647"/>
                      <a:pt x="384572" y="245302"/>
                      <a:pt x="384572" y="273248"/>
                    </a:cubicBezTo>
                    <a:cubicBezTo>
                      <a:pt x="384572" y="301195"/>
                      <a:pt x="361917" y="323850"/>
                      <a:pt x="333970" y="323850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832872" y="3068241"/>
                <a:ext cx="526256" cy="546497"/>
              </a:xfrm>
              <a:custGeom>
                <a:avLst/>
                <a:gdLst/>
                <a:ahLst/>
                <a:cxnLst/>
                <a:rect l="l" t="t" r="r" b="b"/>
                <a:pathLst>
                  <a:path w="526256" h="546497">
                    <a:moveTo>
                      <a:pt x="445294" y="101203"/>
                    </a:moveTo>
                    <a:lnTo>
                      <a:pt x="283369" y="101203"/>
                    </a:lnTo>
                    <a:lnTo>
                      <a:pt x="283369" y="20241"/>
                    </a:lnTo>
                    <a:cubicBezTo>
                      <a:pt x="283369" y="9062"/>
                      <a:pt x="274307" y="0"/>
                      <a:pt x="263128" y="0"/>
                    </a:cubicBezTo>
                    <a:cubicBezTo>
                      <a:pt x="251950" y="0"/>
                      <a:pt x="242888" y="9062"/>
                      <a:pt x="242888" y="20241"/>
                    </a:cubicBezTo>
                    <a:lnTo>
                      <a:pt x="242888" y="101203"/>
                    </a:lnTo>
                    <a:lnTo>
                      <a:pt x="80962" y="101203"/>
                    </a:lnTo>
                    <a:cubicBezTo>
                      <a:pt x="36248" y="101203"/>
                      <a:pt x="0" y="137451"/>
                      <a:pt x="0" y="182166"/>
                    </a:cubicBezTo>
                    <a:lnTo>
                      <a:pt x="0" y="465534"/>
                    </a:lnTo>
                    <a:cubicBezTo>
                      <a:pt x="0" y="510249"/>
                      <a:pt x="36248" y="546497"/>
                      <a:pt x="80962" y="546497"/>
                    </a:cubicBezTo>
                    <a:lnTo>
                      <a:pt x="445294" y="546497"/>
                    </a:lnTo>
                    <a:cubicBezTo>
                      <a:pt x="490008" y="546497"/>
                      <a:pt x="526256" y="510249"/>
                      <a:pt x="526256" y="465534"/>
                    </a:cubicBezTo>
                    <a:lnTo>
                      <a:pt x="526256" y="182166"/>
                    </a:lnTo>
                    <a:cubicBezTo>
                      <a:pt x="526256" y="137451"/>
                      <a:pt x="490008" y="101203"/>
                      <a:pt x="445294" y="101203"/>
                    </a:cubicBezTo>
                    <a:close/>
                    <a:moveTo>
                      <a:pt x="485775" y="465534"/>
                    </a:moveTo>
                    <a:cubicBezTo>
                      <a:pt x="485775" y="487892"/>
                      <a:pt x="467651" y="506016"/>
                      <a:pt x="445294" y="506016"/>
                    </a:cubicBezTo>
                    <a:lnTo>
                      <a:pt x="80962" y="506016"/>
                    </a:lnTo>
                    <a:cubicBezTo>
                      <a:pt x="58605" y="506016"/>
                      <a:pt x="40481" y="487892"/>
                      <a:pt x="40481" y="465534"/>
                    </a:cubicBezTo>
                    <a:lnTo>
                      <a:pt x="40481" y="182166"/>
                    </a:lnTo>
                    <a:cubicBezTo>
                      <a:pt x="40481" y="159808"/>
                      <a:pt x="58605" y="141684"/>
                      <a:pt x="80962" y="141684"/>
                    </a:cubicBezTo>
                    <a:lnTo>
                      <a:pt x="445294" y="141684"/>
                    </a:lnTo>
                    <a:cubicBezTo>
                      <a:pt x="467651" y="141684"/>
                      <a:pt x="485775" y="159808"/>
                      <a:pt x="485775" y="182166"/>
                    </a:cubicBezTo>
                    <a:close/>
                    <a:moveTo>
                      <a:pt x="354211" y="323850"/>
                    </a:moveTo>
                    <a:lnTo>
                      <a:pt x="172045" y="323850"/>
                    </a:lnTo>
                    <a:cubicBezTo>
                      <a:pt x="132920" y="323850"/>
                      <a:pt x="101203" y="355567"/>
                      <a:pt x="101203" y="394692"/>
                    </a:cubicBezTo>
                    <a:cubicBezTo>
                      <a:pt x="101203" y="433817"/>
                      <a:pt x="132920" y="465534"/>
                      <a:pt x="172045" y="465534"/>
                    </a:cubicBezTo>
                    <a:lnTo>
                      <a:pt x="354211" y="465534"/>
                    </a:lnTo>
                    <a:cubicBezTo>
                      <a:pt x="393336" y="465534"/>
                      <a:pt x="425053" y="433817"/>
                      <a:pt x="425053" y="394692"/>
                    </a:cubicBezTo>
                    <a:cubicBezTo>
                      <a:pt x="425053" y="355567"/>
                      <a:pt x="393336" y="323850"/>
                      <a:pt x="354211" y="323850"/>
                    </a:cubicBezTo>
                    <a:close/>
                    <a:moveTo>
                      <a:pt x="283369" y="364331"/>
                    </a:moveTo>
                    <a:lnTo>
                      <a:pt x="283369" y="425053"/>
                    </a:lnTo>
                    <a:lnTo>
                      <a:pt x="242888" y="425053"/>
                    </a:lnTo>
                    <a:lnTo>
                      <a:pt x="242888" y="364331"/>
                    </a:lnTo>
                    <a:close/>
                    <a:moveTo>
                      <a:pt x="141684" y="394692"/>
                    </a:moveTo>
                    <a:cubicBezTo>
                      <a:pt x="141684" y="377924"/>
                      <a:pt x="155277" y="364331"/>
                      <a:pt x="172045" y="364331"/>
                    </a:cubicBezTo>
                    <a:lnTo>
                      <a:pt x="202406" y="364331"/>
                    </a:lnTo>
                    <a:lnTo>
                      <a:pt x="202406" y="425053"/>
                    </a:lnTo>
                    <a:lnTo>
                      <a:pt x="172045" y="425053"/>
                    </a:lnTo>
                    <a:cubicBezTo>
                      <a:pt x="155277" y="425053"/>
                      <a:pt x="141684" y="411460"/>
                      <a:pt x="141684" y="394692"/>
                    </a:cubicBezTo>
                    <a:close/>
                    <a:moveTo>
                      <a:pt x="354211" y="425053"/>
                    </a:moveTo>
                    <a:lnTo>
                      <a:pt x="323850" y="425053"/>
                    </a:lnTo>
                    <a:lnTo>
                      <a:pt x="323850" y="364331"/>
                    </a:lnTo>
                    <a:lnTo>
                      <a:pt x="354211" y="364331"/>
                    </a:lnTo>
                    <a:cubicBezTo>
                      <a:pt x="370979" y="364331"/>
                      <a:pt x="384572" y="377924"/>
                      <a:pt x="384572" y="394692"/>
                    </a:cubicBezTo>
                    <a:cubicBezTo>
                      <a:pt x="384572" y="411460"/>
                      <a:pt x="370979" y="425053"/>
                      <a:pt x="354211" y="425053"/>
                    </a:cubicBezTo>
                    <a:close/>
                    <a:moveTo>
                      <a:pt x="121444" y="253008"/>
                    </a:moveTo>
                    <a:cubicBezTo>
                      <a:pt x="121444" y="236240"/>
                      <a:pt x="135037" y="222647"/>
                      <a:pt x="151805" y="222647"/>
                    </a:cubicBezTo>
                    <a:cubicBezTo>
                      <a:pt x="168573" y="222647"/>
                      <a:pt x="182166" y="236240"/>
                      <a:pt x="182166" y="253008"/>
                    </a:cubicBezTo>
                    <a:cubicBezTo>
                      <a:pt x="182166" y="269776"/>
                      <a:pt x="168573" y="283369"/>
                      <a:pt x="151805" y="283369"/>
                    </a:cubicBezTo>
                    <a:cubicBezTo>
                      <a:pt x="135037" y="283369"/>
                      <a:pt x="121444" y="269776"/>
                      <a:pt x="121444" y="253008"/>
                    </a:cubicBezTo>
                    <a:close/>
                    <a:moveTo>
                      <a:pt x="344091" y="253008"/>
                    </a:moveTo>
                    <a:cubicBezTo>
                      <a:pt x="344091" y="236240"/>
                      <a:pt x="357684" y="222647"/>
                      <a:pt x="374452" y="222647"/>
                    </a:cubicBezTo>
                    <a:cubicBezTo>
                      <a:pt x="391219" y="222647"/>
                      <a:pt x="404812" y="236240"/>
                      <a:pt x="404812" y="253008"/>
                    </a:cubicBezTo>
                    <a:cubicBezTo>
                      <a:pt x="404812" y="269776"/>
                      <a:pt x="391219" y="283369"/>
                      <a:pt x="374452" y="283369"/>
                    </a:cubicBezTo>
                    <a:cubicBezTo>
                      <a:pt x="357684" y="283369"/>
                      <a:pt x="344091" y="269776"/>
                      <a:pt x="344091" y="2530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4937341" y="380428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学习共享状态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9597" y="4263390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 · 目标 · 证据 · 进度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686300" y="1466850"/>
            <a:ext cx="2819400" cy="819150"/>
            <a:chOff x="4686300" y="1466850"/>
            <a:chExt cx="2819400" cy="819150"/>
          </a:xfrm>
        </p:grpSpPr>
        <p:sp>
          <p:nvSpPr>
            <p:cNvPr id="20" name="Rectangle 20"/>
            <p:cNvSpPr/>
            <p:nvPr/>
          </p:nvSpPr>
          <p:spPr>
            <a:xfrm>
              <a:off x="4686300" y="1466850"/>
              <a:ext cx="28194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96657" y="1531620"/>
              <a:ext cx="17986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LANGGRAPH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17592" y="1920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状态机编排与记忆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439150" y="2019300"/>
            <a:ext cx="2857500" cy="819150"/>
            <a:chOff x="8439150" y="2019300"/>
            <a:chExt cx="2857500" cy="819150"/>
          </a:xfrm>
        </p:grpSpPr>
        <p:sp>
          <p:nvSpPr>
            <p:cNvPr id="24" name="Rectangle 24"/>
            <p:cNvSpPr/>
            <p:nvPr/>
          </p:nvSpPr>
          <p:spPr>
            <a:xfrm>
              <a:off x="8439150" y="2019300"/>
              <a:ext cx="28575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524147" y="2084070"/>
              <a:ext cx="6875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LLM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89492" y="2472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理解与多类型生成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439150" y="4648200"/>
            <a:ext cx="2857500" cy="819150"/>
            <a:chOff x="8439150" y="4648200"/>
            <a:chExt cx="2857500" cy="819150"/>
          </a:xfrm>
        </p:grpSpPr>
        <p:sp>
          <p:nvSpPr>
            <p:cNvPr id="28" name="Rectangle 28"/>
            <p:cNvSpPr/>
            <p:nvPr/>
          </p:nvSpPr>
          <p:spPr>
            <a:xfrm>
              <a:off x="8439150" y="4648200"/>
              <a:ext cx="28575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59991" y="4712970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RAG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89492" y="51015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向量证据与上下文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686300" y="5391150"/>
            <a:ext cx="2819400" cy="819150"/>
            <a:chOff x="4686300" y="5391150"/>
            <a:chExt cx="2819400" cy="819150"/>
          </a:xfrm>
        </p:grpSpPr>
        <p:sp>
          <p:nvSpPr>
            <p:cNvPr id="32" name="Rectangle 32"/>
            <p:cNvSpPr/>
            <p:nvPr/>
          </p:nvSpPr>
          <p:spPr>
            <a:xfrm>
              <a:off x="4686300" y="5391150"/>
              <a:ext cx="28194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89124" y="5455920"/>
              <a:ext cx="20137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SSE + ASYNC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96434" y="58445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流式体验与并发任务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6440" y="4648200"/>
            <a:ext cx="3035320" cy="819150"/>
            <a:chOff x="806440" y="4648200"/>
            <a:chExt cx="3035320" cy="819150"/>
          </a:xfrm>
        </p:grpSpPr>
        <p:sp>
          <p:nvSpPr>
            <p:cNvPr id="36" name="Rectangle 36"/>
            <p:cNvSpPr/>
            <p:nvPr/>
          </p:nvSpPr>
          <p:spPr>
            <a:xfrm>
              <a:off x="895350" y="4648200"/>
              <a:ext cx="28575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6440" y="4712970"/>
              <a:ext cx="3035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KNOWLEDGE GRAPH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24534" y="51015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前置关系与路径推理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5350" y="2019300"/>
            <a:ext cx="2857500" cy="819150"/>
            <a:chOff x="895350" y="2019300"/>
            <a:chExt cx="2857500" cy="819150"/>
          </a:xfrm>
        </p:grpSpPr>
        <p:sp>
          <p:nvSpPr>
            <p:cNvPr id="40" name="Rectangle 40"/>
            <p:cNvSpPr/>
            <p:nvPr/>
          </p:nvSpPr>
          <p:spPr>
            <a:xfrm>
              <a:off x="895350" y="2019300"/>
              <a:ext cx="2857500" cy="819150"/>
            </a:xfrm>
            <a:prstGeom prst="roundRect">
              <a:avLst>
                <a:gd name="adj" fmla="val 13953"/>
              </a:avLst>
            </a:prstGeom>
            <a:solidFill>
              <a:schemeClr val="lt2"/>
            </a:solidFill>
            <a:ln w="19050">
              <a:solidFill>
                <a:srgbClr val="FF7A9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84235" y="2084070"/>
              <a:ext cx="2479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ISOLATED EXEC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24534" y="2472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代码运行与图表产物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4" name="TextBox 44"/>
            <p:cNvSpPr txBox="1"/>
            <p:nvPr/>
          </p:nvSpPr>
          <p:spPr>
            <a:xfrm>
              <a:off x="526542" y="638841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融合原则：每项技术都对应一个明确的教育问题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17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10130561" cy="1082802"/>
            <a:chOff x="514350" y="251460"/>
            <a:chExt cx="10130561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1013056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可信不是一句口号，而是三层工程约束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内容要有依据，任务要能追踪，系统要可部署与恢复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581150"/>
            <a:ext cx="11125200" cy="1295400"/>
            <a:chOff x="533400" y="1581150"/>
            <a:chExt cx="11125200" cy="1295400"/>
          </a:xfrm>
        </p:grpSpPr>
        <p:sp>
          <p:nvSpPr>
            <p:cNvPr id="5" name="Rectangle 5"/>
            <p:cNvSpPr/>
            <p:nvPr/>
          </p:nvSpPr>
          <p:spPr>
            <a:xfrm>
              <a:off x="533400" y="1581150"/>
              <a:ext cx="11125200" cy="1295400"/>
            </a:xfrm>
            <a:prstGeom prst="roundRect">
              <a:avLst>
                <a:gd name="adj" fmla="val 8824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871538" y="2032397"/>
              <a:ext cx="428625" cy="447093"/>
              <a:chOff x="871538" y="2032397"/>
              <a:chExt cx="428625" cy="44709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9397" y="2050256"/>
                <a:ext cx="392906" cy="411034"/>
              </a:xfrm>
              <a:custGeom>
                <a:avLst/>
                <a:gdLst/>
                <a:ahLst/>
                <a:cxnLst/>
                <a:rect l="l" t="t" r="r" b="b"/>
                <a:pathLst>
                  <a:path w="392906" h="411034">
                    <a:moveTo>
                      <a:pt x="392906" y="17859"/>
                    </a:moveTo>
                    <a:lnTo>
                      <a:pt x="392906" y="149059"/>
                    </a:lnTo>
                    <a:cubicBezTo>
                      <a:pt x="392906" y="336984"/>
                      <a:pt x="233712" y="399246"/>
                      <a:pt x="201945" y="409806"/>
                    </a:cubicBezTo>
                    <a:cubicBezTo>
                      <a:pt x="198387" y="411034"/>
                      <a:pt x="194520" y="411034"/>
                      <a:pt x="190961" y="409806"/>
                    </a:cubicBezTo>
                    <a:cubicBezTo>
                      <a:pt x="159194" y="399291"/>
                      <a:pt x="0" y="337096"/>
                      <a:pt x="0" y="149103"/>
                    </a:cubicBezTo>
                    <a:lnTo>
                      <a:pt x="0" y="17859"/>
                    </a:lnTo>
                    <a:cubicBezTo>
                      <a:pt x="0" y="7996"/>
                      <a:pt x="7996" y="0"/>
                      <a:pt x="17859" y="0"/>
                    </a:cubicBezTo>
                    <a:lnTo>
                      <a:pt x="375047" y="0"/>
                    </a:lnTo>
                    <a:cubicBezTo>
                      <a:pt x="384910" y="0"/>
                      <a:pt x="392906" y="7996"/>
                      <a:pt x="392906" y="1785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71538" y="2032397"/>
                <a:ext cx="428625" cy="447093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47093">
                    <a:moveTo>
                      <a:pt x="392906" y="0"/>
                    </a:moveTo>
                    <a:lnTo>
                      <a:pt x="35719" y="0"/>
                    </a:lnTo>
                    <a:cubicBezTo>
                      <a:pt x="15992" y="0"/>
                      <a:pt x="0" y="15992"/>
                      <a:pt x="0" y="35719"/>
                    </a:cubicBezTo>
                    <a:lnTo>
                      <a:pt x="0" y="166941"/>
                    </a:lnTo>
                    <a:cubicBezTo>
                      <a:pt x="0" y="366988"/>
                      <a:pt x="169262" y="433358"/>
                      <a:pt x="203150" y="444631"/>
                    </a:cubicBezTo>
                    <a:cubicBezTo>
                      <a:pt x="210388" y="447093"/>
                      <a:pt x="218237" y="447093"/>
                      <a:pt x="225475" y="444631"/>
                    </a:cubicBezTo>
                    <a:cubicBezTo>
                      <a:pt x="259407" y="433358"/>
                      <a:pt x="428625" y="366988"/>
                      <a:pt x="428625" y="166941"/>
                    </a:cubicBezTo>
                    <a:lnTo>
                      <a:pt x="428625" y="35719"/>
                    </a:lnTo>
                    <a:cubicBezTo>
                      <a:pt x="428625" y="15992"/>
                      <a:pt x="412633" y="0"/>
                      <a:pt x="392906" y="0"/>
                    </a:cubicBezTo>
                    <a:close/>
                    <a:moveTo>
                      <a:pt x="392906" y="166963"/>
                    </a:moveTo>
                    <a:cubicBezTo>
                      <a:pt x="392906" y="342029"/>
                      <a:pt x="244785" y="400519"/>
                      <a:pt x="214312" y="410699"/>
                    </a:cubicBezTo>
                    <a:cubicBezTo>
                      <a:pt x="184108" y="400630"/>
                      <a:pt x="35719" y="342186"/>
                      <a:pt x="35719" y="166963"/>
                    </a:cubicBezTo>
                    <a:lnTo>
                      <a:pt x="35719" y="35719"/>
                    </a:lnTo>
                    <a:lnTo>
                      <a:pt x="392906" y="35719"/>
                    </a:lnTo>
                    <a:close/>
                    <a:moveTo>
                      <a:pt x="112380" y="226948"/>
                    </a:moveTo>
                    <a:cubicBezTo>
                      <a:pt x="105402" y="219970"/>
                      <a:pt x="105402" y="208655"/>
                      <a:pt x="112380" y="201677"/>
                    </a:cubicBezTo>
                    <a:cubicBezTo>
                      <a:pt x="119359" y="194699"/>
                      <a:pt x="130673" y="194699"/>
                      <a:pt x="137651" y="201677"/>
                    </a:cubicBezTo>
                    <a:lnTo>
                      <a:pt x="178594" y="242620"/>
                    </a:lnTo>
                    <a:lnTo>
                      <a:pt x="290974" y="130239"/>
                    </a:lnTo>
                    <a:cubicBezTo>
                      <a:pt x="297952" y="123261"/>
                      <a:pt x="309266" y="123261"/>
                      <a:pt x="316245" y="130239"/>
                    </a:cubicBezTo>
                    <a:cubicBezTo>
                      <a:pt x="323223" y="137218"/>
                      <a:pt x="323223" y="148532"/>
                      <a:pt x="316245" y="155511"/>
                    </a:cubicBezTo>
                    <a:lnTo>
                      <a:pt x="191229" y="280526"/>
                    </a:lnTo>
                    <a:cubicBezTo>
                      <a:pt x="187879" y="283880"/>
                      <a:pt x="183334" y="285764"/>
                      <a:pt x="178594" y="285764"/>
                    </a:cubicBezTo>
                    <a:cubicBezTo>
                      <a:pt x="173854" y="285764"/>
                      <a:pt x="169308" y="283880"/>
                      <a:pt x="165958" y="28052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643634" y="172783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内容可信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8206" y="2263140"/>
              <a:ext cx="69951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RAG 证据约束 · 知识图谱关系校验 · 系统提示词限定输出边界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0" y="1943100"/>
              <a:ext cx="16954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06784" y="2091690"/>
              <a:ext cx="25318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ANTI-HALLUCINATION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3400" y="3105150"/>
            <a:ext cx="11125200" cy="1295400"/>
            <a:chOff x="533400" y="3105150"/>
            <a:chExt cx="11125200" cy="1295400"/>
          </a:xfrm>
        </p:grpSpPr>
        <p:sp>
          <p:nvSpPr>
            <p:cNvPr id="14" name="Rectangle 14"/>
            <p:cNvSpPr/>
            <p:nvPr/>
          </p:nvSpPr>
          <p:spPr>
            <a:xfrm>
              <a:off x="533400" y="3105150"/>
              <a:ext cx="11125200" cy="1295400"/>
            </a:xfrm>
            <a:prstGeom prst="roundRect">
              <a:avLst>
                <a:gd name="adj" fmla="val 8824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53678" y="3556397"/>
              <a:ext cx="464344" cy="392906"/>
              <a:chOff x="853678" y="3556397"/>
              <a:chExt cx="464344" cy="39290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71538" y="3574256"/>
                <a:ext cx="428625" cy="357188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357188">
                    <a:moveTo>
                      <a:pt x="428625" y="17859"/>
                    </a:moveTo>
                    <a:lnTo>
                      <a:pt x="428625" y="357188"/>
                    </a:lnTo>
                    <a:lnTo>
                      <a:pt x="0" y="357188"/>
                    </a:lnTo>
                    <a:lnTo>
                      <a:pt x="0" y="0"/>
                    </a:lnTo>
                    <a:lnTo>
                      <a:pt x="410766" y="0"/>
                    </a:lnTo>
                    <a:cubicBezTo>
                      <a:pt x="420629" y="0"/>
                      <a:pt x="428625" y="7996"/>
                      <a:pt x="428625" y="17859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53678" y="3556397"/>
                <a:ext cx="464344" cy="392906"/>
              </a:xfrm>
              <a:custGeom>
                <a:avLst/>
                <a:gdLst/>
                <a:ahLst/>
                <a:cxnLst/>
                <a:rect l="l" t="t" r="r" b="b"/>
                <a:pathLst>
                  <a:path w="464344" h="392906">
                    <a:moveTo>
                      <a:pt x="464344" y="375047"/>
                    </a:moveTo>
                    <a:cubicBezTo>
                      <a:pt x="464344" y="384910"/>
                      <a:pt x="456348" y="392906"/>
                      <a:pt x="446484" y="392906"/>
                    </a:cubicBezTo>
                    <a:lnTo>
                      <a:pt x="17859" y="392906"/>
                    </a:lnTo>
                    <a:cubicBezTo>
                      <a:pt x="7996" y="392906"/>
                      <a:pt x="0" y="384910"/>
                      <a:pt x="0" y="375047"/>
                    </a:cubicBezTo>
                    <a:lnTo>
                      <a:pt x="0" y="17859"/>
                    </a:lnTo>
                    <a:cubicBezTo>
                      <a:pt x="0" y="7996"/>
                      <a:pt x="7996" y="0"/>
                      <a:pt x="17859" y="0"/>
                    </a:cubicBezTo>
                    <a:cubicBezTo>
                      <a:pt x="27723" y="0"/>
                      <a:pt x="35719" y="7996"/>
                      <a:pt x="35719" y="17859"/>
                    </a:cubicBezTo>
                    <a:lnTo>
                      <a:pt x="35719" y="260501"/>
                    </a:lnTo>
                    <a:lnTo>
                      <a:pt x="148099" y="148099"/>
                    </a:lnTo>
                    <a:cubicBezTo>
                      <a:pt x="151449" y="144745"/>
                      <a:pt x="155994" y="142861"/>
                      <a:pt x="160734" y="142861"/>
                    </a:cubicBezTo>
                    <a:cubicBezTo>
                      <a:pt x="165474" y="142861"/>
                      <a:pt x="170020" y="144745"/>
                      <a:pt x="173370" y="148099"/>
                    </a:cubicBezTo>
                    <a:lnTo>
                      <a:pt x="232172" y="206923"/>
                    </a:lnTo>
                    <a:lnTo>
                      <a:pt x="349798" y="89297"/>
                    </a:lnTo>
                    <a:lnTo>
                      <a:pt x="303609" y="89297"/>
                    </a:lnTo>
                    <a:cubicBezTo>
                      <a:pt x="293746" y="89297"/>
                      <a:pt x="285750" y="81301"/>
                      <a:pt x="285750" y="71438"/>
                    </a:cubicBezTo>
                    <a:cubicBezTo>
                      <a:pt x="285750" y="61574"/>
                      <a:pt x="293746" y="53578"/>
                      <a:pt x="303609" y="53578"/>
                    </a:cubicBezTo>
                    <a:lnTo>
                      <a:pt x="392906" y="53578"/>
                    </a:lnTo>
                    <a:cubicBezTo>
                      <a:pt x="402770" y="53578"/>
                      <a:pt x="410766" y="61574"/>
                      <a:pt x="410766" y="71438"/>
                    </a:cubicBezTo>
                    <a:lnTo>
                      <a:pt x="410766" y="160734"/>
                    </a:lnTo>
                    <a:cubicBezTo>
                      <a:pt x="410766" y="170598"/>
                      <a:pt x="402770" y="178594"/>
                      <a:pt x="392906" y="178594"/>
                    </a:cubicBezTo>
                    <a:cubicBezTo>
                      <a:pt x="383043" y="178594"/>
                      <a:pt x="375047" y="170598"/>
                      <a:pt x="375047" y="160734"/>
                    </a:cubicBezTo>
                    <a:lnTo>
                      <a:pt x="375047" y="114546"/>
                    </a:lnTo>
                    <a:lnTo>
                      <a:pt x="244807" y="244807"/>
                    </a:lnTo>
                    <a:cubicBezTo>
                      <a:pt x="241458" y="248161"/>
                      <a:pt x="236912" y="250045"/>
                      <a:pt x="232172" y="250045"/>
                    </a:cubicBezTo>
                    <a:cubicBezTo>
                      <a:pt x="227432" y="250045"/>
                      <a:pt x="222886" y="248161"/>
                      <a:pt x="219536" y="244807"/>
                    </a:cubicBezTo>
                    <a:lnTo>
                      <a:pt x="160734" y="185983"/>
                    </a:lnTo>
                    <a:lnTo>
                      <a:pt x="35719" y="310999"/>
                    </a:lnTo>
                    <a:lnTo>
                      <a:pt x="35719" y="357188"/>
                    </a:lnTo>
                    <a:lnTo>
                      <a:pt x="446484" y="357188"/>
                    </a:lnTo>
                    <a:cubicBezTo>
                      <a:pt x="456348" y="357188"/>
                      <a:pt x="464344" y="365183"/>
                      <a:pt x="464344" y="37504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643634" y="32518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任务可观察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48206" y="3787140"/>
              <a:ext cx="7215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task_id · SSE 进度 · 状态查询 · 主动取消 · 历史结果与失败定位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9525000" y="3467100"/>
              <a:ext cx="16954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98218" y="3615690"/>
              <a:ext cx="13490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TRACEABLE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4629150"/>
            <a:ext cx="11125200" cy="1295400"/>
            <a:chOff x="533400" y="4629150"/>
            <a:chExt cx="11125200" cy="1295400"/>
          </a:xfrm>
        </p:grpSpPr>
        <p:sp>
          <p:nvSpPr>
            <p:cNvPr id="23" name="Rectangle 23"/>
            <p:cNvSpPr/>
            <p:nvPr/>
          </p:nvSpPr>
          <p:spPr>
            <a:xfrm>
              <a:off x="533400" y="4629150"/>
              <a:ext cx="11125200" cy="1295400"/>
            </a:xfrm>
            <a:prstGeom prst="roundRect">
              <a:avLst>
                <a:gd name="adj" fmla="val 8824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71538" y="5044678"/>
              <a:ext cx="428625" cy="464344"/>
              <a:chOff x="871538" y="5044678"/>
              <a:chExt cx="428625" cy="46434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89397" y="5062538"/>
                <a:ext cx="392906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92906" h="214312">
                    <a:moveTo>
                      <a:pt x="392906" y="107156"/>
                    </a:moveTo>
                    <a:cubicBezTo>
                      <a:pt x="392906" y="166338"/>
                      <a:pt x="304949" y="214312"/>
                      <a:pt x="196453" y="214312"/>
                    </a:cubicBezTo>
                    <a:cubicBezTo>
                      <a:pt x="87957" y="214312"/>
                      <a:pt x="0" y="166338"/>
                      <a:pt x="0" y="107156"/>
                    </a:cubicBezTo>
                    <a:cubicBezTo>
                      <a:pt x="0" y="47975"/>
                      <a:pt x="87957" y="0"/>
                      <a:pt x="196453" y="0"/>
                    </a:cubicBezTo>
                    <a:cubicBezTo>
                      <a:pt x="304949" y="0"/>
                      <a:pt x="392906" y="47975"/>
                      <a:pt x="392906" y="107156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8" y="5044678"/>
                <a:ext cx="428625" cy="464344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464344">
                    <a:moveTo>
                      <a:pt x="214312" y="0"/>
                    </a:moveTo>
                    <a:cubicBezTo>
                      <a:pt x="94141" y="0"/>
                      <a:pt x="0" y="54918"/>
                      <a:pt x="0" y="125016"/>
                    </a:cubicBezTo>
                    <a:lnTo>
                      <a:pt x="0" y="339328"/>
                    </a:lnTo>
                    <a:cubicBezTo>
                      <a:pt x="0" y="409426"/>
                      <a:pt x="94141" y="464344"/>
                      <a:pt x="214312" y="464344"/>
                    </a:cubicBezTo>
                    <a:cubicBezTo>
                      <a:pt x="334484" y="464344"/>
                      <a:pt x="428625" y="409426"/>
                      <a:pt x="428625" y="339328"/>
                    </a:cubicBezTo>
                    <a:lnTo>
                      <a:pt x="428625" y="125016"/>
                    </a:lnTo>
                    <a:cubicBezTo>
                      <a:pt x="428625" y="54918"/>
                      <a:pt x="334484" y="0"/>
                      <a:pt x="214312" y="0"/>
                    </a:cubicBezTo>
                    <a:close/>
                    <a:moveTo>
                      <a:pt x="392906" y="232172"/>
                    </a:moveTo>
                    <a:cubicBezTo>
                      <a:pt x="392906" y="253648"/>
                      <a:pt x="375315" y="275548"/>
                      <a:pt x="344664" y="292269"/>
                    </a:cubicBezTo>
                    <a:cubicBezTo>
                      <a:pt x="310150" y="311088"/>
                      <a:pt x="263850" y="321469"/>
                      <a:pt x="214312" y="321469"/>
                    </a:cubicBezTo>
                    <a:cubicBezTo>
                      <a:pt x="164775" y="321469"/>
                      <a:pt x="118475" y="311088"/>
                      <a:pt x="83961" y="292269"/>
                    </a:cubicBezTo>
                    <a:cubicBezTo>
                      <a:pt x="53310" y="275548"/>
                      <a:pt x="35719" y="253648"/>
                      <a:pt x="35719" y="232172"/>
                    </a:cubicBezTo>
                    <a:lnTo>
                      <a:pt x="35719" y="195024"/>
                    </a:lnTo>
                    <a:cubicBezTo>
                      <a:pt x="73804" y="228511"/>
                      <a:pt x="138924" y="250031"/>
                      <a:pt x="214312" y="250031"/>
                    </a:cubicBezTo>
                    <a:cubicBezTo>
                      <a:pt x="289701" y="250031"/>
                      <a:pt x="354821" y="228421"/>
                      <a:pt x="392906" y="195024"/>
                    </a:cubicBezTo>
                    <a:close/>
                    <a:moveTo>
                      <a:pt x="83961" y="64919"/>
                    </a:moveTo>
                    <a:cubicBezTo>
                      <a:pt x="118475" y="46100"/>
                      <a:pt x="164775" y="35719"/>
                      <a:pt x="214312" y="35719"/>
                    </a:cubicBezTo>
                    <a:cubicBezTo>
                      <a:pt x="263850" y="35719"/>
                      <a:pt x="310150" y="46100"/>
                      <a:pt x="344664" y="64919"/>
                    </a:cubicBezTo>
                    <a:cubicBezTo>
                      <a:pt x="375315" y="81640"/>
                      <a:pt x="392906" y="103540"/>
                      <a:pt x="392906" y="125016"/>
                    </a:cubicBezTo>
                    <a:cubicBezTo>
                      <a:pt x="392906" y="146492"/>
                      <a:pt x="375315" y="168392"/>
                      <a:pt x="344664" y="185112"/>
                    </a:cubicBezTo>
                    <a:cubicBezTo>
                      <a:pt x="310150" y="203932"/>
                      <a:pt x="263850" y="214312"/>
                      <a:pt x="214312" y="214312"/>
                    </a:cubicBezTo>
                    <a:cubicBezTo>
                      <a:pt x="164775" y="214312"/>
                      <a:pt x="118475" y="203932"/>
                      <a:pt x="83961" y="185112"/>
                    </a:cubicBezTo>
                    <a:cubicBezTo>
                      <a:pt x="53310" y="168392"/>
                      <a:pt x="35719" y="146492"/>
                      <a:pt x="35719" y="125016"/>
                    </a:cubicBezTo>
                    <a:cubicBezTo>
                      <a:pt x="35719" y="103540"/>
                      <a:pt x="53310" y="81640"/>
                      <a:pt x="83961" y="64919"/>
                    </a:cubicBezTo>
                    <a:close/>
                    <a:moveTo>
                      <a:pt x="344664" y="399425"/>
                    </a:moveTo>
                    <a:cubicBezTo>
                      <a:pt x="310150" y="418244"/>
                      <a:pt x="263850" y="428625"/>
                      <a:pt x="214312" y="428625"/>
                    </a:cubicBezTo>
                    <a:cubicBezTo>
                      <a:pt x="164775" y="428625"/>
                      <a:pt x="118475" y="418244"/>
                      <a:pt x="83961" y="399425"/>
                    </a:cubicBezTo>
                    <a:cubicBezTo>
                      <a:pt x="53310" y="382704"/>
                      <a:pt x="35719" y="360804"/>
                      <a:pt x="35719" y="339328"/>
                    </a:cubicBezTo>
                    <a:lnTo>
                      <a:pt x="35719" y="302181"/>
                    </a:lnTo>
                    <a:cubicBezTo>
                      <a:pt x="73804" y="335667"/>
                      <a:pt x="138924" y="357188"/>
                      <a:pt x="214312" y="357188"/>
                    </a:cubicBezTo>
                    <a:cubicBezTo>
                      <a:pt x="289701" y="357188"/>
                      <a:pt x="354821" y="335578"/>
                      <a:pt x="392906" y="302181"/>
                    </a:cubicBezTo>
                    <a:lnTo>
                      <a:pt x="392906" y="339328"/>
                    </a:lnTo>
                    <a:cubicBezTo>
                      <a:pt x="392906" y="360804"/>
                      <a:pt x="375315" y="382704"/>
                      <a:pt x="344664" y="3994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643634" y="4775835"/>
              <a:ext cx="19356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系统可部署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48206" y="5311140"/>
              <a:ext cx="89319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JWT 权限 · 代码隔离执行 · Docker Compose · 多数据库职责分离 · Redis 热状态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525000" y="4991100"/>
              <a:ext cx="16954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97405" y="5139690"/>
              <a:ext cx="1550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DEPLOYABLE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526542" y="6388418"/>
              <a:ext cx="4759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工程基线：FastAPI + Docker Compose + JWT + 隔离执行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18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14350" y="251460"/>
            <a:ext cx="8943213" cy="1082802"/>
            <a:chOff x="514350" y="251460"/>
            <a:chExt cx="8943213" cy="1082802"/>
          </a:xfrm>
        </p:grpSpPr>
        <p:sp>
          <p:nvSpPr>
            <p:cNvPr id="2" name="TextBox 2"/>
            <p:cNvSpPr txBox="1"/>
            <p:nvPr/>
          </p:nvSpPr>
          <p:spPr>
            <a:xfrm>
              <a:off x="514350" y="251460"/>
              <a:ext cx="89432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创新来自闭环，价值来自真实可用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0258" y="864870"/>
              <a:ext cx="74554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已实现能力支撑当前演示，增强项保留清晰演进边界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676400"/>
            <a:ext cx="2571750" cy="4000500"/>
            <a:chOff x="533400" y="1676400"/>
            <a:chExt cx="2571750" cy="4000500"/>
          </a:xfrm>
        </p:grpSpPr>
        <p:sp>
          <p:nvSpPr>
            <p:cNvPr id="5" name="Rectangle 5"/>
            <p:cNvSpPr/>
            <p:nvPr/>
          </p:nvSpPr>
          <p:spPr>
            <a:xfrm>
              <a:off x="533400" y="1676400"/>
              <a:ext cx="257175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676400"/>
              <a:ext cx="25717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6384" y="1994535"/>
              <a:ext cx="790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创新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79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多智能体闭环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0956" y="31775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从一次性生成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0956" y="35013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升级为持续协作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956" y="4282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已实现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0956" y="46824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四智能体 + 共享状态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90900" y="1676400"/>
            <a:ext cx="2571750" cy="4000500"/>
            <a:chOff x="3390900" y="1676400"/>
            <a:chExt cx="2571750" cy="4000500"/>
          </a:xfrm>
        </p:grpSpPr>
        <p:sp>
          <p:nvSpPr>
            <p:cNvPr id="14" name="Rectangle 14"/>
            <p:cNvSpPr/>
            <p:nvPr/>
          </p:nvSpPr>
          <p:spPr>
            <a:xfrm>
              <a:off x="3390900" y="1676400"/>
              <a:ext cx="257175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90900" y="1676400"/>
              <a:ext cx="25717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643884" y="1994535"/>
              <a:ext cx="790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实用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54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真实学习链路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8456" y="31775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画像、对话、资源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48456" y="35013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路径、练习、统计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48456" y="4282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已实现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48456" y="46824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 张真实页面证据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48400" y="1676400"/>
            <a:ext cx="2580132" cy="4000500"/>
            <a:chOff x="6248400" y="1676400"/>
            <a:chExt cx="2580132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48400" y="1676400"/>
              <a:ext cx="257175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1676400"/>
              <a:ext cx="2571750" cy="9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01384" y="1994535"/>
              <a:ext cx="790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工程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029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可追踪可部署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5956" y="3177540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SSE、取消、隔离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5956" y="3501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多数据库与容器编排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5956" y="4282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已实现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5956" y="4682490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前后端完整 API 链路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05900" y="1676400"/>
            <a:ext cx="2699004" cy="4000500"/>
            <a:chOff x="9105900" y="1676400"/>
            <a:chExt cx="2699004" cy="4000500"/>
          </a:xfrm>
        </p:grpSpPr>
        <p:sp>
          <p:nvSpPr>
            <p:cNvPr id="32" name="Rectangle 32"/>
            <p:cNvSpPr/>
            <p:nvPr/>
          </p:nvSpPr>
          <p:spPr>
            <a:xfrm>
              <a:off x="9105900" y="1676400"/>
              <a:ext cx="257175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105900" y="1676400"/>
              <a:ext cx="2571750" cy="95250"/>
            </a:xfrm>
            <a:prstGeom prst="rect">
              <a:avLst/>
            </a:prstGeom>
            <a:solidFill>
              <a:srgbClr val="FF7A9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58884" y="1994535"/>
              <a:ext cx="79072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演进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604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长期策略优化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3456" y="31775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自动学习周报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63456" y="3501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跨周期策略自动调整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63456" y="42824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7A90"/>
                  </a:solidFill>
                  <a:latin typeface="+mj-lt"/>
                  <a:ea typeface="+mj-ea"/>
                  <a:cs typeface="+mj-cs"/>
                </a:rPr>
                <a:t>增强项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63456" y="46824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不作为当前完成项宣称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41" name="TextBox 41"/>
            <p:cNvSpPr txBox="1"/>
            <p:nvPr/>
          </p:nvSpPr>
          <p:spPr>
            <a:xfrm>
              <a:off x="526542" y="63884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边界声明：已实现与增强项分开展示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19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7591425"/>
            <a:chOff x="0" y="0"/>
            <a:chExt cx="12192000" cy="7591425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3">
              <a:alphaModFix amt="32000"/>
            </a:blip>
            <a:stretch>
              <a:fillRect/>
            </a:stretch>
          </p:blipFill>
          <p:spPr>
            <a:xfrm>
              <a:off x="1752600" y="2705100"/>
              <a:ext cx="8686800" cy="4886325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72000">
                  <a:schemeClr val="lt1">
                    <a:alpha val="82000"/>
                  </a:schemeClr>
                </a:gs>
                <a:gs pos="100000">
                  <a:schemeClr val="lt1">
                    <a:alpha val="28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16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514905" y="1318260"/>
            <a:ext cx="7162190" cy="1978152"/>
            <a:chOff x="2514905" y="1318260"/>
            <a:chExt cx="7162190" cy="1978152"/>
          </a:xfrm>
        </p:grpSpPr>
        <p:sp>
          <p:nvSpPr>
            <p:cNvPr id="6" name="TextBox 6"/>
            <p:cNvSpPr txBox="1"/>
            <p:nvPr/>
          </p:nvSpPr>
          <p:spPr>
            <a:xfrm>
              <a:off x="4295927" y="1318260"/>
              <a:ext cx="360014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让每一次学习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14905" y="20612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都成为下一次个性化的依据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67152" y="2827020"/>
              <a:ext cx="68576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教育智能体 · 面向持续学习服务的多智能体系统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47750" y="3962400"/>
            <a:ext cx="2286000" cy="781050"/>
            <a:chOff x="1047750" y="3962400"/>
            <a:chExt cx="2286000" cy="781050"/>
          </a:xfrm>
        </p:grpSpPr>
        <p:sp>
          <p:nvSpPr>
            <p:cNvPr id="10" name="Rectangle 10"/>
            <p:cNvSpPr/>
            <p:nvPr/>
          </p:nvSpPr>
          <p:spPr>
            <a:xfrm>
              <a:off x="1047750" y="3962400"/>
              <a:ext cx="22860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04562" y="41662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可感知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19500" y="3962400"/>
            <a:ext cx="2286000" cy="781050"/>
            <a:chOff x="3619500" y="3962400"/>
            <a:chExt cx="2286000" cy="781050"/>
          </a:xfrm>
        </p:grpSpPr>
        <p:sp>
          <p:nvSpPr>
            <p:cNvPr id="13" name="Rectangle 13"/>
            <p:cNvSpPr/>
            <p:nvPr/>
          </p:nvSpPr>
          <p:spPr>
            <a:xfrm>
              <a:off x="3619500" y="3962400"/>
              <a:ext cx="22860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176312" y="41662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可生成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91250" y="3962400"/>
            <a:ext cx="2286000" cy="781050"/>
            <a:chOff x="6191250" y="3962400"/>
            <a:chExt cx="2286000" cy="781050"/>
          </a:xfrm>
        </p:grpSpPr>
        <p:sp>
          <p:nvSpPr>
            <p:cNvPr id="16" name="Rectangle 16"/>
            <p:cNvSpPr/>
            <p:nvPr/>
          </p:nvSpPr>
          <p:spPr>
            <a:xfrm>
              <a:off x="6191250" y="3962400"/>
              <a:ext cx="22860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48062" y="41662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可追踪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63000" y="3962400"/>
            <a:ext cx="2286000" cy="781050"/>
            <a:chOff x="8763000" y="3962400"/>
            <a:chExt cx="2286000" cy="781050"/>
          </a:xfrm>
        </p:grpSpPr>
        <p:sp>
          <p:nvSpPr>
            <p:cNvPr id="19" name="Rectangle 19"/>
            <p:cNvSpPr/>
            <p:nvPr/>
          </p:nvSpPr>
          <p:spPr>
            <a:xfrm>
              <a:off x="8763000" y="3962400"/>
              <a:ext cx="22860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19812" y="4166235"/>
              <a:ext cx="1172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6"/>
                  </a:solidFill>
                  <a:latin typeface="+mj-lt"/>
                  <a:ea typeface="+mj-ea"/>
                  <a:cs typeface="+mj-cs"/>
                </a:rPr>
                <a:t>可进化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43350" y="5219700"/>
            <a:ext cx="4305300" cy="647700"/>
            <a:chOff x="3943350" y="5219700"/>
            <a:chExt cx="4305300" cy="647700"/>
          </a:xfrm>
        </p:grpSpPr>
        <p:sp>
          <p:nvSpPr>
            <p:cNvPr id="22" name="Rectangle 22"/>
            <p:cNvSpPr/>
            <p:nvPr/>
          </p:nvSpPr>
          <p:spPr>
            <a:xfrm>
              <a:off x="3943350" y="5219700"/>
              <a:ext cx="4305300" cy="647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87596" y="537972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07131A"/>
                  </a:solidFill>
                  <a:latin typeface="+mj-lt"/>
                  <a:ea typeface="+mj-ea"/>
                  <a:cs typeface="+mj-cs"/>
                </a:rPr>
                <a:t>欢迎体验真实产品链路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6542" y="6388418"/>
            <a:ext cx="11138916" cy="264033"/>
            <a:chOff x="526542" y="6388418"/>
            <a:chExt cx="1113891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526542" y="6388418"/>
              <a:ext cx="2452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中国软件杯 A3 赛题项目演示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42923" y="6388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20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softbei_a3_education_agent">
  <a:themeElements>
    <a:clrScheme name="softbei_a3_education_agent">
      <a:dk1>
        <a:srgbClr val="F0FAFF"/>
      </a:dk1>
      <a:lt1>
        <a:srgbClr val="07131A"/>
      </a:lt1>
      <a:dk2>
        <a:srgbClr val="A9C4CF"/>
      </a:dk2>
      <a:lt2>
        <a:srgbClr val="0E2530"/>
      </a:lt2>
      <a:accent1>
        <a:srgbClr val="00B8D9"/>
      </a:accent1>
      <a:accent2>
        <a:srgbClr val="FFD166"/>
      </a:accent2>
      <a:accent3>
        <a:srgbClr val="3D7EFF"/>
      </a:accent3>
      <a:accent4>
        <a:srgbClr val="1B4351"/>
      </a:accent4>
      <a:accent5>
        <a:srgbClr val="6F8D98"/>
      </a:accent5>
      <a:accent6>
        <a:srgbClr val="52D6A2"/>
      </a:accent6>
      <a:hlink>
        <a:srgbClr val="FFD166"/>
      </a:hlink>
      <a:folHlink>
        <a:srgbClr val="3D7EFF"/>
      </a:folHlink>
    </a:clrScheme>
    <a:fontScheme name="softbei_a3_education_agent">
      <a:majorFont>
        <a:latin typeface="Consolas"/>
        <a:ea typeface="SimHei"/>
        <a:cs typeface="Consolas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ftbei_a3_education_ag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oftbei_a3_education_agent">
  <a:themeElements>
    <a:clrScheme name="softbei_a3_education_agent">
      <a:dk1>
        <a:srgbClr val="F0FAFF"/>
      </a:dk1>
      <a:lt1>
        <a:srgbClr val="07131A"/>
      </a:lt1>
      <a:dk2>
        <a:srgbClr val="A9C4CF"/>
      </a:dk2>
      <a:lt2>
        <a:srgbClr val="0E2530"/>
      </a:lt2>
      <a:accent1>
        <a:srgbClr val="00B8D9"/>
      </a:accent1>
      <a:accent2>
        <a:srgbClr val="FFD166"/>
      </a:accent2>
      <a:accent3>
        <a:srgbClr val="3D7EFF"/>
      </a:accent3>
      <a:accent4>
        <a:srgbClr val="1B4351"/>
      </a:accent4>
      <a:accent5>
        <a:srgbClr val="6F8D98"/>
      </a:accent5>
      <a:accent6>
        <a:srgbClr val="52D6A2"/>
      </a:accent6>
      <a:hlink>
        <a:srgbClr val="FFD166"/>
      </a:hlink>
      <a:folHlink>
        <a:srgbClr val="3D7EFF"/>
      </a:folHlink>
    </a:clrScheme>
    <a:fontScheme name="softbei_a3_education_agent">
      <a:majorFont>
        <a:latin typeface="Consolas"/>
        <a:ea typeface="SimHei"/>
        <a:cs typeface="Consolas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ftbei_a3_education_ag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2715</Words>
  <Application>Microsoft Office PowerPoint</Application>
  <PresentationFormat>宽屏</PresentationFormat>
  <Paragraphs>379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Arial</vt:lpstr>
      <vt:lpstr>Consolas</vt:lpstr>
      <vt:lpstr>Segoe UI</vt:lpstr>
      <vt:lpstr>softbei_a3_education_agent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宇星 戴</cp:lastModifiedBy>
  <cp:revision>1</cp:revision>
  <dcterms:created xsi:type="dcterms:W3CDTF">2026-07-15T09:16:43Z</dcterms:created>
  <dcterms:modified xsi:type="dcterms:W3CDTF">2026-07-15T09:19:32Z</dcterms:modified>
  <cp:category/>
  <cp:contentStatus/>
  <dc:language/>
</cp:coreProperties>
</file>